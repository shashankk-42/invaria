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USD billions</c:v>
          </c:tx>
          <c:spPr>
            <a:solidFill>
              <a:srgbClr val="5646E8"/>
            </a:solidFill>
          </c:spPr>
          <c:invertIfNegative val="1"/>
          <c:dLbls>
            <c:spPr>
              <a:noFill/>
              <a:ln>
                <a:noFill/>
              </a:ln>
              <a:effectLst/>
            </c:spPr>
            <c:txPr>
              <a:bodyPr anchorCtr="1"/>
              <a:lstStyle/>
              <a:p>
                <a:pPr>
                  <a:defRPr>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Data'!$A$2:$A$4</c:f>
              <c:numCache>
                <c:formatCode>General</c:formatCode>
                <c:ptCount val="3"/>
                <c:pt idx="0">
                  <c:v>2025</c:v>
                </c:pt>
                <c:pt idx="1">
                  <c:v>2026</c:v>
                </c:pt>
                <c:pt idx="2">
                  <c:v>2033</c:v>
                </c:pt>
              </c:numCache>
            </c:numRef>
          </c:cat>
          <c:val>
            <c:numRef>
              <c:f>'Chart Data'!$B$2:$B$4</c:f>
              <c:numCache>
                <c:formatCode>General</c:formatCode>
                <c:ptCount val="3"/>
                <c:pt idx="0">
                  <c:v>10.6</c:v>
                </c:pt>
                <c:pt idx="1">
                  <c:v>12.6</c:v>
                </c:pt>
                <c:pt idx="2">
                  <c:v>42.1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9E1-4B1E-AB7B-0B7359B35028}"/>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Invaria Engineering &amp; Product Blueprint; docs/INVARIANT_ENGINE.md.</a:t>
            </a:r>
          </a:p>
          <a:p>
            <a:endParaRPr/>
          </a:p>
          <a:p>
            <a:r>
              <a:t>Talking points: The core problem is not only finding suspicious code. A reviewer needs to see what business rule might be broken, how the source path supports the concern, and what remains unknown. Invaria is built around that security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Grand View Research, ‘Application Security Market (2026–2033)’, accessed 24 September 2026: https://www.grandviewresearch.com/industry-analysis/application-security-market.</a:t>
            </a:r>
          </a:p>
          <a:p>
            <a:endParaRPr/>
          </a:p>
          <a:p>
            <a:r>
              <a:t>Data: Global application security market $10.6B in 2025, $12.6B estimate in 2026, $42.1B projected in 2033, CAGR 18.8% (2026–2033).</a:t>
            </a:r>
          </a:p>
          <a:p>
            <a:endParaRPr/>
          </a:p>
          <a:p>
            <a:r>
              <a:t>Talking points: The market number gives category context. Our initial addressable use case is narrower: API-driven, multi-tenant applications with sensitive data or sensitive business 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live local Invaria workspace captured 24 September 2026.</a:t>
            </a:r>
          </a:p>
          <a:p>
            <a:endParaRPr/>
          </a:p>
          <a:p>
            <a:r>
              <a:t>Sources for competitive boundary: OpenAI, ‘Codex Security: now in research preview’, https://openai.com/index/codex-security-now-in-research-preview/; Anthropic, ‘Making frontier cybersecurity capabilities available to defenders’, https://www.anthropic.com/news/claude-code-security.</a:t>
            </a:r>
          </a:p>
          <a:p>
            <a:endParaRPr/>
          </a:p>
          <a:p>
            <a:r>
              <a:t>Talking points: Codex Security and Claude Code Security now offer serious security analysis. Invaria should not claim an unproven performance advantage. Its product differentiation is the versioned, inspectable policy and decision ledger that do not depend on one model provider.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docs/INVARIANT_ENGINE.md; backend/invaria/algorithm.py; backend/invaria/pipeline.py.</a:t>
            </a:r>
          </a:p>
          <a:p>
            <a:endParaRPr/>
          </a:p>
          <a:p>
            <a:r>
              <a:t>Talking points: An invariant describes what must stay true in the application. The algorithm creates a question from a rule and the application structure, collects source evidence, then applies a gate. The gate makes it impossible for model prose or RAG content to fill an evidence gap. The decision ledger retains why we reported or discarded the candidate.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live Invaria decision ledger captured 24 September 2026. Source: docs/INVARIANT_ENGINE.md; backend/invaria/algorithm.py.</a:t>
            </a:r>
          </a:p>
          <a:p>
            <a:endParaRPr/>
          </a:p>
          <a:p>
            <a:r>
              <a:t>Talking points: BOLA is broken object-level authorization. In this candidate the record selection depends on request-controlled input. The tool identifies the route, the helper flow, and the lookup. It checks for a recognized server-side owner or tenant constraint. The evidence gate passes only when route and lookup evidence are both present. Passing the gate produces a source-backed candidate, not confirmation of exploitation.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live scan of the public TaskForge repository captured 24 September 2026.</a:t>
            </a:r>
          </a:p>
          <a:p>
            <a:endParaRPr/>
          </a:p>
          <a:p>
            <a:r>
              <a:t>Talking points: This is an example of a real repository scan, but it is not an allegation of a confirmed vulnerability or breach. The graph shows the route, request input, handler, query, and data model. Invaria turns the graph into an explicit authorization question that a human can validate against intended policy and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Invaria Engineering &amp; Product Blueprint.</a:t>
            </a:r>
          </a:p>
          <a:p>
            <a:endParaRPr/>
          </a:p>
          <a:p>
            <a:r>
              <a:t>Talking points: These are target segments, not named customers or current contracts. We start where the consequences of a policy failure are tangible and teams have limited application-security bandwidth. The wedge is API-driven, multi-tenant SaaS because ownership and authorization flows are common and inspectable.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docs/ROADMAP.md; docs/INVARIANT_ENGINE.md.</a:t>
            </a:r>
          </a:p>
          <a:p>
            <a:endParaRPr/>
          </a:p>
          <a:p>
            <a:r>
              <a:t>Talking points: The implementation today is intentionally bounded. Future work should expand only behind measured regression gates. The priority is not a larger model or more agents; it is better policy verification, stronger data-flow evidence, evaluations on held-out cases, and safe validation in approved environments.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traight Connector 31">
            <a:extLst>
              <a:ext uri="{FF2B5EF4-FFF2-40B4-BE49-F238E27FC236}">
                <a16:creationId xmlns:a16="http://schemas.microsoft.com/office/drawing/2014/main" id="{7FFF1B67-0434-46CF-A861-C79CC64F2DDF}"/>
              </a:ext>
            </a:extLst>
          </p:cNvPr>
          <p:cNvSpPr>
            <a:spLocks noGrp="1"/>
          </p:cNvSpPr>
          <p:nvPr/>
        </p:nvSpPr>
        <p:spPr>
          <a:xfrm>
            <a:off x="685800" y="6381750"/>
            <a:ext cx="10820400" cy="0"/>
          </a:xfrm>
          <a:prstGeom prst="line">
            <a:avLst/>
          </a:prstGeom>
          <a:noFill/>
          <a:ln w="9525">
            <a:solidFill>
              <a:srgbClr val="DEE1EC"/>
            </a:solidFill>
            <a:prstDash val="solid"/>
          </a:ln>
        </p:spPr>
      </p:sp>
      <p:sp>
        <p:nvSpPr>
          <p:cNvPr id="2" name="Rectangle 1">
            <a:extLst>
              <a:ext uri="{FF2B5EF4-FFF2-40B4-BE49-F238E27FC236}">
                <a16:creationId xmlns:a16="http://schemas.microsoft.com/office/drawing/2014/main" id="{AA21DE23-5D1E-43B4-B721-6222470968A4}"/>
              </a:ext>
            </a:extLst>
          </p:cNvPr>
          <p:cNvSpPr>
            <a:spLocks noGrp="1"/>
          </p:cNvSpPr>
          <p:nvPr/>
        </p:nvSpPr>
        <p:spPr>
          <a:xfrm>
            <a:off x="685800" y="6534150"/>
            <a:ext cx="4286250" cy="142875"/>
          </a:xfrm>
          <a:prstGeom prst="rect">
            <a:avLst/>
          </a:prstGeom>
          <a:noFill/>
          <a:ln w="0">
            <a:noFill/>
          </a:ln>
        </p:spPr>
        <p:txBody>
          <a:bodyPr lIns="0" tIns="0" rIns="0" bIns="0" anchor="t">
            <a:normAutofit/>
          </a:bodyPr>
          <a:lstStyle/>
          <a:p>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Rectangle 2">
            <a:extLst>
              <a:ext uri="{FF2B5EF4-FFF2-40B4-BE49-F238E27FC236}">
                <a16:creationId xmlns:a16="http://schemas.microsoft.com/office/drawing/2014/main" id="{87AEFD23-DD4B-48BB-9A83-983F42472FE3}"/>
              </a:ext>
            </a:extLst>
          </p:cNvPr>
          <p:cNvSpPr>
            <a:spLocks noGrp="1"/>
          </p:cNvSpPr>
          <p:nvPr/>
        </p:nvSpPr>
        <p:spPr>
          <a:xfrm>
            <a:off x="4286250" y="6534150"/>
            <a:ext cx="6191250" cy="142875"/>
          </a:xfrm>
          <a:prstGeom prst="rect">
            <a:avLst/>
          </a:prstGeom>
          <a:noFill/>
          <a:ln w="0">
            <a:noFill/>
          </a:ln>
        </p:spPr>
        <p:txBody>
          <a:bodyPr lIns="0" tIns="0" rIns="0" bIns="0" anchor="t">
            <a:normAutofit/>
          </a:bodyPr>
          <a:lstStyle/>
          <a:p>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Sources: Invaria blueprint and INVARIANT engine design</a:t>
            </a:r>
          </a:p>
        </p:txBody>
      </p:sp>
      <p:sp>
        <p:nvSpPr>
          <p:cNvPr id="4" name="Rectangle 3">
            <a:extLst>
              <a:ext uri="{FF2B5EF4-FFF2-40B4-BE49-F238E27FC236}">
                <a16:creationId xmlns:a16="http://schemas.microsoft.com/office/drawing/2014/main" id="{6AACB987-D5D9-499D-8F3E-D57EA5CF650F}"/>
              </a:ext>
            </a:extLst>
          </p:cNvPr>
          <p:cNvSpPr>
            <a:spLocks noGrp="1"/>
          </p:cNvSpPr>
          <p:nvPr/>
        </p:nvSpPr>
        <p:spPr>
          <a:xfrm>
            <a:off x="10858500" y="6515100"/>
            <a:ext cx="647700" cy="171450"/>
          </a:xfrm>
          <a:prstGeom prst="rect">
            <a:avLst/>
          </a:prstGeom>
          <a:noFill/>
          <a:ln w="0">
            <a:noFill/>
          </a:ln>
        </p:spPr>
        <p:txBody>
          <a:bodyPr lIns="0" tIns="0" rIns="0" bIns="0" anchor="t">
            <a:normAutofit/>
          </a:bodyPr>
          <a:lstStyle/>
          <a:p>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01</a:t>
            </a:r>
          </a:p>
        </p:txBody>
      </p:sp>
      <p:sp>
        <p:nvSpPr>
          <p:cNvPr id="5" name="Rectangle: Rounded Corners 4">
            <a:extLst>
              <a:ext uri="{FF2B5EF4-FFF2-40B4-BE49-F238E27FC236}">
                <a16:creationId xmlns:a16="http://schemas.microsoft.com/office/drawing/2014/main" id="{AA0A39C7-69B7-4149-9422-F2176197D528}"/>
              </a:ext>
            </a:extLst>
          </p:cNvPr>
          <p:cNvSpPr>
            <a:spLocks noGrp="1"/>
          </p:cNvSpPr>
          <p:nvPr/>
        </p:nvSpPr>
        <p:spPr>
          <a:xfrm>
            <a:off x="685800" y="514350"/>
            <a:ext cx="2857500" cy="266700"/>
          </a:xfrm>
          <a:prstGeom prst="roundRect">
            <a:avLst>
              <a:gd name="adj" fmla="val 50000"/>
            </a:avLst>
          </a:prstGeom>
          <a:solidFill>
            <a:srgbClr val="F1F0FF"/>
          </a:solidFill>
          <a:ln w="0">
            <a:noFill/>
          </a:ln>
        </p:spPr>
      </p:sp>
      <p:sp>
        <p:nvSpPr>
          <p:cNvPr id="6" name="Rectangle 5">
            <a:extLst>
              <a:ext uri="{FF2B5EF4-FFF2-40B4-BE49-F238E27FC236}">
                <a16:creationId xmlns:a16="http://schemas.microsoft.com/office/drawing/2014/main" id="{369C0327-C5F5-4CC0-8329-10C8B4759172}"/>
              </a:ext>
            </a:extLst>
          </p:cNvPr>
          <p:cNvSpPr>
            <a:spLocks noGrp="1"/>
          </p:cNvSpPr>
          <p:nvPr/>
        </p:nvSpPr>
        <p:spPr>
          <a:xfrm>
            <a:off x="781050" y="571500"/>
            <a:ext cx="2667000" cy="152400"/>
          </a:xfrm>
          <a:prstGeom prst="rect">
            <a:avLst/>
          </a:prstGeom>
          <a:noFill/>
          <a:ln w="0">
            <a:noFill/>
          </a:ln>
        </p:spPr>
        <p:txBody>
          <a:bodyPr lIns="0" tIns="0" rIns="0" bIns="0" anchor="t">
            <a:normAutofit/>
          </a:bodyPr>
          <a:lstStyle/>
          <a:p>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PROBLEM STATEMENT &amp; MARKET GAP</a:t>
            </a:r>
          </a:p>
        </p:txBody>
      </p:sp>
      <p:sp>
        <p:nvSpPr>
          <p:cNvPr id="7" name="Rectangle 6">
            <a:extLst>
              <a:ext uri="{FF2B5EF4-FFF2-40B4-BE49-F238E27FC236}">
                <a16:creationId xmlns:a16="http://schemas.microsoft.com/office/drawing/2014/main" id="{4B05A694-76E1-4E5D-BD7B-06C9D101D2AE}"/>
              </a:ext>
            </a:extLst>
          </p:cNvPr>
          <p:cNvSpPr>
            <a:spLocks noGrp="1"/>
          </p:cNvSpPr>
          <p:nvPr/>
        </p:nvSpPr>
        <p:spPr>
          <a:xfrm>
            <a:off x="685800" y="981075"/>
            <a:ext cx="6048375" cy="1238250"/>
          </a:xfrm>
          <a:prstGeom prst="rect">
            <a:avLst/>
          </a:prstGeom>
          <a:noFill/>
          <a:ln w="0">
            <a:noFill/>
          </a:ln>
        </p:spPr>
        <p:txBody>
          <a:bodyPr lIns="0" tIns="0" rIns="0" bIns="0" anchor="t">
            <a:normAutofit fontScale="81115"/>
          </a:bodyPr>
          <a:lstStyle/>
          <a:p>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Security failures happen</a:t>
            </a:r>
          </a:p>
          <a:p>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when code breaks business rules</a:t>
            </a:r>
          </a:p>
        </p:txBody>
      </p:sp>
      <p:sp>
        <p:nvSpPr>
          <p:cNvPr id="8" name="Rectangle 7">
            <a:extLst>
              <a:ext uri="{FF2B5EF4-FFF2-40B4-BE49-F238E27FC236}">
                <a16:creationId xmlns:a16="http://schemas.microsoft.com/office/drawing/2014/main" id="{E58BA7B8-EC6E-43D9-ACBD-9FA77808212E}"/>
              </a:ext>
            </a:extLst>
          </p:cNvPr>
          <p:cNvSpPr>
            <a:spLocks noGrp="1"/>
          </p:cNvSpPr>
          <p:nvPr/>
        </p:nvSpPr>
        <p:spPr>
          <a:xfrm>
            <a:off x="685800" y="2400300"/>
            <a:ext cx="5953125" cy="742950"/>
          </a:xfrm>
          <a:prstGeom prst="rect">
            <a:avLst/>
          </a:prstGeom>
          <a:noFill/>
          <a:ln w="0">
            <a:noFill/>
          </a:ln>
        </p:spPr>
        <p:txBody>
          <a:bodyPr lIns="0" tIns="0" rIns="0" bIns="0" anchor="t">
            <a:normAutofit fontScale="88798"/>
          </a:bodyPr>
          <a:lstStyle/>
          <a:p>
            <a:pPr algn="l">
              <a:lnSpc>
                <a:spcPct val="122000"/>
              </a:lnSpc>
              <a:buNone/>
              <a:defRPr sz="1500" b="0" i="0">
                <a:solidFill>
                  <a:srgbClr val="626A7C"/>
                </a:solidFill>
                <a:latin typeface="Arial"/>
                <a:ea typeface="Arial"/>
                <a:cs typeface="Arial"/>
              </a:defRPr>
            </a:pPr>
            <a:r>
              <a:rPr sz="1500" b="0" i="0">
                <a:solidFill>
                  <a:srgbClr val="626A7C"/>
                </a:solidFill>
                <a:latin typeface="Arial"/>
                <a:ea typeface="Arial"/>
                <a:cs typeface="Arial"/>
              </a:rPr>
              <a:t>Modern applications often authenticate users correctly yet fail to keep authorization, ownership, and workflow constraints consistent across routes, services, and data stores.</a:t>
            </a:r>
          </a:p>
        </p:txBody>
      </p:sp>
      <p:sp>
        <p:nvSpPr>
          <p:cNvPr id="9" name="Straight Connector 8">
            <a:extLst>
              <a:ext uri="{FF2B5EF4-FFF2-40B4-BE49-F238E27FC236}">
                <a16:creationId xmlns:a16="http://schemas.microsoft.com/office/drawing/2014/main" id="{08B31505-B1A6-450F-ABFA-E483457859FF}"/>
              </a:ext>
            </a:extLst>
          </p:cNvPr>
          <p:cNvSpPr>
            <a:spLocks noGrp="1"/>
          </p:cNvSpPr>
          <p:nvPr/>
        </p:nvSpPr>
        <p:spPr>
          <a:xfrm>
            <a:off x="685800" y="3448050"/>
            <a:ext cx="5619750" cy="0"/>
          </a:xfrm>
          <a:prstGeom prst="line">
            <a:avLst/>
          </a:prstGeom>
          <a:noFill/>
          <a:ln w="28575">
            <a:solidFill>
              <a:srgbClr val="5646E8"/>
            </a:solidFill>
            <a:prstDash val="solid"/>
          </a:ln>
        </p:spPr>
      </p:sp>
      <p:sp>
        <p:nvSpPr>
          <p:cNvPr id="10" name="Rectangle 9">
            <a:extLst>
              <a:ext uri="{FF2B5EF4-FFF2-40B4-BE49-F238E27FC236}">
                <a16:creationId xmlns:a16="http://schemas.microsoft.com/office/drawing/2014/main" id="{6CCF209F-DDEC-41AF-83F4-7CBD8E0062A3}"/>
              </a:ext>
            </a:extLst>
          </p:cNvPr>
          <p:cNvSpPr>
            <a:spLocks noGrp="1"/>
          </p:cNvSpPr>
          <p:nvPr/>
        </p:nvSpPr>
        <p:spPr>
          <a:xfrm>
            <a:off x="685800" y="3762375"/>
            <a:ext cx="2238375" cy="171450"/>
          </a:xfrm>
          <a:prstGeom prst="rect">
            <a:avLst/>
          </a:prstGeom>
          <a:noFill/>
          <a:ln w="0">
            <a:noFill/>
          </a:ln>
        </p:spPr>
        <p:txBody>
          <a:bodyPr lIns="0" tIns="0" rIns="0" bIns="0" anchor="t">
            <a:normAutofit/>
          </a:bodyPr>
          <a:lstStyle/>
          <a:p>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THE REVIEW GAP</a:t>
            </a:r>
          </a:p>
        </p:txBody>
      </p:sp>
      <p:sp>
        <p:nvSpPr>
          <p:cNvPr id="11" name="Rectangle 10">
            <a:extLst>
              <a:ext uri="{FF2B5EF4-FFF2-40B4-BE49-F238E27FC236}">
                <a16:creationId xmlns:a16="http://schemas.microsoft.com/office/drawing/2014/main" id="{81078C81-2325-41C3-B4BF-21D75E4F9461}"/>
              </a:ext>
            </a:extLst>
          </p:cNvPr>
          <p:cNvSpPr>
            <a:spLocks noGrp="1"/>
          </p:cNvSpPr>
          <p:nvPr/>
        </p:nvSpPr>
        <p:spPr>
          <a:xfrm>
            <a:off x="685800" y="4048125"/>
            <a:ext cx="5524500" cy="638175"/>
          </a:xfrm>
          <a:prstGeom prst="rect">
            <a:avLst/>
          </a:prstGeom>
          <a:noFill/>
          <a:ln w="0">
            <a:noFill/>
          </a:ln>
        </p:spPr>
        <p:txBody>
          <a:bodyPr lIns="0" tIns="0" rIns="0" bIns="0" anchor="t">
            <a:normAutofit fontScale="71691"/>
          </a:bodyPr>
          <a:lstStyle/>
          <a:p>
            <a:pPr algn="l">
              <a:lnSpc>
                <a:spcPct val="118000"/>
              </a:lnSpc>
              <a:buNone/>
              <a:defRPr sz="1650" b="1" i="0">
                <a:solidFill>
                  <a:srgbClr val="121522"/>
                </a:solidFill>
                <a:latin typeface="Arial"/>
                <a:ea typeface="Arial"/>
                <a:cs typeface="Arial"/>
              </a:defRPr>
            </a:pPr>
            <a:r>
              <a:rPr sz="1650" b="1" i="0">
                <a:solidFill>
                  <a:srgbClr val="121522"/>
                </a:solidFill>
                <a:latin typeface="Arial"/>
                <a:ea typeface="Arial"/>
                <a:cs typeface="Arial"/>
              </a:rPr>
              <a:t>A line-level alert or a general coding-model answer rarely preserves the application policy, the inspected evidence, and the remaining uncertainty in one place.</a:t>
            </a:r>
          </a:p>
        </p:txBody>
      </p:sp>
      <p:sp>
        <p:nvSpPr>
          <p:cNvPr id="12" name="Rectangle 11">
            <a:extLst>
              <a:ext uri="{FF2B5EF4-FFF2-40B4-BE49-F238E27FC236}">
                <a16:creationId xmlns:a16="http://schemas.microsoft.com/office/drawing/2014/main" id="{D9B4861C-DDDD-4F98-B6FD-FEA98833B359}"/>
              </a:ext>
            </a:extLst>
          </p:cNvPr>
          <p:cNvSpPr>
            <a:spLocks noGrp="1"/>
          </p:cNvSpPr>
          <p:nvPr/>
        </p:nvSpPr>
        <p:spPr>
          <a:xfrm>
            <a:off x="685800" y="4953000"/>
            <a:ext cx="5715000" cy="495300"/>
          </a:xfrm>
          <a:prstGeom prst="rect">
            <a:avLst/>
          </a:prstGeom>
          <a:noFill/>
          <a:ln w="0">
            <a:noFill/>
          </a:ln>
        </p:spPr>
        <p:txBody>
          <a:bodyPr lIns="0" tIns="0" rIns="0" bIns="0" anchor="t">
            <a:normAutofit/>
          </a:bodyPr>
          <a:lstStyle/>
          <a:p>
            <a:pPr algn="l">
              <a:lnSpc>
                <a:spcPct val="118000"/>
              </a:lnSpc>
              <a:buNone/>
              <a:defRPr sz="1350" b="0" i="0">
                <a:solidFill>
                  <a:srgbClr val="626A7C"/>
                </a:solidFill>
                <a:latin typeface="Arial"/>
                <a:ea typeface="Arial"/>
                <a:cs typeface="Arial"/>
              </a:defRPr>
            </a:pPr>
            <a:r>
              <a:rPr sz="1350" b="0" i="0">
                <a:solidFill>
                  <a:srgbClr val="626A7C"/>
                </a:solidFill>
                <a:latin typeface="Arial"/>
                <a:ea typeface="Arial"/>
                <a:cs typeface="Arial"/>
              </a:rPr>
              <a:t>Invaria treats a security finding as a structured case: expected invariant, source-backed path, evidence gate, and a human review decision.</a:t>
            </a:r>
          </a:p>
        </p:txBody>
      </p:sp>
      <p:sp>
        <p:nvSpPr>
          <p:cNvPr id="13" name="Rectangle: Rounded Corners 12">
            <a:extLst>
              <a:ext uri="{FF2B5EF4-FFF2-40B4-BE49-F238E27FC236}">
                <a16:creationId xmlns:a16="http://schemas.microsoft.com/office/drawing/2014/main" id="{7597D1AC-37C9-4259-A808-85DCFA8BD0FB}"/>
              </a:ext>
            </a:extLst>
          </p:cNvPr>
          <p:cNvSpPr>
            <a:spLocks noGrp="1"/>
          </p:cNvSpPr>
          <p:nvPr/>
        </p:nvSpPr>
        <p:spPr>
          <a:xfrm>
            <a:off x="7162800" y="771525"/>
            <a:ext cx="4343400" cy="4762500"/>
          </a:xfrm>
          <a:prstGeom prst="roundRect">
            <a:avLst>
              <a:gd name="adj" fmla="val 5263"/>
            </a:avLst>
          </a:prstGeom>
          <a:solidFill>
            <a:srgbClr val="12131E"/>
          </a:solidFill>
          <a:ln w="0">
            <a:noFill/>
          </a:ln>
        </p:spPr>
      </p:sp>
      <p:sp>
        <p:nvSpPr>
          <p:cNvPr id="14" name="Rectangle 13">
            <a:extLst>
              <a:ext uri="{FF2B5EF4-FFF2-40B4-BE49-F238E27FC236}">
                <a16:creationId xmlns:a16="http://schemas.microsoft.com/office/drawing/2014/main" id="{F55EC83C-1409-4BF2-8D8D-E570B8741B52}"/>
              </a:ext>
            </a:extLst>
          </p:cNvPr>
          <p:cNvSpPr>
            <a:spLocks noGrp="1"/>
          </p:cNvSpPr>
          <p:nvPr/>
        </p:nvSpPr>
        <p:spPr>
          <a:xfrm>
            <a:off x="7524750" y="1143000"/>
            <a:ext cx="2857500" cy="171450"/>
          </a:xfrm>
          <a:prstGeom prst="rect">
            <a:avLst/>
          </a:prstGeom>
          <a:noFill/>
          <a:ln w="0">
            <a:noFill/>
          </a:ln>
        </p:spPr>
        <p:txBody>
          <a:bodyPr lIns="0" tIns="0" rIns="0" bIns="0" anchor="t">
            <a:normAutofit/>
          </a:bodyPr>
          <a:lstStyle/>
          <a:p>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INVARIA'S UNIT OF WORK</a:t>
            </a:r>
          </a:p>
        </p:txBody>
      </p:sp>
      <p:sp>
        <p:nvSpPr>
          <p:cNvPr id="15" name="Rectangle 14">
            <a:extLst>
              <a:ext uri="{FF2B5EF4-FFF2-40B4-BE49-F238E27FC236}">
                <a16:creationId xmlns:a16="http://schemas.microsoft.com/office/drawing/2014/main" id="{ED868CC3-4F83-4059-AD96-04E1EF2FD3CD}"/>
              </a:ext>
            </a:extLst>
          </p:cNvPr>
          <p:cNvSpPr>
            <a:spLocks noGrp="1"/>
          </p:cNvSpPr>
          <p:nvPr/>
        </p:nvSpPr>
        <p:spPr>
          <a:xfrm>
            <a:off x="7524750" y="1495425"/>
            <a:ext cx="3286125" cy="438150"/>
          </a:xfrm>
          <a:prstGeom prst="rect">
            <a:avLst/>
          </a:prstGeom>
          <a:noFill/>
          <a:ln w="0">
            <a:noFill/>
          </a:ln>
        </p:spPr>
        <p:txBody>
          <a:bodyPr lIns="0" tIns="0" rIns="0" bIns="0" anchor="t">
            <a:normAutofit/>
          </a:bodyPr>
          <a:lstStyle/>
          <a:p>
            <a:pPr algn="l">
              <a:lnSpc>
                <a:spcPct val="112000"/>
              </a:lnSpc>
              <a:buNone/>
              <a:defRPr sz="2250" b="1" i="0">
                <a:solidFill>
                  <a:srgbClr val="FFFFFF"/>
                </a:solidFill>
                <a:latin typeface="Arial"/>
                <a:ea typeface="Arial"/>
                <a:cs typeface="Arial"/>
              </a:defRPr>
            </a:pPr>
            <a:r>
              <a:rPr sz="2250" b="1" i="0">
                <a:solidFill>
                  <a:srgbClr val="FFFFFF"/>
                </a:solidFill>
                <a:latin typeface="Arial"/>
                <a:ea typeface="Arial"/>
                <a:cs typeface="Arial"/>
              </a:rPr>
              <a:t>The security case</a:t>
            </a:r>
          </a:p>
        </p:txBody>
      </p:sp>
      <p:sp>
        <p:nvSpPr>
          <p:cNvPr id="16" name="Rectangle 15">
            <a:extLst>
              <a:ext uri="{FF2B5EF4-FFF2-40B4-BE49-F238E27FC236}">
                <a16:creationId xmlns:a16="http://schemas.microsoft.com/office/drawing/2014/main" id="{CB28EB64-965A-42CB-89EC-47C14D01C78F}"/>
              </a:ext>
            </a:extLst>
          </p:cNvPr>
          <p:cNvSpPr>
            <a:spLocks noGrp="1"/>
          </p:cNvSpPr>
          <p:nvPr/>
        </p:nvSpPr>
        <p:spPr>
          <a:xfrm>
            <a:off x="7524750" y="2238375"/>
            <a:ext cx="285750" cy="190500"/>
          </a:xfrm>
          <a:prstGeom prst="rect">
            <a:avLst/>
          </a:prstGeom>
          <a:noFill/>
          <a:ln w="0">
            <a:noFill/>
          </a:ln>
        </p:spPr>
        <p:txBody>
          <a:bodyPr lIns="0" tIns="0" rIns="0" bIns="0" anchor="t">
            <a:normAutofit/>
          </a:bodyPr>
          <a:lstStyle/>
          <a:p>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01</a:t>
            </a:r>
          </a:p>
        </p:txBody>
      </p:sp>
      <p:sp>
        <p:nvSpPr>
          <p:cNvPr id="17" name="Rectangle 16">
            <a:extLst>
              <a:ext uri="{FF2B5EF4-FFF2-40B4-BE49-F238E27FC236}">
                <a16:creationId xmlns:a16="http://schemas.microsoft.com/office/drawing/2014/main" id="{04FF358A-19BF-4DD8-BA4F-AB98100EA4C5}"/>
              </a:ext>
            </a:extLst>
          </p:cNvPr>
          <p:cNvSpPr>
            <a:spLocks noGrp="1"/>
          </p:cNvSpPr>
          <p:nvPr/>
        </p:nvSpPr>
        <p:spPr>
          <a:xfrm>
            <a:off x="7943850" y="2209800"/>
            <a:ext cx="952500" cy="200025"/>
          </a:xfrm>
          <a:prstGeom prst="rect">
            <a:avLst/>
          </a:prstGeom>
          <a:noFill/>
          <a:ln w="0">
            <a:noFill/>
          </a:ln>
        </p:spPr>
        <p:txBody>
          <a:bodyPr lIns="0" tIns="0" rIns="0" bIns="0" anchor="t">
            <a:normAutofit fontScale="91912"/>
          </a:bodyPr>
          <a:lstStyle/>
          <a:p>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Policy</a:t>
            </a:r>
          </a:p>
        </p:txBody>
      </p:sp>
      <p:sp>
        <p:nvSpPr>
          <p:cNvPr id="18" name="Rectangle 17">
            <a:extLst>
              <a:ext uri="{FF2B5EF4-FFF2-40B4-BE49-F238E27FC236}">
                <a16:creationId xmlns:a16="http://schemas.microsoft.com/office/drawing/2014/main" id="{08FC87C5-60E2-45DC-91FF-0DD6472E7847}"/>
              </a:ext>
            </a:extLst>
          </p:cNvPr>
          <p:cNvSpPr>
            <a:spLocks noGrp="1"/>
          </p:cNvSpPr>
          <p:nvPr/>
        </p:nvSpPr>
        <p:spPr>
          <a:xfrm>
            <a:off x="7943850" y="2457450"/>
            <a:ext cx="2952750" cy="238125"/>
          </a:xfrm>
          <a:prstGeom prst="rect">
            <a:avLst/>
          </a:prstGeom>
          <a:noFill/>
          <a:ln w="0">
            <a:noFill/>
          </a:ln>
        </p:spPr>
        <p:txBody>
          <a:bodyPr lIns="0" tIns="0" rIns="0" bIns="0" anchor="t">
            <a:normAutofit/>
          </a:bodyPr>
          <a:lstStyle/>
          <a:p>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must always be true</a:t>
            </a:r>
          </a:p>
        </p:txBody>
      </p:sp>
      <p:sp>
        <p:nvSpPr>
          <p:cNvPr id="19" name="Straight Connector 18">
            <a:extLst>
              <a:ext uri="{FF2B5EF4-FFF2-40B4-BE49-F238E27FC236}">
                <a16:creationId xmlns:a16="http://schemas.microsoft.com/office/drawing/2014/main" id="{352B953C-4AE6-4CC1-B3B1-51E402A38522}"/>
              </a:ext>
            </a:extLst>
          </p:cNvPr>
          <p:cNvSpPr>
            <a:spLocks noGrp="1"/>
          </p:cNvSpPr>
          <p:nvPr/>
        </p:nvSpPr>
        <p:spPr>
          <a:xfrm>
            <a:off x="7524750" y="2743200"/>
            <a:ext cx="3238500" cy="0"/>
          </a:xfrm>
          <a:prstGeom prst="line">
            <a:avLst/>
          </a:prstGeom>
          <a:noFill/>
          <a:ln w="9525">
            <a:solidFill>
              <a:srgbClr val="303347"/>
            </a:solidFill>
            <a:prstDash val="solid"/>
          </a:ln>
        </p:spPr>
      </p:sp>
      <p:sp>
        <p:nvSpPr>
          <p:cNvPr id="20" name="Rectangle 19">
            <a:extLst>
              <a:ext uri="{FF2B5EF4-FFF2-40B4-BE49-F238E27FC236}">
                <a16:creationId xmlns:a16="http://schemas.microsoft.com/office/drawing/2014/main" id="{FFE2755A-47B4-4062-B475-4E005DAFD42A}"/>
              </a:ext>
            </a:extLst>
          </p:cNvPr>
          <p:cNvSpPr>
            <a:spLocks noGrp="1"/>
          </p:cNvSpPr>
          <p:nvPr/>
        </p:nvSpPr>
        <p:spPr>
          <a:xfrm>
            <a:off x="7524750" y="2876550"/>
            <a:ext cx="285750" cy="190500"/>
          </a:xfrm>
          <a:prstGeom prst="rect">
            <a:avLst/>
          </a:prstGeom>
          <a:noFill/>
          <a:ln w="0">
            <a:noFill/>
          </a:ln>
        </p:spPr>
        <p:txBody>
          <a:bodyPr lIns="0" tIns="0" rIns="0" bIns="0" anchor="t">
            <a:normAutofit/>
          </a:bodyPr>
          <a:lstStyle/>
          <a:p>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02</a:t>
            </a:r>
          </a:p>
        </p:txBody>
      </p:sp>
      <p:sp>
        <p:nvSpPr>
          <p:cNvPr id="21" name="Rectangle 20">
            <a:extLst>
              <a:ext uri="{FF2B5EF4-FFF2-40B4-BE49-F238E27FC236}">
                <a16:creationId xmlns:a16="http://schemas.microsoft.com/office/drawing/2014/main" id="{975DEB5F-7753-4112-90E1-EDA31FA7E292}"/>
              </a:ext>
            </a:extLst>
          </p:cNvPr>
          <p:cNvSpPr>
            <a:spLocks noGrp="1"/>
          </p:cNvSpPr>
          <p:nvPr/>
        </p:nvSpPr>
        <p:spPr>
          <a:xfrm>
            <a:off x="7943850" y="2847975"/>
            <a:ext cx="952500" cy="200025"/>
          </a:xfrm>
          <a:prstGeom prst="rect">
            <a:avLst/>
          </a:prstGeom>
          <a:noFill/>
          <a:ln w="0">
            <a:noFill/>
          </a:ln>
        </p:spPr>
        <p:txBody>
          <a:bodyPr lIns="0" tIns="0" rIns="0" bIns="0" anchor="t">
            <a:normAutofit fontScale="91912"/>
          </a:bodyPr>
          <a:lstStyle/>
          <a:p>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Path</a:t>
            </a:r>
          </a:p>
        </p:txBody>
      </p:sp>
      <p:sp>
        <p:nvSpPr>
          <p:cNvPr id="22" name="Rectangle 21">
            <a:extLst>
              <a:ext uri="{FF2B5EF4-FFF2-40B4-BE49-F238E27FC236}">
                <a16:creationId xmlns:a16="http://schemas.microsoft.com/office/drawing/2014/main" id="{1400A792-8098-4EB5-B8D3-CA9C1DE23D4E}"/>
              </a:ext>
            </a:extLst>
          </p:cNvPr>
          <p:cNvSpPr>
            <a:spLocks noGrp="1"/>
          </p:cNvSpPr>
          <p:nvPr/>
        </p:nvSpPr>
        <p:spPr>
          <a:xfrm>
            <a:off x="7943850" y="3095625"/>
            <a:ext cx="2952750" cy="238125"/>
          </a:xfrm>
          <a:prstGeom prst="rect">
            <a:avLst/>
          </a:prstGeom>
          <a:noFill/>
          <a:ln w="0">
            <a:noFill/>
          </a:ln>
        </p:spPr>
        <p:txBody>
          <a:bodyPr lIns="0" tIns="0" rIns="0" bIns="0" anchor="t">
            <a:normAutofit/>
          </a:bodyPr>
          <a:lstStyle/>
          <a:p>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How a request reaches sensitive data or action</a:t>
            </a:r>
          </a:p>
        </p:txBody>
      </p:sp>
      <p:sp>
        <p:nvSpPr>
          <p:cNvPr id="23" name="Straight Connector 22">
            <a:extLst>
              <a:ext uri="{FF2B5EF4-FFF2-40B4-BE49-F238E27FC236}">
                <a16:creationId xmlns:a16="http://schemas.microsoft.com/office/drawing/2014/main" id="{77435213-E6C1-49F9-B0AC-BDC8B7E0A80E}"/>
              </a:ext>
            </a:extLst>
          </p:cNvPr>
          <p:cNvSpPr>
            <a:spLocks noGrp="1"/>
          </p:cNvSpPr>
          <p:nvPr/>
        </p:nvSpPr>
        <p:spPr>
          <a:xfrm>
            <a:off x="7524750" y="3381375"/>
            <a:ext cx="3238500" cy="0"/>
          </a:xfrm>
          <a:prstGeom prst="line">
            <a:avLst/>
          </a:prstGeom>
          <a:noFill/>
          <a:ln w="9525">
            <a:solidFill>
              <a:srgbClr val="303347"/>
            </a:solidFill>
            <a:prstDash val="solid"/>
          </a:ln>
        </p:spPr>
      </p:sp>
      <p:sp>
        <p:nvSpPr>
          <p:cNvPr id="24" name="Rectangle 23">
            <a:extLst>
              <a:ext uri="{FF2B5EF4-FFF2-40B4-BE49-F238E27FC236}">
                <a16:creationId xmlns:a16="http://schemas.microsoft.com/office/drawing/2014/main" id="{89BF9403-3C07-466D-9B44-7741F49CE7AA}"/>
              </a:ext>
            </a:extLst>
          </p:cNvPr>
          <p:cNvSpPr>
            <a:spLocks noGrp="1"/>
          </p:cNvSpPr>
          <p:nvPr/>
        </p:nvSpPr>
        <p:spPr>
          <a:xfrm>
            <a:off x="7524750" y="3514725"/>
            <a:ext cx="285750" cy="190500"/>
          </a:xfrm>
          <a:prstGeom prst="rect">
            <a:avLst/>
          </a:prstGeom>
          <a:noFill/>
          <a:ln w="0">
            <a:noFill/>
          </a:ln>
        </p:spPr>
        <p:txBody>
          <a:bodyPr lIns="0" tIns="0" rIns="0" bIns="0" anchor="t">
            <a:normAutofit/>
          </a:bodyPr>
          <a:lstStyle/>
          <a:p>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03</a:t>
            </a:r>
          </a:p>
        </p:txBody>
      </p:sp>
      <p:sp>
        <p:nvSpPr>
          <p:cNvPr id="25" name="Rectangle 24">
            <a:extLst>
              <a:ext uri="{FF2B5EF4-FFF2-40B4-BE49-F238E27FC236}">
                <a16:creationId xmlns:a16="http://schemas.microsoft.com/office/drawing/2014/main" id="{DCD230ED-D7AA-4DBC-8F9B-594E88669B62}"/>
              </a:ext>
            </a:extLst>
          </p:cNvPr>
          <p:cNvSpPr>
            <a:spLocks noGrp="1"/>
          </p:cNvSpPr>
          <p:nvPr/>
        </p:nvSpPr>
        <p:spPr>
          <a:xfrm>
            <a:off x="7943850" y="3486150"/>
            <a:ext cx="952500" cy="200025"/>
          </a:xfrm>
          <a:prstGeom prst="rect">
            <a:avLst/>
          </a:prstGeom>
          <a:noFill/>
          <a:ln w="0">
            <a:noFill/>
          </a:ln>
        </p:spPr>
        <p:txBody>
          <a:bodyPr lIns="0" tIns="0" rIns="0" bIns="0" anchor="t">
            <a:normAutofit fontScale="91912"/>
          </a:bodyPr>
          <a:lstStyle/>
          <a:p>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Proof</a:t>
            </a:r>
          </a:p>
        </p:txBody>
      </p:sp>
      <p:sp>
        <p:nvSpPr>
          <p:cNvPr id="26" name="Rectangle 25">
            <a:extLst>
              <a:ext uri="{FF2B5EF4-FFF2-40B4-BE49-F238E27FC236}">
                <a16:creationId xmlns:a16="http://schemas.microsoft.com/office/drawing/2014/main" id="{4F0AF7BA-C026-482B-9821-4F221E1C3060}"/>
              </a:ext>
            </a:extLst>
          </p:cNvPr>
          <p:cNvSpPr>
            <a:spLocks noGrp="1"/>
          </p:cNvSpPr>
          <p:nvPr/>
        </p:nvSpPr>
        <p:spPr>
          <a:xfrm>
            <a:off x="7943850" y="3733800"/>
            <a:ext cx="2952750" cy="238125"/>
          </a:xfrm>
          <a:prstGeom prst="rect">
            <a:avLst/>
          </a:prstGeom>
          <a:noFill/>
          <a:ln w="0">
            <a:noFill/>
          </a:ln>
        </p:spPr>
        <p:txBody>
          <a:bodyPr lIns="0" tIns="0" rIns="0" bIns="0" anchor="t">
            <a:normAutofit/>
          </a:bodyPr>
          <a:lstStyle/>
          <a:p>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Which source evidence supports the hypothesis</a:t>
            </a:r>
          </a:p>
        </p:txBody>
      </p:sp>
      <p:sp>
        <p:nvSpPr>
          <p:cNvPr id="27" name="Straight Connector 26">
            <a:extLst>
              <a:ext uri="{FF2B5EF4-FFF2-40B4-BE49-F238E27FC236}">
                <a16:creationId xmlns:a16="http://schemas.microsoft.com/office/drawing/2014/main" id="{083F3197-4BA9-4667-AEB2-4E83FC67403D}"/>
              </a:ext>
            </a:extLst>
          </p:cNvPr>
          <p:cNvSpPr>
            <a:spLocks noGrp="1"/>
          </p:cNvSpPr>
          <p:nvPr/>
        </p:nvSpPr>
        <p:spPr>
          <a:xfrm>
            <a:off x="7524750" y="4019550"/>
            <a:ext cx="3238500" cy="0"/>
          </a:xfrm>
          <a:prstGeom prst="line">
            <a:avLst/>
          </a:prstGeom>
          <a:noFill/>
          <a:ln w="9525">
            <a:solidFill>
              <a:srgbClr val="303347"/>
            </a:solidFill>
            <a:prstDash val="solid"/>
          </a:ln>
        </p:spPr>
      </p:sp>
      <p:sp>
        <p:nvSpPr>
          <p:cNvPr id="28" name="Rectangle 27">
            <a:extLst>
              <a:ext uri="{FF2B5EF4-FFF2-40B4-BE49-F238E27FC236}">
                <a16:creationId xmlns:a16="http://schemas.microsoft.com/office/drawing/2014/main" id="{1E543694-E488-4B5D-95BA-EC1E9A80B786}"/>
              </a:ext>
            </a:extLst>
          </p:cNvPr>
          <p:cNvSpPr>
            <a:spLocks noGrp="1"/>
          </p:cNvSpPr>
          <p:nvPr/>
        </p:nvSpPr>
        <p:spPr>
          <a:xfrm>
            <a:off x="7524750" y="4152900"/>
            <a:ext cx="285750" cy="190500"/>
          </a:xfrm>
          <a:prstGeom prst="rect">
            <a:avLst/>
          </a:prstGeom>
          <a:noFill/>
          <a:ln w="0">
            <a:noFill/>
          </a:ln>
        </p:spPr>
        <p:txBody>
          <a:bodyPr lIns="0" tIns="0" rIns="0" bIns="0" anchor="t">
            <a:normAutofit/>
          </a:bodyPr>
          <a:lstStyle/>
          <a:p>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04</a:t>
            </a:r>
          </a:p>
        </p:txBody>
      </p:sp>
      <p:sp>
        <p:nvSpPr>
          <p:cNvPr id="29" name="Rectangle 28">
            <a:extLst>
              <a:ext uri="{FF2B5EF4-FFF2-40B4-BE49-F238E27FC236}">
                <a16:creationId xmlns:a16="http://schemas.microsoft.com/office/drawing/2014/main" id="{4D43C537-AE4D-4FF1-A767-F3EA87F77102}"/>
              </a:ext>
            </a:extLst>
          </p:cNvPr>
          <p:cNvSpPr>
            <a:spLocks noGrp="1"/>
          </p:cNvSpPr>
          <p:nvPr/>
        </p:nvSpPr>
        <p:spPr>
          <a:xfrm>
            <a:off x="7943850" y="4124325"/>
            <a:ext cx="952500" cy="200025"/>
          </a:xfrm>
          <a:prstGeom prst="rect">
            <a:avLst/>
          </a:prstGeom>
          <a:noFill/>
          <a:ln w="0">
            <a:noFill/>
          </a:ln>
        </p:spPr>
        <p:txBody>
          <a:bodyPr lIns="0" tIns="0" rIns="0" bIns="0" anchor="t">
            <a:normAutofit fontScale="91912"/>
          </a:bodyPr>
          <a:lstStyle/>
          <a:p>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Decision</a:t>
            </a:r>
          </a:p>
        </p:txBody>
      </p:sp>
      <p:sp>
        <p:nvSpPr>
          <p:cNvPr id="30" name="Rectangle 29">
            <a:extLst>
              <a:ext uri="{FF2B5EF4-FFF2-40B4-BE49-F238E27FC236}">
                <a16:creationId xmlns:a16="http://schemas.microsoft.com/office/drawing/2014/main" id="{0B045C47-3F0E-4A0E-8DC5-3DC14B0E9047}"/>
              </a:ext>
            </a:extLst>
          </p:cNvPr>
          <p:cNvSpPr>
            <a:spLocks noGrp="1"/>
          </p:cNvSpPr>
          <p:nvPr/>
        </p:nvSpPr>
        <p:spPr>
          <a:xfrm>
            <a:off x="7943850" y="4371975"/>
            <a:ext cx="2952750" cy="238125"/>
          </a:xfrm>
          <a:prstGeom prst="rect">
            <a:avLst/>
          </a:prstGeom>
          <a:noFill/>
          <a:ln w="0">
            <a:noFill/>
          </a:ln>
        </p:spPr>
        <p:txBody>
          <a:bodyPr lIns="0" tIns="0" rIns="0" bIns="0" anchor="t">
            <a:normAutofit/>
          </a:bodyPr>
          <a:lstStyle/>
          <a:p>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remains for a reviewer to validate</a:t>
            </a:r>
          </a:p>
        </p:txBody>
      </p:sp>
      <p:sp>
        <p:nvSpPr>
          <p:cNvPr id="31" name="Rectangle 30">
            <a:extLst>
              <a:ext uri="{FF2B5EF4-FFF2-40B4-BE49-F238E27FC236}">
                <a16:creationId xmlns:a16="http://schemas.microsoft.com/office/drawing/2014/main" id="{57F48BEA-779E-407A-AB73-69A1FFBA8771}"/>
              </a:ext>
            </a:extLst>
          </p:cNvPr>
          <p:cNvSpPr>
            <a:spLocks noGrp="1"/>
          </p:cNvSpPr>
          <p:nvPr/>
        </p:nvSpPr>
        <p:spPr>
          <a:xfrm>
            <a:off x="7524750" y="5048250"/>
            <a:ext cx="3381375" cy="285750"/>
          </a:xfrm>
          <a:prstGeom prst="rect">
            <a:avLst/>
          </a:prstGeom>
          <a:noFill/>
          <a:ln w="0">
            <a:noFill/>
          </a:ln>
        </p:spPr>
        <p:txBody>
          <a:bodyPr lIns="0" tIns="0" rIns="0" bIns="0" anchor="t">
            <a:normAutofit/>
          </a:bodyPr>
          <a:lstStyle/>
          <a:p>
            <a:pPr algn="l">
              <a:lnSpc>
                <a:spcPct val="112000"/>
              </a:lnSpc>
              <a:buNone/>
              <a:defRPr sz="1050" b="0" i="1">
                <a:solidFill>
                  <a:srgbClr val="BEC4D5"/>
                </a:solidFill>
                <a:latin typeface="Arial"/>
                <a:ea typeface="Arial"/>
                <a:cs typeface="Arial"/>
              </a:defRPr>
            </a:pPr>
            <a:r>
              <a:rPr sz="1050" b="0" i="1">
                <a:solidFill>
                  <a:srgbClr val="BEC4D5"/>
                </a:solidFill>
                <a:latin typeface="Arial"/>
                <a:ea typeface="Arial"/>
                <a:cs typeface="Arial"/>
              </a:rPr>
              <a:t>Not a claim of a breach. A traceable basis for review.</a:t>
            </a:r>
          </a:p>
        </p:txBody>
      </p:sp>
    </p:spTree>
    <p:extLst>
      <p:ext uri="{BB962C8B-B14F-4D97-AF65-F5344CB8AC3E}">
        <p14:creationId xmlns:p14="http://schemas.microsoft.com/office/powerpoint/2010/main" val="914506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traight Connector 21">
            <a:extLst>
              <a:ext uri="{FF2B5EF4-FFF2-40B4-BE49-F238E27FC236}">
                <a16:creationId xmlns:a16="http://schemas.microsoft.com/office/drawing/2014/main" id="{09F71709-131F-4C0B-A14E-DD77C1490C08}"/>
              </a:ext>
            </a:extLst>
          </p:cNvPr>
          <p:cNvSpPr>
            <a:spLocks noGrp="1"/>
          </p:cNvSpPr>
          <p:nvPr/>
        </p:nvSpPr>
        <p:spPr>
          <a:xfrm>
            <a:off x="685800" y="6381750"/>
            <a:ext cx="10820400" cy="0"/>
          </a:xfrm>
          <a:prstGeom prst="line">
            <a:avLst/>
          </a:prstGeom>
          <a:noFill/>
          <a:ln w="9525">
            <a:solidFill>
              <a:srgbClr val="DEE1EC"/>
            </a:solidFill>
            <a:prstDash val="solid"/>
          </a:ln>
        </p:spPr>
      </p:sp>
      <p:sp>
        <p:nvSpPr>
          <p:cNvPr id="2" name="Rectangle 1">
            <a:extLst>
              <a:ext uri="{FF2B5EF4-FFF2-40B4-BE49-F238E27FC236}">
                <a16:creationId xmlns:a16="http://schemas.microsoft.com/office/drawing/2014/main" id="{1CFF7AED-35C5-49CD-8E85-811BAFB508FE}"/>
              </a:ext>
            </a:extLst>
          </p:cNvPr>
          <p:cNvSpPr>
            <a:spLocks noGrp="1"/>
          </p:cNvSpPr>
          <p:nvPr/>
        </p:nvSpPr>
        <p:spPr>
          <a:xfrm>
            <a:off x="685800" y="6534150"/>
            <a:ext cx="4286250" cy="142875"/>
          </a:xfrm>
          <a:prstGeom prst="rect">
            <a:avLst/>
          </a:prstGeom>
          <a:noFill/>
          <a:ln w="0">
            <a:noFill/>
          </a:ln>
        </p:spPr>
        <p:txBody>
          <a:bodyPr lIns="0" tIns="0" rIns="0" bIns="0" anchor="t">
            <a:normAutofit/>
          </a:bodyPr>
          <a:lstStyle/>
          <a:p>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Rectangle 2">
            <a:extLst>
              <a:ext uri="{FF2B5EF4-FFF2-40B4-BE49-F238E27FC236}">
                <a16:creationId xmlns:a16="http://schemas.microsoft.com/office/drawing/2014/main" id="{4395824C-0783-4648-B7BB-43E3300D2640}"/>
              </a:ext>
            </a:extLst>
          </p:cNvPr>
          <p:cNvSpPr>
            <a:spLocks noGrp="1"/>
          </p:cNvSpPr>
          <p:nvPr/>
        </p:nvSpPr>
        <p:spPr>
          <a:xfrm>
            <a:off x="4286250" y="6534150"/>
            <a:ext cx="6191250" cy="142875"/>
          </a:xfrm>
          <a:prstGeom prst="rect">
            <a:avLst/>
          </a:prstGeom>
          <a:noFill/>
          <a:ln w="0">
            <a:noFill/>
          </a:ln>
        </p:spPr>
        <p:txBody>
          <a:bodyPr lIns="0" tIns="0" rIns="0" bIns="0" anchor="t">
            <a:normAutofit/>
          </a:bodyPr>
          <a:lstStyle/>
          <a:p>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Grand View Research, Application Security Market, 2026–2033</a:t>
            </a:r>
          </a:p>
        </p:txBody>
      </p:sp>
      <p:sp>
        <p:nvSpPr>
          <p:cNvPr id="4" name="Rectangle 3">
            <a:extLst>
              <a:ext uri="{FF2B5EF4-FFF2-40B4-BE49-F238E27FC236}">
                <a16:creationId xmlns:a16="http://schemas.microsoft.com/office/drawing/2014/main" id="{C11B1596-E471-4BF0-AD34-C1C7EE13BD20}"/>
              </a:ext>
            </a:extLst>
          </p:cNvPr>
          <p:cNvSpPr>
            <a:spLocks noGrp="1"/>
          </p:cNvSpPr>
          <p:nvPr/>
        </p:nvSpPr>
        <p:spPr>
          <a:xfrm>
            <a:off x="10858500" y="6515100"/>
            <a:ext cx="647700" cy="171450"/>
          </a:xfrm>
          <a:prstGeom prst="rect">
            <a:avLst/>
          </a:prstGeom>
          <a:noFill/>
          <a:ln w="0">
            <a:noFill/>
          </a:ln>
        </p:spPr>
        <p:txBody>
          <a:bodyPr lIns="0" tIns="0" rIns="0" bIns="0" anchor="t">
            <a:normAutofit/>
          </a:bodyPr>
          <a:lstStyle/>
          <a:p>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02</a:t>
            </a:r>
          </a:p>
        </p:txBody>
      </p:sp>
      <p:sp>
        <p:nvSpPr>
          <p:cNvPr id="5" name="Rectangle: Rounded Corners 4">
            <a:extLst>
              <a:ext uri="{FF2B5EF4-FFF2-40B4-BE49-F238E27FC236}">
                <a16:creationId xmlns:a16="http://schemas.microsoft.com/office/drawing/2014/main" id="{FD8942EC-8A91-40E6-9EAA-8240A8004A06}"/>
              </a:ext>
            </a:extLst>
          </p:cNvPr>
          <p:cNvSpPr>
            <a:spLocks noGrp="1"/>
          </p:cNvSpPr>
          <p:nvPr/>
        </p:nvSpPr>
        <p:spPr>
          <a:xfrm>
            <a:off x="685800" y="514350"/>
            <a:ext cx="1714500" cy="266700"/>
          </a:xfrm>
          <a:prstGeom prst="roundRect">
            <a:avLst>
              <a:gd name="adj" fmla="val 50000"/>
            </a:avLst>
          </a:prstGeom>
          <a:solidFill>
            <a:srgbClr val="F1F0FF"/>
          </a:solidFill>
          <a:ln w="0">
            <a:noFill/>
          </a:ln>
        </p:spPr>
      </p:sp>
      <p:sp>
        <p:nvSpPr>
          <p:cNvPr id="6" name="Rectangle 5">
            <a:extLst>
              <a:ext uri="{FF2B5EF4-FFF2-40B4-BE49-F238E27FC236}">
                <a16:creationId xmlns:a16="http://schemas.microsoft.com/office/drawing/2014/main" id="{EFBB54F0-C5AD-4ADA-AD0F-29CD1FFBB391}"/>
              </a:ext>
            </a:extLst>
          </p:cNvPr>
          <p:cNvSpPr>
            <a:spLocks noGrp="1"/>
          </p:cNvSpPr>
          <p:nvPr/>
        </p:nvSpPr>
        <p:spPr>
          <a:xfrm>
            <a:off x="781050" y="571500"/>
            <a:ext cx="1524000" cy="152400"/>
          </a:xfrm>
          <a:prstGeom prst="rect">
            <a:avLst/>
          </a:prstGeom>
          <a:noFill/>
          <a:ln w="0">
            <a:noFill/>
          </a:ln>
        </p:spPr>
        <p:txBody>
          <a:bodyPr lIns="0" tIns="0" rIns="0" bIns="0" anchor="t">
            <a:normAutofit/>
          </a:bodyPr>
          <a:lstStyle/>
          <a:p>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MARKET OPPORTUNITY</a:t>
            </a:r>
          </a:p>
        </p:txBody>
      </p:sp>
      <p:sp>
        <p:nvSpPr>
          <p:cNvPr id="7" name="Rectangle 6">
            <a:extLst>
              <a:ext uri="{FF2B5EF4-FFF2-40B4-BE49-F238E27FC236}">
                <a16:creationId xmlns:a16="http://schemas.microsoft.com/office/drawing/2014/main" id="{09EB8370-FE06-4BA4-9B36-3C989F11D1E1}"/>
              </a:ext>
            </a:extLst>
          </p:cNvPr>
          <p:cNvSpPr>
            <a:spLocks noGrp="1"/>
          </p:cNvSpPr>
          <p:nvPr/>
        </p:nvSpPr>
        <p:spPr>
          <a:xfrm>
            <a:off x="685800" y="971550"/>
            <a:ext cx="6381750" cy="1000125"/>
          </a:xfrm>
          <a:prstGeom prst="rect">
            <a:avLst/>
          </a:prstGeom>
          <a:noFill/>
          <a:ln w="0">
            <a:noFill/>
          </a:ln>
        </p:spPr>
        <p:txBody>
          <a:bodyPr lIns="0" tIns="0" rIns="0" bIns="0" anchor="t">
            <a:normAutofit fontScale="99343"/>
          </a:bodyPr>
          <a:lstStyle/>
          <a:p>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Application security is a growing</a:t>
            </a:r>
          </a:p>
          <a:p>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category with a clear entry point</a:t>
            </a:r>
          </a:p>
        </p:txBody>
      </p:sp>
      <p:sp>
        <p:nvSpPr>
          <p:cNvPr id="8" name="Rectangle 7">
            <a:extLst>
              <a:ext uri="{FF2B5EF4-FFF2-40B4-BE49-F238E27FC236}">
                <a16:creationId xmlns:a16="http://schemas.microsoft.com/office/drawing/2014/main" id="{FA5944DA-DFCA-4516-9A8B-14C3AFA11060}"/>
              </a:ext>
            </a:extLst>
          </p:cNvPr>
          <p:cNvSpPr>
            <a:spLocks noGrp="1"/>
          </p:cNvSpPr>
          <p:nvPr/>
        </p:nvSpPr>
        <p:spPr>
          <a:xfrm>
            <a:off x="685800" y="2171700"/>
            <a:ext cx="5905500" cy="523875"/>
          </a:xfrm>
          <a:prstGeom prst="rect">
            <a:avLst/>
          </a:prstGeom>
          <a:noFill/>
          <a:ln w="0">
            <a:noFill/>
          </a:ln>
        </p:spPr>
        <p:txBody>
          <a:bodyPr lIns="0" tIns="0" rIns="0" bIns="0" anchor="t">
            <a:normAutofit fontScale="93855"/>
          </a:bodyPr>
          <a:lstStyle/>
          <a:p>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 begins with API-driven products where a broken ownership or business-flow rule can directly affect money, tenant data, or regulated records.</a:t>
            </a:r>
          </a:p>
        </p:txBody>
      </p:sp>
      <p:graphicFrame>
        <p:nvGraphicFramePr>
          <p:cNvPr id="30" name="Chart"/>
          <p:cNvGraphicFramePr/>
          <p:nvPr/>
        </p:nvGraphicFramePr>
        <p:xfrm>
          <a:off x="685800" y="3067050"/>
          <a:ext cx="5524500" cy="272415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87D47AA2-5E31-410E-BFFB-6CBFB822B8E9}"/>
              </a:ext>
            </a:extLst>
          </p:cNvPr>
          <p:cNvSpPr>
            <a:spLocks noGrp="1"/>
          </p:cNvSpPr>
          <p:nvPr/>
        </p:nvSpPr>
        <p:spPr>
          <a:xfrm>
            <a:off x="685800" y="2857500"/>
            <a:ext cx="4953000" cy="171450"/>
          </a:xfrm>
          <a:prstGeom prst="rect">
            <a:avLst/>
          </a:prstGeom>
          <a:noFill/>
          <a:ln w="0">
            <a:noFill/>
          </a:ln>
        </p:spPr>
        <p:txBody>
          <a:bodyPr lIns="0" tIns="0" rIns="0" bIns="0" anchor="t">
            <a:normAutofit/>
          </a:bodyPr>
          <a:lstStyle/>
          <a:p>
            <a:pPr algn="l">
              <a:lnSpc>
                <a:spcPct val="112000"/>
              </a:lnSpc>
              <a:buNone/>
              <a:defRPr sz="975" b="1" i="0">
                <a:solidFill>
                  <a:srgbClr val="626A7C"/>
                </a:solidFill>
                <a:latin typeface="Arial"/>
                <a:ea typeface="Arial"/>
                <a:cs typeface="Arial"/>
              </a:defRPr>
            </a:pPr>
            <a:r>
              <a:rPr sz="975" b="1" i="0">
                <a:solidFill>
                  <a:srgbClr val="626A7C"/>
                </a:solidFill>
                <a:latin typeface="Arial"/>
                <a:ea typeface="Arial"/>
                <a:cs typeface="Arial"/>
              </a:rPr>
              <a:t>Global application security market, USD billions</a:t>
            </a:r>
          </a:p>
        </p:txBody>
      </p:sp>
      <p:sp>
        <p:nvSpPr>
          <p:cNvPr id="11" name="Rectangle: Rounded Corners 10">
            <a:extLst>
              <a:ext uri="{FF2B5EF4-FFF2-40B4-BE49-F238E27FC236}">
                <a16:creationId xmlns:a16="http://schemas.microsoft.com/office/drawing/2014/main" id="{CC612B0E-1ACA-40A5-8824-0CB83DFA2D30}"/>
              </a:ext>
            </a:extLst>
          </p:cNvPr>
          <p:cNvSpPr>
            <a:spLocks noGrp="1"/>
          </p:cNvSpPr>
          <p:nvPr/>
        </p:nvSpPr>
        <p:spPr>
          <a:xfrm>
            <a:off x="7328452" y="971550"/>
            <a:ext cx="4495800" cy="4419600"/>
          </a:xfrm>
          <a:prstGeom prst="roundRect">
            <a:avLst>
              <a:gd name="adj" fmla="val 5172"/>
            </a:avLst>
          </a:prstGeom>
          <a:solidFill>
            <a:srgbClr val="F7F8FC"/>
          </a:solidFill>
          <a:ln w="0">
            <a:noFill/>
          </a:ln>
        </p:spPr>
        <p:txBody>
          <a:bodyPr/>
          <a:lstStyle/>
          <a:p>
            <a:endParaRPr lang="en-IN"/>
          </a:p>
        </p:txBody>
      </p:sp>
      <p:sp>
        <p:nvSpPr>
          <p:cNvPr id="12" name="Rectangle 11">
            <a:extLst>
              <a:ext uri="{FF2B5EF4-FFF2-40B4-BE49-F238E27FC236}">
                <a16:creationId xmlns:a16="http://schemas.microsoft.com/office/drawing/2014/main" id="{DFCD8B13-FA1F-4025-AB03-A4ABC4197EAD}"/>
              </a:ext>
            </a:extLst>
          </p:cNvPr>
          <p:cNvSpPr>
            <a:spLocks noGrp="1"/>
          </p:cNvSpPr>
          <p:nvPr/>
        </p:nvSpPr>
        <p:spPr>
          <a:xfrm>
            <a:off x="7709452" y="1333500"/>
            <a:ext cx="2381250" cy="171450"/>
          </a:xfrm>
          <a:prstGeom prst="rect">
            <a:avLst/>
          </a:prstGeom>
          <a:noFill/>
          <a:ln w="0">
            <a:noFill/>
          </a:ln>
        </p:spPr>
        <p:txBody>
          <a:bodyPr lIns="0" tIns="0" rIns="0" bIns="0" anchor="t">
            <a:normAutofit/>
          </a:bodyPr>
          <a:lstStyle/>
          <a:p>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WHERE INVARIA FITS</a:t>
            </a:r>
          </a:p>
        </p:txBody>
      </p:sp>
      <p:sp>
        <p:nvSpPr>
          <p:cNvPr id="13" name="Rectangle 12">
            <a:extLst>
              <a:ext uri="{FF2B5EF4-FFF2-40B4-BE49-F238E27FC236}">
                <a16:creationId xmlns:a16="http://schemas.microsoft.com/office/drawing/2014/main" id="{EF2D680E-978D-46D8-BF6E-DE434CF0F8EC}"/>
              </a:ext>
            </a:extLst>
          </p:cNvPr>
          <p:cNvSpPr>
            <a:spLocks noGrp="1"/>
          </p:cNvSpPr>
          <p:nvPr/>
        </p:nvSpPr>
        <p:spPr>
          <a:xfrm>
            <a:off x="7709452" y="1695450"/>
            <a:ext cx="2000250" cy="266700"/>
          </a:xfrm>
          <a:prstGeom prst="rect">
            <a:avLst/>
          </a:prstGeom>
          <a:noFill/>
          <a:ln w="0">
            <a:noFill/>
          </a:ln>
        </p:spPr>
        <p:txBody>
          <a:bodyPr lIns="0" tIns="0" rIns="0" bIns="0" anchor="t">
            <a:normAutofit fontScale="98080" lnSpcReduction="10000"/>
          </a:bodyPr>
          <a:lstStyle/>
          <a:p>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Initial wedge</a:t>
            </a:r>
          </a:p>
        </p:txBody>
      </p:sp>
      <p:sp>
        <p:nvSpPr>
          <p:cNvPr id="14" name="Rectangle 13">
            <a:extLst>
              <a:ext uri="{FF2B5EF4-FFF2-40B4-BE49-F238E27FC236}">
                <a16:creationId xmlns:a16="http://schemas.microsoft.com/office/drawing/2014/main" id="{2D2C8B97-4E43-4E12-8C05-0140A88BC65D}"/>
              </a:ext>
            </a:extLst>
          </p:cNvPr>
          <p:cNvSpPr>
            <a:spLocks noGrp="1"/>
          </p:cNvSpPr>
          <p:nvPr/>
        </p:nvSpPr>
        <p:spPr>
          <a:xfrm>
            <a:off x="7709452" y="2076450"/>
            <a:ext cx="3429000" cy="742950"/>
          </a:xfrm>
          <a:prstGeom prst="rect">
            <a:avLst/>
          </a:prstGeom>
          <a:noFill/>
          <a:ln w="0">
            <a:noFill/>
          </a:ln>
        </p:spPr>
        <p:txBody>
          <a:bodyPr lIns="0" tIns="0" rIns="0" bIns="0" anchor="t">
            <a:normAutofit fontScale="92403"/>
          </a:bodyPr>
          <a:lstStyle/>
          <a:p>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JavaScript and TypeScript teams building multi-tenant SaaS and API products, especially when a dedicated application-security team is unavailable.</a:t>
            </a:r>
          </a:p>
        </p:txBody>
      </p:sp>
      <p:sp>
        <p:nvSpPr>
          <p:cNvPr id="15" name="Straight Connector 14">
            <a:extLst>
              <a:ext uri="{FF2B5EF4-FFF2-40B4-BE49-F238E27FC236}">
                <a16:creationId xmlns:a16="http://schemas.microsoft.com/office/drawing/2014/main" id="{C0E1AD3C-E751-44B2-83C3-92CC9E1EA7C2}"/>
              </a:ext>
            </a:extLst>
          </p:cNvPr>
          <p:cNvSpPr>
            <a:spLocks noGrp="1"/>
          </p:cNvSpPr>
          <p:nvPr/>
        </p:nvSpPr>
        <p:spPr>
          <a:xfrm>
            <a:off x="7709452" y="3105150"/>
            <a:ext cx="3333750" cy="0"/>
          </a:xfrm>
          <a:prstGeom prst="line">
            <a:avLst/>
          </a:prstGeom>
          <a:noFill/>
          <a:ln w="9525">
            <a:solidFill>
              <a:srgbClr val="DEE1EC"/>
            </a:solidFill>
            <a:prstDash val="solid"/>
          </a:ln>
        </p:spPr>
      </p:sp>
      <p:sp>
        <p:nvSpPr>
          <p:cNvPr id="16" name="Rectangle 15">
            <a:extLst>
              <a:ext uri="{FF2B5EF4-FFF2-40B4-BE49-F238E27FC236}">
                <a16:creationId xmlns:a16="http://schemas.microsoft.com/office/drawing/2014/main" id="{AB9D6BE8-8708-461B-A368-A5B2115BB2A1}"/>
              </a:ext>
            </a:extLst>
          </p:cNvPr>
          <p:cNvSpPr>
            <a:spLocks noGrp="1"/>
          </p:cNvSpPr>
          <p:nvPr/>
        </p:nvSpPr>
        <p:spPr>
          <a:xfrm>
            <a:off x="7709452" y="3381375"/>
            <a:ext cx="2000250" cy="266700"/>
          </a:xfrm>
          <a:prstGeom prst="rect">
            <a:avLst/>
          </a:prstGeom>
          <a:noFill/>
          <a:ln w="0">
            <a:noFill/>
          </a:ln>
        </p:spPr>
        <p:txBody>
          <a:bodyPr lIns="0" tIns="0" rIns="0" bIns="0" anchor="t">
            <a:normAutofit fontScale="98080" lnSpcReduction="10000"/>
          </a:bodyPr>
          <a:lstStyle/>
          <a:p>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Why now</a:t>
            </a:r>
          </a:p>
        </p:txBody>
      </p:sp>
      <p:sp>
        <p:nvSpPr>
          <p:cNvPr id="17" name="Rectangle 16">
            <a:extLst>
              <a:ext uri="{FF2B5EF4-FFF2-40B4-BE49-F238E27FC236}">
                <a16:creationId xmlns:a16="http://schemas.microsoft.com/office/drawing/2014/main" id="{750A2FA3-E177-46E0-BFE0-C51A102CB60E}"/>
              </a:ext>
            </a:extLst>
          </p:cNvPr>
          <p:cNvSpPr>
            <a:spLocks noGrp="1"/>
          </p:cNvSpPr>
          <p:nvPr/>
        </p:nvSpPr>
        <p:spPr>
          <a:xfrm>
            <a:off x="7709452" y="3762375"/>
            <a:ext cx="3429000" cy="609600"/>
          </a:xfrm>
          <a:prstGeom prst="rect">
            <a:avLst/>
          </a:prstGeom>
          <a:noFill/>
          <a:ln w="0">
            <a:noFill/>
          </a:ln>
        </p:spPr>
        <p:txBody>
          <a:bodyPr lIns="0" tIns="0" rIns="0" bIns="0" anchor="t">
            <a:normAutofit fontScale="89804" lnSpcReduction="10000"/>
          </a:bodyPr>
          <a:lstStyle/>
          <a:p>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AI-assisted delivery speeds up code creation. Security review still needs evidence that a system preserves its access and workflow rules.</a:t>
            </a:r>
          </a:p>
        </p:txBody>
      </p:sp>
      <p:sp>
        <p:nvSpPr>
          <p:cNvPr id="18" name="Straight Connector 17">
            <a:extLst>
              <a:ext uri="{FF2B5EF4-FFF2-40B4-BE49-F238E27FC236}">
                <a16:creationId xmlns:a16="http://schemas.microsoft.com/office/drawing/2014/main" id="{BAB59533-0F95-497A-BF94-242284005917}"/>
              </a:ext>
            </a:extLst>
          </p:cNvPr>
          <p:cNvSpPr>
            <a:spLocks noGrp="1"/>
          </p:cNvSpPr>
          <p:nvPr/>
        </p:nvSpPr>
        <p:spPr>
          <a:xfrm>
            <a:off x="7709452" y="4648200"/>
            <a:ext cx="3333750" cy="0"/>
          </a:xfrm>
          <a:prstGeom prst="line">
            <a:avLst/>
          </a:prstGeom>
          <a:noFill/>
          <a:ln w="9525">
            <a:solidFill>
              <a:srgbClr val="DEE1EC"/>
            </a:solidFill>
            <a:prstDash val="solid"/>
          </a:ln>
        </p:spPr>
      </p:sp>
      <p:sp>
        <p:nvSpPr>
          <p:cNvPr id="19" name="Rectangle 18">
            <a:extLst>
              <a:ext uri="{FF2B5EF4-FFF2-40B4-BE49-F238E27FC236}">
                <a16:creationId xmlns:a16="http://schemas.microsoft.com/office/drawing/2014/main" id="{BDB69314-5C0E-40FB-B69A-9A024849564D}"/>
              </a:ext>
            </a:extLst>
          </p:cNvPr>
          <p:cNvSpPr>
            <a:spLocks noGrp="1"/>
          </p:cNvSpPr>
          <p:nvPr/>
        </p:nvSpPr>
        <p:spPr>
          <a:xfrm>
            <a:off x="7709452" y="4924425"/>
            <a:ext cx="1714500" cy="180975"/>
          </a:xfrm>
          <a:prstGeom prst="rect">
            <a:avLst/>
          </a:prstGeom>
          <a:noFill/>
          <a:ln w="0">
            <a:noFill/>
          </a:ln>
        </p:spPr>
        <p:txBody>
          <a:bodyPr lIns="0" tIns="0" rIns="0" bIns="0" anchor="t">
            <a:normAutofit fontScale="94246"/>
          </a:bodyPr>
          <a:lstStyle/>
          <a:p>
            <a:pPr algn="l">
              <a:lnSpc>
                <a:spcPct val="112000"/>
              </a:lnSpc>
              <a:buNone/>
              <a:defRPr sz="1125" b="1" i="0">
                <a:solidFill>
                  <a:srgbClr val="121522"/>
                </a:solidFill>
                <a:latin typeface="Arial"/>
                <a:ea typeface="Arial"/>
                <a:cs typeface="Arial"/>
              </a:defRPr>
            </a:pPr>
            <a:r>
              <a:rPr sz="1125" b="1" i="0">
                <a:solidFill>
                  <a:srgbClr val="121522"/>
                </a:solidFill>
                <a:latin typeface="Arial"/>
                <a:ea typeface="Arial"/>
                <a:cs typeface="Arial"/>
              </a:rPr>
              <a:t>Market context</a:t>
            </a:r>
          </a:p>
        </p:txBody>
      </p:sp>
      <p:sp>
        <p:nvSpPr>
          <p:cNvPr id="20" name="Rectangle 19">
            <a:extLst>
              <a:ext uri="{FF2B5EF4-FFF2-40B4-BE49-F238E27FC236}">
                <a16:creationId xmlns:a16="http://schemas.microsoft.com/office/drawing/2014/main" id="{E7194626-8D29-41D5-8081-840949ABA09A}"/>
              </a:ext>
            </a:extLst>
          </p:cNvPr>
          <p:cNvSpPr>
            <a:spLocks noGrp="1"/>
          </p:cNvSpPr>
          <p:nvPr/>
        </p:nvSpPr>
        <p:spPr>
          <a:xfrm>
            <a:off x="7709452" y="5200650"/>
            <a:ext cx="3619500" cy="209550"/>
          </a:xfrm>
          <a:prstGeom prst="rect">
            <a:avLst/>
          </a:prstGeom>
          <a:noFill/>
          <a:ln w="0">
            <a:noFill/>
          </a:ln>
        </p:spPr>
        <p:txBody>
          <a:bodyPr lIns="0" tIns="0" rIns="0" bIns="0" anchor="t">
            <a:normAutofit fontScale="90610"/>
          </a:bodyPr>
          <a:lstStyle/>
          <a:p>
            <a:pPr algn="l">
              <a:lnSpc>
                <a:spcPct val="112000"/>
              </a:lnSpc>
              <a:buNone/>
              <a:defRPr sz="1125" b="1" i="0">
                <a:solidFill>
                  <a:srgbClr val="5646E8"/>
                </a:solidFill>
                <a:latin typeface="Arial"/>
                <a:ea typeface="Arial"/>
                <a:cs typeface="Arial"/>
              </a:defRPr>
            </a:pPr>
            <a:r>
              <a:rPr sz="1125" b="1" i="0">
                <a:solidFill>
                  <a:srgbClr val="5646E8"/>
                </a:solidFill>
                <a:latin typeface="Arial"/>
                <a:ea typeface="Arial"/>
                <a:cs typeface="Arial"/>
              </a:rPr>
              <a:t>$10.6B in 2025  ·  $42.1B projected for 2033  ·  18.8% CAGR</a:t>
            </a:r>
          </a:p>
        </p:txBody>
      </p:sp>
      <p:sp>
        <p:nvSpPr>
          <p:cNvPr id="21" name="Rectangle 20">
            <a:extLst>
              <a:ext uri="{FF2B5EF4-FFF2-40B4-BE49-F238E27FC236}">
                <a16:creationId xmlns:a16="http://schemas.microsoft.com/office/drawing/2014/main" id="{78345F5F-AB71-4166-8228-66A213C559A1}"/>
              </a:ext>
            </a:extLst>
          </p:cNvPr>
          <p:cNvSpPr>
            <a:spLocks noGrp="1"/>
          </p:cNvSpPr>
          <p:nvPr/>
        </p:nvSpPr>
        <p:spPr>
          <a:xfrm>
            <a:off x="685800" y="5943600"/>
            <a:ext cx="9001125" cy="180975"/>
          </a:xfrm>
          <a:prstGeom prst="rect">
            <a:avLst/>
          </a:prstGeom>
          <a:noFill/>
          <a:ln w="0">
            <a:noFill/>
          </a:ln>
        </p:spPr>
        <p:txBody>
          <a:bodyPr lIns="0" tIns="0" rIns="0" bIns="0" anchor="t">
            <a:normAutofit/>
          </a:bodyPr>
          <a:lstStyle/>
          <a:p>
            <a:pPr algn="l">
              <a:lnSpc>
                <a:spcPct val="112000"/>
              </a:lnSpc>
              <a:buNone/>
              <a:defRPr sz="900" b="0" i="1">
                <a:solidFill>
                  <a:srgbClr val="626A7C"/>
                </a:solidFill>
                <a:latin typeface="Arial"/>
                <a:ea typeface="Arial"/>
                <a:cs typeface="Arial"/>
              </a:defRPr>
            </a:pPr>
            <a:r>
              <a:rPr sz="900" b="0" i="1">
                <a:solidFill>
                  <a:srgbClr val="626A7C"/>
                </a:solidFill>
                <a:latin typeface="Arial"/>
                <a:ea typeface="Arial"/>
                <a:cs typeface="Arial"/>
              </a:rPr>
              <a:t>Category sizing is market context, not a revenue forecast for Invaria.</a:t>
            </a:r>
          </a:p>
        </p:txBody>
      </p:sp>
    </p:spTree>
    <p:extLst>
      <p:ext uri="{BB962C8B-B14F-4D97-AF65-F5344CB8AC3E}">
        <p14:creationId xmlns:p14="http://schemas.microsoft.com/office/powerpoint/2010/main" val="1898853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traight Connector 29">
            <a:extLst>
              <a:ext uri="{FF2B5EF4-FFF2-40B4-BE49-F238E27FC236}">
                <a16:creationId xmlns:a16="http://schemas.microsoft.com/office/drawing/2014/main" id="{4A6FEB5A-3641-434D-A554-B76DA35B3170}"/>
              </a:ext>
            </a:extLst>
          </p:cNvPr>
          <p:cNvSpPr>
            <a:spLocks noGrp="1"/>
          </p:cNvSpPr>
          <p:nvPr/>
        </p:nvSpPr>
        <p:spPr>
          <a:xfrm>
            <a:off x="685800" y="6381750"/>
            <a:ext cx="10820400" cy="0"/>
          </a:xfrm>
          <a:prstGeom prst="line">
            <a:avLst/>
          </a:prstGeom>
          <a:noFill/>
          <a:ln w="9525">
            <a:solidFill>
              <a:srgbClr val="DEE1EC"/>
            </a:solidFill>
            <a:prstDash val="solid"/>
          </a:ln>
        </p:spPr>
      </p:sp>
      <p:sp>
        <p:nvSpPr>
          <p:cNvPr id="2" name="Rectangle 1">
            <a:extLst>
              <a:ext uri="{FF2B5EF4-FFF2-40B4-BE49-F238E27FC236}">
                <a16:creationId xmlns:a16="http://schemas.microsoft.com/office/drawing/2014/main" id="{C48B7E38-6DF4-4149-A7C7-7F207729B1B1}"/>
              </a:ext>
            </a:extLst>
          </p:cNvPr>
          <p:cNvSpPr>
            <a:spLocks noGrp="1"/>
          </p:cNvSpPr>
          <p:nvPr/>
        </p:nvSpPr>
        <p:spPr>
          <a:xfrm>
            <a:off x="685800" y="6534150"/>
            <a:ext cx="4286250" cy="142875"/>
          </a:xfrm>
          <a:prstGeom prst="rect">
            <a:avLst/>
          </a:prstGeom>
          <a:noFill/>
          <a:ln w="0">
            <a:noFill/>
          </a:ln>
        </p:spPr>
        <p:txBody>
          <a:bodyPr lIns="0" tIns="0" rIns="0" bIns="0" anchor="t">
            <a:normAutofit/>
          </a:bodyPr>
          <a:lstStyle/>
          <a:p>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Rectangle 2">
            <a:extLst>
              <a:ext uri="{FF2B5EF4-FFF2-40B4-BE49-F238E27FC236}">
                <a16:creationId xmlns:a16="http://schemas.microsoft.com/office/drawing/2014/main" id="{A61B8E42-A105-4737-B7FE-712547BDC2BB}"/>
              </a:ext>
            </a:extLst>
          </p:cNvPr>
          <p:cNvSpPr>
            <a:spLocks noGrp="1"/>
          </p:cNvSpPr>
          <p:nvPr/>
        </p:nvSpPr>
        <p:spPr>
          <a:xfrm>
            <a:off x="4286250" y="6534150"/>
            <a:ext cx="6191250" cy="142875"/>
          </a:xfrm>
          <a:prstGeom prst="rect">
            <a:avLst/>
          </a:prstGeom>
          <a:noFill/>
          <a:ln w="0">
            <a:noFill/>
          </a:ln>
        </p:spPr>
        <p:txBody>
          <a:bodyPr lIns="0" tIns="0" rIns="0" bIns="0" anchor="t">
            <a:normAutofit/>
          </a:bodyPr>
          <a:lstStyle/>
          <a:p>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local Invaria workspace, captured 24 Sep 2026</a:t>
            </a:r>
          </a:p>
        </p:txBody>
      </p:sp>
      <p:sp>
        <p:nvSpPr>
          <p:cNvPr id="4" name="Rectangle 3">
            <a:extLst>
              <a:ext uri="{FF2B5EF4-FFF2-40B4-BE49-F238E27FC236}">
                <a16:creationId xmlns:a16="http://schemas.microsoft.com/office/drawing/2014/main" id="{0502B58F-D2B9-46F5-B434-32C7B321E6F5}"/>
              </a:ext>
            </a:extLst>
          </p:cNvPr>
          <p:cNvSpPr>
            <a:spLocks noGrp="1"/>
          </p:cNvSpPr>
          <p:nvPr/>
        </p:nvSpPr>
        <p:spPr>
          <a:xfrm>
            <a:off x="10858500" y="6515100"/>
            <a:ext cx="647700" cy="171450"/>
          </a:xfrm>
          <a:prstGeom prst="rect">
            <a:avLst/>
          </a:prstGeom>
          <a:noFill/>
          <a:ln w="0">
            <a:noFill/>
          </a:ln>
        </p:spPr>
        <p:txBody>
          <a:bodyPr lIns="0" tIns="0" rIns="0" bIns="0" anchor="t">
            <a:normAutofit/>
          </a:bodyPr>
          <a:lstStyle/>
          <a:p>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03</a:t>
            </a:r>
          </a:p>
        </p:txBody>
      </p:sp>
      <p:sp>
        <p:nvSpPr>
          <p:cNvPr id="5" name="Rectangle: Rounded Corners 4">
            <a:extLst>
              <a:ext uri="{FF2B5EF4-FFF2-40B4-BE49-F238E27FC236}">
                <a16:creationId xmlns:a16="http://schemas.microsoft.com/office/drawing/2014/main" id="{2B283D61-7C50-48EB-9F49-5899121B806F}"/>
              </a:ext>
            </a:extLst>
          </p:cNvPr>
          <p:cNvSpPr>
            <a:spLocks noGrp="1"/>
          </p:cNvSpPr>
          <p:nvPr/>
        </p:nvSpPr>
        <p:spPr>
          <a:xfrm>
            <a:off x="685800" y="514350"/>
            <a:ext cx="1219200" cy="266700"/>
          </a:xfrm>
          <a:prstGeom prst="roundRect">
            <a:avLst>
              <a:gd name="adj" fmla="val 50000"/>
            </a:avLst>
          </a:prstGeom>
          <a:solidFill>
            <a:srgbClr val="F1F0FF"/>
          </a:solidFill>
          <a:ln w="0">
            <a:noFill/>
          </a:ln>
        </p:spPr>
      </p:sp>
      <p:sp>
        <p:nvSpPr>
          <p:cNvPr id="6" name="Rectangle 5">
            <a:extLst>
              <a:ext uri="{FF2B5EF4-FFF2-40B4-BE49-F238E27FC236}">
                <a16:creationId xmlns:a16="http://schemas.microsoft.com/office/drawing/2014/main" id="{528A1F05-503A-45AD-BF77-5DE335E1FB8F}"/>
              </a:ext>
            </a:extLst>
          </p:cNvPr>
          <p:cNvSpPr>
            <a:spLocks noGrp="1"/>
          </p:cNvSpPr>
          <p:nvPr/>
        </p:nvSpPr>
        <p:spPr>
          <a:xfrm>
            <a:off x="781050" y="571500"/>
            <a:ext cx="1028700" cy="152400"/>
          </a:xfrm>
          <a:prstGeom prst="rect">
            <a:avLst/>
          </a:prstGeom>
          <a:noFill/>
          <a:ln w="0">
            <a:noFill/>
          </a:ln>
        </p:spPr>
        <p:txBody>
          <a:bodyPr lIns="0" tIns="0" rIns="0" bIns="0" anchor="t">
            <a:normAutofit/>
          </a:bodyPr>
          <a:lstStyle/>
          <a:p>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THE PLATFORM</a:t>
            </a:r>
          </a:p>
        </p:txBody>
      </p:sp>
      <p:sp>
        <p:nvSpPr>
          <p:cNvPr id="7" name="Rectangle 6">
            <a:extLst>
              <a:ext uri="{FF2B5EF4-FFF2-40B4-BE49-F238E27FC236}">
                <a16:creationId xmlns:a16="http://schemas.microsoft.com/office/drawing/2014/main" id="{1CA0F0FC-425C-4613-A9C5-F0281726E16D}"/>
              </a:ext>
            </a:extLst>
          </p:cNvPr>
          <p:cNvSpPr>
            <a:spLocks noGrp="1"/>
          </p:cNvSpPr>
          <p:nvPr/>
        </p:nvSpPr>
        <p:spPr>
          <a:xfrm>
            <a:off x="685800" y="971550"/>
            <a:ext cx="5905500" cy="933450"/>
          </a:xfrm>
          <a:prstGeom prst="rect">
            <a:avLst/>
          </a:prstGeom>
          <a:noFill/>
          <a:ln w="0">
            <a:noFill/>
          </a:ln>
        </p:spPr>
        <p:txBody>
          <a:bodyPr lIns="0" tIns="0" rIns="0" bIns="0" anchor="t">
            <a:normAutofit fontScale="97222"/>
          </a:bodyPr>
          <a:lstStyle/>
          <a:p>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Invaria turns a repository into</a:t>
            </a:r>
          </a:p>
          <a:p>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inspectable security case</a:t>
            </a:r>
          </a:p>
        </p:txBody>
      </p:sp>
      <p:sp>
        <p:nvSpPr>
          <p:cNvPr id="8" name="Rectangle 7">
            <a:extLst>
              <a:ext uri="{FF2B5EF4-FFF2-40B4-BE49-F238E27FC236}">
                <a16:creationId xmlns:a16="http://schemas.microsoft.com/office/drawing/2014/main" id="{8296A73C-A6B8-4985-9848-E2001838A50A}"/>
              </a:ext>
            </a:extLst>
          </p:cNvPr>
          <p:cNvSpPr>
            <a:spLocks noGrp="1"/>
          </p:cNvSpPr>
          <p:nvPr/>
        </p:nvSpPr>
        <p:spPr>
          <a:xfrm>
            <a:off x="685800" y="2124075"/>
            <a:ext cx="5638800" cy="609600"/>
          </a:xfrm>
          <a:prstGeom prst="rect">
            <a:avLst/>
          </a:prstGeom>
          <a:noFill/>
          <a:ln w="0">
            <a:noFill/>
          </a:ln>
        </p:spPr>
        <p:txBody>
          <a:bodyPr lIns="0" tIns="0" rIns="0" bIns="0" anchor="t">
            <a:normAutofit fontScale="79660"/>
          </a:bodyPr>
          <a:lstStyle/>
          <a:p>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product connects a repository snapshot to application structure, evidence-backed security hypotheses, and a review workflow that speaks in technical and business terms.</a:t>
            </a:r>
          </a:p>
        </p:txBody>
      </p:sp>
      <p:pic>
        <p:nvPicPr>
          <p:cNvPr id="38" name="Picture 37"/>
          <p:cNvPicPr>
            <a:picLocks noChangeAspect="1"/>
          </p:cNvPicPr>
          <p:nvPr/>
        </p:nvPicPr>
        <p:blipFill>
          <a:blip r:embed="rId3"/>
          <a:srcRect l="11682" r="11682"/>
          <a:stretch>
            <a:fillRect/>
          </a:stretch>
        </p:blipFill>
        <p:spPr>
          <a:xfrm>
            <a:off x="6629400" y="847725"/>
            <a:ext cx="4876800" cy="3381375"/>
          </a:xfrm>
          <a:prstGeom prst="roundRect">
            <a:avLst>
              <a:gd name="adj" fmla="val 3380"/>
            </a:avLst>
          </a:prstGeom>
        </p:spPr>
      </p:pic>
      <p:sp>
        <p:nvSpPr>
          <p:cNvPr id="10" name="Rectangle 9">
            <a:extLst>
              <a:ext uri="{FF2B5EF4-FFF2-40B4-BE49-F238E27FC236}">
                <a16:creationId xmlns:a16="http://schemas.microsoft.com/office/drawing/2014/main" id="{39E2FC8F-C241-47DF-BE65-1934EBC7D3CA}"/>
              </a:ext>
            </a:extLst>
          </p:cNvPr>
          <p:cNvSpPr>
            <a:spLocks noGrp="1"/>
          </p:cNvSpPr>
          <p:nvPr/>
        </p:nvSpPr>
        <p:spPr>
          <a:xfrm>
            <a:off x="6705600" y="4324350"/>
            <a:ext cx="1809750" cy="171450"/>
          </a:xfrm>
          <a:prstGeom prst="rect">
            <a:avLst/>
          </a:prstGeom>
          <a:noFill/>
          <a:ln w="0">
            <a:noFill/>
          </a:ln>
        </p:spPr>
        <p:txBody>
          <a:bodyPr lIns="0" tIns="0" rIns="0" bIns="0" anchor="t">
            <a:normAutofit/>
          </a:bodyPr>
          <a:lstStyle/>
          <a:p>
            <a:pPr algn="l">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LIVE PRODUCT VIEW</a:t>
            </a:r>
          </a:p>
        </p:txBody>
      </p:sp>
      <p:sp>
        <p:nvSpPr>
          <p:cNvPr id="11" name="Rectangle 10">
            <a:extLst>
              <a:ext uri="{FF2B5EF4-FFF2-40B4-BE49-F238E27FC236}">
                <a16:creationId xmlns:a16="http://schemas.microsoft.com/office/drawing/2014/main" id="{A28A06E1-BF68-428A-9DA4-85B3EAC40834}"/>
              </a:ext>
            </a:extLst>
          </p:cNvPr>
          <p:cNvSpPr>
            <a:spLocks noGrp="1"/>
          </p:cNvSpPr>
          <p:nvPr/>
        </p:nvSpPr>
        <p:spPr>
          <a:xfrm>
            <a:off x="6705600" y="4572000"/>
            <a:ext cx="4476750" cy="361950"/>
          </a:xfrm>
          <a:prstGeom prst="rect">
            <a:avLst/>
          </a:prstGeom>
          <a:noFill/>
          <a:ln w="0">
            <a:noFill/>
          </a:ln>
        </p:spPr>
        <p:txBody>
          <a:bodyPr lIns="0" tIns="0" rIns="0" bIns="0" anchor="t">
            <a:normAutofit fontScale="94246"/>
          </a:bodyPr>
          <a:lstStyle/>
          <a:p>
            <a:pPr algn="l">
              <a:lnSpc>
                <a:spcPct val="112000"/>
              </a:lnSpc>
              <a:buNone/>
              <a:defRPr sz="1125" b="0" i="0">
                <a:solidFill>
                  <a:srgbClr val="626A7C"/>
                </a:solidFill>
                <a:latin typeface="Arial"/>
                <a:ea typeface="Arial"/>
                <a:cs typeface="Arial"/>
              </a:defRPr>
            </a:pPr>
            <a:r>
              <a:rPr sz="1125" b="0" i="0">
                <a:solidFill>
                  <a:srgbClr val="626A7C"/>
                </a:solidFill>
                <a:latin typeface="Arial"/>
                <a:ea typeface="Arial"/>
                <a:cs typeface="Arial"/>
              </a:rPr>
              <a:t>A reviewer can start from business impact, then open the decision ledger and exact source evidence.</a:t>
            </a:r>
          </a:p>
        </p:txBody>
      </p:sp>
      <p:sp>
        <p:nvSpPr>
          <p:cNvPr id="12" name="Rectangle 11">
            <a:extLst>
              <a:ext uri="{FF2B5EF4-FFF2-40B4-BE49-F238E27FC236}">
                <a16:creationId xmlns:a16="http://schemas.microsoft.com/office/drawing/2014/main" id="{1A2267FF-F14B-4194-A345-49B0963BB15E}"/>
              </a:ext>
            </a:extLst>
          </p:cNvPr>
          <p:cNvSpPr>
            <a:spLocks noGrp="1"/>
          </p:cNvSpPr>
          <p:nvPr/>
        </p:nvSpPr>
        <p:spPr>
          <a:xfrm>
            <a:off x="685800" y="3429000"/>
            <a:ext cx="247650" cy="190500"/>
          </a:xfrm>
          <a:prstGeom prst="rect">
            <a:avLst/>
          </a:prstGeom>
          <a:noFill/>
          <a:ln w="0">
            <a:noFill/>
          </a:ln>
        </p:spPr>
        <p:txBody>
          <a:bodyPr lIns="0" tIns="0" rIns="0" bIns="0" anchor="t">
            <a:normAutofit/>
          </a:bodyPr>
          <a:lstStyle/>
          <a:p>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1</a:t>
            </a:r>
          </a:p>
        </p:txBody>
      </p:sp>
      <p:sp>
        <p:nvSpPr>
          <p:cNvPr id="13" name="Rectangle 12">
            <a:extLst>
              <a:ext uri="{FF2B5EF4-FFF2-40B4-BE49-F238E27FC236}">
                <a16:creationId xmlns:a16="http://schemas.microsoft.com/office/drawing/2014/main" id="{EC2D66E9-7A8B-45BE-9BF9-D717CE826600}"/>
              </a:ext>
            </a:extLst>
          </p:cNvPr>
          <p:cNvSpPr>
            <a:spLocks noGrp="1"/>
          </p:cNvSpPr>
          <p:nvPr/>
        </p:nvSpPr>
        <p:spPr>
          <a:xfrm>
            <a:off x="685800" y="3695700"/>
            <a:ext cx="1295400" cy="219075"/>
          </a:xfrm>
          <a:prstGeom prst="rect">
            <a:avLst/>
          </a:prstGeom>
          <a:noFill/>
          <a:ln w="0">
            <a:noFill/>
          </a:ln>
        </p:spPr>
        <p:txBody>
          <a:bodyPr lIns="0" tIns="0" rIns="0" bIns="0" anchor="t">
            <a:normAutofit/>
          </a:bodyPr>
          <a:lstStyle/>
          <a:p>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Snapshot</a:t>
            </a:r>
          </a:p>
        </p:txBody>
      </p:sp>
      <p:sp>
        <p:nvSpPr>
          <p:cNvPr id="14" name="Rectangle 13">
            <a:extLst>
              <a:ext uri="{FF2B5EF4-FFF2-40B4-BE49-F238E27FC236}">
                <a16:creationId xmlns:a16="http://schemas.microsoft.com/office/drawing/2014/main" id="{B14B7197-DCBA-4211-B7BD-1D9DAC7C60B0}"/>
              </a:ext>
            </a:extLst>
          </p:cNvPr>
          <p:cNvSpPr>
            <a:spLocks noGrp="1"/>
          </p:cNvSpPr>
          <p:nvPr/>
        </p:nvSpPr>
        <p:spPr>
          <a:xfrm>
            <a:off x="685800" y="3971925"/>
            <a:ext cx="1285875" cy="361950"/>
          </a:xfrm>
          <a:prstGeom prst="rect">
            <a:avLst/>
          </a:prstGeom>
          <a:noFill/>
          <a:ln w="0">
            <a:noFill/>
          </a:ln>
        </p:spPr>
        <p:txBody>
          <a:bodyPr lIns="0" tIns="0" rIns="0" bIns="0" anchor="t">
            <a:normAutofit/>
          </a:bodyPr>
          <a:lstStyle/>
          <a:p>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Immutable code input</a:t>
            </a:r>
          </a:p>
        </p:txBody>
      </p:sp>
      <p:sp>
        <p:nvSpPr>
          <p:cNvPr id="15" name="Straight Connector 14">
            <a:extLst>
              <a:ext uri="{FF2B5EF4-FFF2-40B4-BE49-F238E27FC236}">
                <a16:creationId xmlns:a16="http://schemas.microsoft.com/office/drawing/2014/main" id="{503FA11E-444F-4C58-8238-AFEA93FB1D81}"/>
              </a:ext>
            </a:extLst>
          </p:cNvPr>
          <p:cNvSpPr>
            <a:spLocks noGrp="1"/>
          </p:cNvSpPr>
          <p:nvPr/>
        </p:nvSpPr>
        <p:spPr>
          <a:xfrm>
            <a:off x="1743075" y="3543300"/>
            <a:ext cx="333375" cy="0"/>
          </a:xfrm>
          <a:prstGeom prst="line">
            <a:avLst/>
          </a:prstGeom>
          <a:noFill/>
          <a:ln w="19050">
            <a:solidFill>
              <a:srgbClr val="7C71FF"/>
            </a:solidFill>
            <a:prstDash val="solid"/>
          </a:ln>
        </p:spPr>
      </p:sp>
      <p:sp>
        <p:nvSpPr>
          <p:cNvPr id="16" name="Rectangle 15">
            <a:extLst>
              <a:ext uri="{FF2B5EF4-FFF2-40B4-BE49-F238E27FC236}">
                <a16:creationId xmlns:a16="http://schemas.microsoft.com/office/drawing/2014/main" id="{101D88DB-7CA2-47D6-B883-3DC198368ACE}"/>
              </a:ext>
            </a:extLst>
          </p:cNvPr>
          <p:cNvSpPr>
            <a:spLocks noGrp="1"/>
          </p:cNvSpPr>
          <p:nvPr/>
        </p:nvSpPr>
        <p:spPr>
          <a:xfrm>
            <a:off x="2152650" y="3429000"/>
            <a:ext cx="247650" cy="190500"/>
          </a:xfrm>
          <a:prstGeom prst="rect">
            <a:avLst/>
          </a:prstGeom>
          <a:noFill/>
          <a:ln w="0">
            <a:noFill/>
          </a:ln>
        </p:spPr>
        <p:txBody>
          <a:bodyPr lIns="0" tIns="0" rIns="0" bIns="0" anchor="t">
            <a:normAutofit/>
          </a:bodyPr>
          <a:lstStyle/>
          <a:p>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2</a:t>
            </a:r>
          </a:p>
        </p:txBody>
      </p:sp>
      <p:sp>
        <p:nvSpPr>
          <p:cNvPr id="17" name="Rectangle 16">
            <a:extLst>
              <a:ext uri="{FF2B5EF4-FFF2-40B4-BE49-F238E27FC236}">
                <a16:creationId xmlns:a16="http://schemas.microsoft.com/office/drawing/2014/main" id="{C4D73BE7-1C95-4393-A567-2F45DFA15C7A}"/>
              </a:ext>
            </a:extLst>
          </p:cNvPr>
          <p:cNvSpPr>
            <a:spLocks noGrp="1"/>
          </p:cNvSpPr>
          <p:nvPr/>
        </p:nvSpPr>
        <p:spPr>
          <a:xfrm>
            <a:off x="2152650" y="3695700"/>
            <a:ext cx="1295400" cy="219075"/>
          </a:xfrm>
          <a:prstGeom prst="rect">
            <a:avLst/>
          </a:prstGeom>
          <a:noFill/>
          <a:ln w="0">
            <a:noFill/>
          </a:ln>
        </p:spPr>
        <p:txBody>
          <a:bodyPr lIns="0" tIns="0" rIns="0" bIns="0" anchor="t">
            <a:normAutofit/>
          </a:bodyPr>
          <a:lstStyle/>
          <a:p>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Model</a:t>
            </a:r>
          </a:p>
        </p:txBody>
      </p:sp>
      <p:sp>
        <p:nvSpPr>
          <p:cNvPr id="18" name="Rectangle 17">
            <a:extLst>
              <a:ext uri="{FF2B5EF4-FFF2-40B4-BE49-F238E27FC236}">
                <a16:creationId xmlns:a16="http://schemas.microsoft.com/office/drawing/2014/main" id="{82EB2A1C-9883-4A9C-B1EC-64BAB8386232}"/>
              </a:ext>
            </a:extLst>
          </p:cNvPr>
          <p:cNvSpPr>
            <a:spLocks noGrp="1"/>
          </p:cNvSpPr>
          <p:nvPr/>
        </p:nvSpPr>
        <p:spPr>
          <a:xfrm>
            <a:off x="2152650" y="3971925"/>
            <a:ext cx="1285875" cy="361950"/>
          </a:xfrm>
          <a:prstGeom prst="rect">
            <a:avLst/>
          </a:prstGeom>
          <a:noFill/>
          <a:ln w="0">
            <a:noFill/>
          </a:ln>
        </p:spPr>
        <p:txBody>
          <a:bodyPr lIns="0" tIns="0" rIns="0" bIns="0" anchor="t">
            <a:normAutofit/>
          </a:bodyPr>
          <a:lstStyle/>
          <a:p>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Routes, handlers, data paths</a:t>
            </a:r>
          </a:p>
        </p:txBody>
      </p:sp>
      <p:sp>
        <p:nvSpPr>
          <p:cNvPr id="19" name="Straight Connector 18">
            <a:extLst>
              <a:ext uri="{FF2B5EF4-FFF2-40B4-BE49-F238E27FC236}">
                <a16:creationId xmlns:a16="http://schemas.microsoft.com/office/drawing/2014/main" id="{915F4BDB-6B7B-4026-8324-98A28DE5BD15}"/>
              </a:ext>
            </a:extLst>
          </p:cNvPr>
          <p:cNvSpPr>
            <a:spLocks noGrp="1"/>
          </p:cNvSpPr>
          <p:nvPr/>
        </p:nvSpPr>
        <p:spPr>
          <a:xfrm>
            <a:off x="3209925" y="3543300"/>
            <a:ext cx="333375" cy="0"/>
          </a:xfrm>
          <a:prstGeom prst="line">
            <a:avLst/>
          </a:prstGeom>
          <a:noFill/>
          <a:ln w="19050">
            <a:solidFill>
              <a:srgbClr val="7C71FF"/>
            </a:solidFill>
            <a:prstDash val="solid"/>
          </a:ln>
        </p:spPr>
      </p:sp>
      <p:sp>
        <p:nvSpPr>
          <p:cNvPr id="20" name="Rectangle 19">
            <a:extLst>
              <a:ext uri="{FF2B5EF4-FFF2-40B4-BE49-F238E27FC236}">
                <a16:creationId xmlns:a16="http://schemas.microsoft.com/office/drawing/2014/main" id="{1CCC7FE2-362F-458F-BB1E-0204CCC74E87}"/>
              </a:ext>
            </a:extLst>
          </p:cNvPr>
          <p:cNvSpPr>
            <a:spLocks noGrp="1"/>
          </p:cNvSpPr>
          <p:nvPr/>
        </p:nvSpPr>
        <p:spPr>
          <a:xfrm>
            <a:off x="3619500" y="3429000"/>
            <a:ext cx="247650" cy="190500"/>
          </a:xfrm>
          <a:prstGeom prst="rect">
            <a:avLst/>
          </a:prstGeom>
          <a:noFill/>
          <a:ln w="0">
            <a:noFill/>
          </a:ln>
        </p:spPr>
        <p:txBody>
          <a:bodyPr lIns="0" tIns="0" rIns="0" bIns="0" anchor="t">
            <a:normAutofit/>
          </a:bodyPr>
          <a:lstStyle/>
          <a:p>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3</a:t>
            </a:r>
          </a:p>
        </p:txBody>
      </p:sp>
      <p:sp>
        <p:nvSpPr>
          <p:cNvPr id="21" name="Rectangle 20">
            <a:extLst>
              <a:ext uri="{FF2B5EF4-FFF2-40B4-BE49-F238E27FC236}">
                <a16:creationId xmlns:a16="http://schemas.microsoft.com/office/drawing/2014/main" id="{441B77F5-E2EC-44E0-8E23-BF6406583D02}"/>
              </a:ext>
            </a:extLst>
          </p:cNvPr>
          <p:cNvSpPr>
            <a:spLocks noGrp="1"/>
          </p:cNvSpPr>
          <p:nvPr/>
        </p:nvSpPr>
        <p:spPr>
          <a:xfrm>
            <a:off x="3619500" y="3695700"/>
            <a:ext cx="1295400" cy="219075"/>
          </a:xfrm>
          <a:prstGeom prst="rect">
            <a:avLst/>
          </a:prstGeom>
          <a:noFill/>
          <a:ln w="0">
            <a:noFill/>
          </a:ln>
        </p:spPr>
        <p:txBody>
          <a:bodyPr lIns="0" tIns="0" rIns="0" bIns="0" anchor="t">
            <a:normAutofit/>
          </a:bodyPr>
          <a:lstStyle/>
          <a:p>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Investigate</a:t>
            </a:r>
          </a:p>
        </p:txBody>
      </p:sp>
      <p:sp>
        <p:nvSpPr>
          <p:cNvPr id="22" name="Rectangle 21">
            <a:extLst>
              <a:ext uri="{FF2B5EF4-FFF2-40B4-BE49-F238E27FC236}">
                <a16:creationId xmlns:a16="http://schemas.microsoft.com/office/drawing/2014/main" id="{31C4DCE8-E093-4EF0-962E-AEDBA662912E}"/>
              </a:ext>
            </a:extLst>
          </p:cNvPr>
          <p:cNvSpPr>
            <a:spLocks noGrp="1"/>
          </p:cNvSpPr>
          <p:nvPr/>
        </p:nvSpPr>
        <p:spPr>
          <a:xfrm>
            <a:off x="3619500" y="3971925"/>
            <a:ext cx="1285875" cy="361950"/>
          </a:xfrm>
          <a:prstGeom prst="rect">
            <a:avLst/>
          </a:prstGeom>
          <a:noFill/>
          <a:ln w="0">
            <a:noFill/>
          </a:ln>
        </p:spPr>
        <p:txBody>
          <a:bodyPr lIns="0" tIns="0" rIns="0" bIns="0" anchor="t">
            <a:normAutofit/>
          </a:bodyPr>
          <a:lstStyle/>
          <a:p>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Rule-specific hypotheses</a:t>
            </a:r>
          </a:p>
        </p:txBody>
      </p:sp>
      <p:sp>
        <p:nvSpPr>
          <p:cNvPr id="23" name="Straight Connector 22">
            <a:extLst>
              <a:ext uri="{FF2B5EF4-FFF2-40B4-BE49-F238E27FC236}">
                <a16:creationId xmlns:a16="http://schemas.microsoft.com/office/drawing/2014/main" id="{3856BFD6-F63C-4978-8030-AECED80242D0}"/>
              </a:ext>
            </a:extLst>
          </p:cNvPr>
          <p:cNvSpPr>
            <a:spLocks noGrp="1"/>
          </p:cNvSpPr>
          <p:nvPr/>
        </p:nvSpPr>
        <p:spPr>
          <a:xfrm>
            <a:off x="4676775" y="3543300"/>
            <a:ext cx="333375" cy="0"/>
          </a:xfrm>
          <a:prstGeom prst="line">
            <a:avLst/>
          </a:prstGeom>
          <a:noFill/>
          <a:ln w="19050">
            <a:solidFill>
              <a:srgbClr val="7C71FF"/>
            </a:solidFill>
            <a:prstDash val="solid"/>
          </a:ln>
        </p:spPr>
      </p:sp>
      <p:sp>
        <p:nvSpPr>
          <p:cNvPr id="24" name="Rectangle 23">
            <a:extLst>
              <a:ext uri="{FF2B5EF4-FFF2-40B4-BE49-F238E27FC236}">
                <a16:creationId xmlns:a16="http://schemas.microsoft.com/office/drawing/2014/main" id="{B35B9BDE-F750-4593-8D91-56137DC249B5}"/>
              </a:ext>
            </a:extLst>
          </p:cNvPr>
          <p:cNvSpPr>
            <a:spLocks noGrp="1"/>
          </p:cNvSpPr>
          <p:nvPr/>
        </p:nvSpPr>
        <p:spPr>
          <a:xfrm>
            <a:off x="5086350" y="3429000"/>
            <a:ext cx="247650" cy="190500"/>
          </a:xfrm>
          <a:prstGeom prst="rect">
            <a:avLst/>
          </a:prstGeom>
          <a:noFill/>
          <a:ln w="0">
            <a:noFill/>
          </a:ln>
        </p:spPr>
        <p:txBody>
          <a:bodyPr lIns="0" tIns="0" rIns="0" bIns="0" anchor="t">
            <a:normAutofit/>
          </a:bodyPr>
          <a:lstStyle/>
          <a:p>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4</a:t>
            </a:r>
          </a:p>
        </p:txBody>
      </p:sp>
      <p:sp>
        <p:nvSpPr>
          <p:cNvPr id="25" name="Rectangle 24">
            <a:extLst>
              <a:ext uri="{FF2B5EF4-FFF2-40B4-BE49-F238E27FC236}">
                <a16:creationId xmlns:a16="http://schemas.microsoft.com/office/drawing/2014/main" id="{87555082-D5AC-4C57-B578-EAF40C3B543F}"/>
              </a:ext>
            </a:extLst>
          </p:cNvPr>
          <p:cNvSpPr>
            <a:spLocks noGrp="1"/>
          </p:cNvSpPr>
          <p:nvPr/>
        </p:nvSpPr>
        <p:spPr>
          <a:xfrm>
            <a:off x="5086350" y="3695700"/>
            <a:ext cx="1295400" cy="219075"/>
          </a:xfrm>
          <a:prstGeom prst="rect">
            <a:avLst/>
          </a:prstGeom>
          <a:noFill/>
          <a:ln w="0">
            <a:noFill/>
          </a:ln>
        </p:spPr>
        <p:txBody>
          <a:bodyPr lIns="0" tIns="0" rIns="0" bIns="0" anchor="t">
            <a:normAutofit/>
          </a:bodyPr>
          <a:lstStyle/>
          <a:p>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Review</a:t>
            </a:r>
          </a:p>
        </p:txBody>
      </p:sp>
      <p:sp>
        <p:nvSpPr>
          <p:cNvPr id="26" name="Rectangle 25">
            <a:extLst>
              <a:ext uri="{FF2B5EF4-FFF2-40B4-BE49-F238E27FC236}">
                <a16:creationId xmlns:a16="http://schemas.microsoft.com/office/drawing/2014/main" id="{6195892D-F5CC-4384-9077-21F264C5E65A}"/>
              </a:ext>
            </a:extLst>
          </p:cNvPr>
          <p:cNvSpPr>
            <a:spLocks noGrp="1"/>
          </p:cNvSpPr>
          <p:nvPr/>
        </p:nvSpPr>
        <p:spPr>
          <a:xfrm>
            <a:off x="5086350" y="3971925"/>
            <a:ext cx="1285875" cy="361950"/>
          </a:xfrm>
          <a:prstGeom prst="rect">
            <a:avLst/>
          </a:prstGeom>
          <a:noFill/>
          <a:ln w="0">
            <a:noFill/>
          </a:ln>
        </p:spPr>
        <p:txBody>
          <a:bodyPr lIns="0" tIns="0" rIns="0" bIns="0" anchor="t">
            <a:normAutofit/>
          </a:bodyPr>
          <a:lstStyle/>
          <a:p>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Evidence, uncertainty, action</a:t>
            </a:r>
          </a:p>
        </p:txBody>
      </p:sp>
      <p:sp>
        <p:nvSpPr>
          <p:cNvPr id="27" name="Straight Connector 26">
            <a:extLst>
              <a:ext uri="{FF2B5EF4-FFF2-40B4-BE49-F238E27FC236}">
                <a16:creationId xmlns:a16="http://schemas.microsoft.com/office/drawing/2014/main" id="{BEFA2F43-53F5-4CB2-B9A4-2301D1E65D64}"/>
              </a:ext>
            </a:extLst>
          </p:cNvPr>
          <p:cNvSpPr>
            <a:spLocks noGrp="1"/>
          </p:cNvSpPr>
          <p:nvPr/>
        </p:nvSpPr>
        <p:spPr>
          <a:xfrm>
            <a:off x="685800" y="4743450"/>
            <a:ext cx="5334000" cy="0"/>
          </a:xfrm>
          <a:prstGeom prst="line">
            <a:avLst/>
          </a:prstGeom>
          <a:noFill/>
          <a:ln w="9525">
            <a:solidFill>
              <a:srgbClr val="DEE1EC"/>
            </a:solidFill>
            <a:prstDash val="solid"/>
          </a:ln>
        </p:spPr>
      </p:sp>
      <p:sp>
        <p:nvSpPr>
          <p:cNvPr id="28" name="Rectangle 27">
            <a:extLst>
              <a:ext uri="{FF2B5EF4-FFF2-40B4-BE49-F238E27FC236}">
                <a16:creationId xmlns:a16="http://schemas.microsoft.com/office/drawing/2014/main" id="{064A3AB9-BC36-4BF2-B414-9F9184704B8C}"/>
              </a:ext>
            </a:extLst>
          </p:cNvPr>
          <p:cNvSpPr>
            <a:spLocks noGrp="1"/>
          </p:cNvSpPr>
          <p:nvPr/>
        </p:nvSpPr>
        <p:spPr>
          <a:xfrm>
            <a:off x="685800" y="4991100"/>
            <a:ext cx="5334000" cy="228600"/>
          </a:xfrm>
          <a:prstGeom prst="rect">
            <a:avLst/>
          </a:prstGeom>
          <a:noFill/>
          <a:ln w="0">
            <a:noFill/>
          </a:ln>
        </p:spPr>
        <p:txBody>
          <a:bodyPr lIns="0" tIns="0" rIns="0" bIns="0" anchor="t">
            <a:normAutofit fontScale="99206"/>
          </a:bodyPr>
          <a:lstStyle/>
          <a:p>
            <a:pPr algn="l">
              <a:lnSpc>
                <a:spcPct val="112000"/>
              </a:lnSpc>
              <a:buNone/>
              <a:defRPr sz="1350" b="1" i="0">
                <a:solidFill>
                  <a:srgbClr val="121522"/>
                </a:solidFill>
                <a:latin typeface="Arial"/>
                <a:ea typeface="Arial"/>
                <a:cs typeface="Arial"/>
              </a:defRPr>
            </a:pPr>
            <a:r>
              <a:rPr sz="1350" b="1" i="0">
                <a:solidFill>
                  <a:srgbClr val="121522"/>
                </a:solidFill>
                <a:latin typeface="Arial"/>
                <a:ea typeface="Arial"/>
                <a:cs typeface="Arial"/>
              </a:rPr>
              <a:t>Where it differs from a standalone coding assistant</a:t>
            </a:r>
          </a:p>
        </p:txBody>
      </p:sp>
      <p:sp>
        <p:nvSpPr>
          <p:cNvPr id="29" name="Rectangle 28">
            <a:extLst>
              <a:ext uri="{FF2B5EF4-FFF2-40B4-BE49-F238E27FC236}">
                <a16:creationId xmlns:a16="http://schemas.microsoft.com/office/drawing/2014/main" id="{E8C7A9D1-FBF7-470D-B656-C594EE621481}"/>
              </a:ext>
            </a:extLst>
          </p:cNvPr>
          <p:cNvSpPr>
            <a:spLocks noGrp="1"/>
          </p:cNvSpPr>
          <p:nvPr/>
        </p:nvSpPr>
        <p:spPr>
          <a:xfrm>
            <a:off x="685800" y="5314950"/>
            <a:ext cx="5381625" cy="495300"/>
          </a:xfrm>
          <a:prstGeom prst="rect">
            <a:avLst/>
          </a:prstGeom>
          <a:noFill/>
          <a:ln w="0">
            <a:noFill/>
          </a:ln>
        </p:spPr>
        <p:txBody>
          <a:bodyPr lIns="0" tIns="0" rIns="0" bIns="0" anchor="t">
            <a:normAutofit fontScale="96491"/>
          </a:bodyPr>
          <a:lstStyle/>
          <a:p>
            <a:pPr algn="l">
              <a:lnSpc>
                <a:spcPct val="118000"/>
              </a:lnSpc>
              <a:buNone/>
              <a:defRPr sz="1200" b="0" i="0">
                <a:solidFill>
                  <a:srgbClr val="626A7C"/>
                </a:solidFill>
                <a:latin typeface="Arial"/>
                <a:ea typeface="Arial"/>
                <a:cs typeface="Arial"/>
              </a:defRPr>
            </a:pPr>
            <a:r>
              <a:rPr sz="1200" b="0" i="0">
                <a:solidFill>
                  <a:srgbClr val="626A7C"/>
                </a:solidFill>
                <a:latin typeface="Arial"/>
                <a:ea typeface="Arial"/>
                <a:cs typeface="Arial"/>
              </a:rPr>
              <a:t>Invaria makes the policy, evidence gate, coverage boundary, and human decision persistent product objects. The model remains a replaceable, advisory component.</a:t>
            </a:r>
          </a:p>
        </p:txBody>
      </p:sp>
    </p:spTree>
    <p:extLst>
      <p:ext uri="{BB962C8B-B14F-4D97-AF65-F5344CB8AC3E}">
        <p14:creationId xmlns:p14="http://schemas.microsoft.com/office/powerpoint/2010/main" val="632872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Straight Connector 35">
            <a:extLst>
              <a:ext uri="{FF2B5EF4-FFF2-40B4-BE49-F238E27FC236}">
                <a16:creationId xmlns:a16="http://schemas.microsoft.com/office/drawing/2014/main" id="{709D253D-D706-4B4D-B1DC-27661B6C3ABC}"/>
              </a:ext>
            </a:extLst>
          </p:cNvPr>
          <p:cNvSpPr>
            <a:spLocks noGrp="1"/>
          </p:cNvSpPr>
          <p:nvPr/>
        </p:nvSpPr>
        <p:spPr>
          <a:xfrm>
            <a:off x="685800" y="6381750"/>
            <a:ext cx="10820400" cy="0"/>
          </a:xfrm>
          <a:prstGeom prst="line">
            <a:avLst/>
          </a:prstGeom>
          <a:noFill/>
          <a:ln w="9525">
            <a:solidFill>
              <a:srgbClr val="DEE1EC"/>
            </a:solidFill>
            <a:prstDash val="solid"/>
          </a:ln>
        </p:spPr>
      </p:sp>
      <p:sp>
        <p:nvSpPr>
          <p:cNvPr id="2" name="Rectangle 1">
            <a:extLst>
              <a:ext uri="{FF2B5EF4-FFF2-40B4-BE49-F238E27FC236}">
                <a16:creationId xmlns:a16="http://schemas.microsoft.com/office/drawing/2014/main" id="{1A4709C3-052F-448E-B58F-5F765BF32590}"/>
              </a:ext>
            </a:extLst>
          </p:cNvPr>
          <p:cNvSpPr>
            <a:spLocks noGrp="1"/>
          </p:cNvSpPr>
          <p:nvPr/>
        </p:nvSpPr>
        <p:spPr>
          <a:xfrm>
            <a:off x="685800" y="6534150"/>
            <a:ext cx="4286250" cy="142875"/>
          </a:xfrm>
          <a:prstGeom prst="rect">
            <a:avLst/>
          </a:prstGeom>
          <a:noFill/>
          <a:ln w="0">
            <a:noFill/>
          </a:ln>
        </p:spPr>
        <p:txBody>
          <a:bodyPr lIns="0" tIns="0" rIns="0" bIns="0" anchor="t">
            <a:normAutofit/>
          </a:bodyPr>
          <a:lstStyle/>
          <a:p>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Rectangle 2">
            <a:extLst>
              <a:ext uri="{FF2B5EF4-FFF2-40B4-BE49-F238E27FC236}">
                <a16:creationId xmlns:a16="http://schemas.microsoft.com/office/drawing/2014/main" id="{592FBF5D-AE51-4D74-BED0-D6EF335F9904}"/>
              </a:ext>
            </a:extLst>
          </p:cNvPr>
          <p:cNvSpPr>
            <a:spLocks noGrp="1"/>
          </p:cNvSpPr>
          <p:nvPr/>
        </p:nvSpPr>
        <p:spPr>
          <a:xfrm>
            <a:off x="4286250" y="6534150"/>
            <a:ext cx="6191250" cy="142875"/>
          </a:xfrm>
          <a:prstGeom prst="rect">
            <a:avLst/>
          </a:prstGeom>
          <a:noFill/>
          <a:ln w="0">
            <a:noFill/>
          </a:ln>
        </p:spPr>
        <p:txBody>
          <a:bodyPr lIns="0" tIns="0" rIns="0" bIns="0" anchor="t">
            <a:normAutofit/>
          </a:bodyPr>
          <a:lstStyle/>
          <a:p>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docs/INVARIANT_ENGINE.md and current implementation</a:t>
            </a:r>
          </a:p>
        </p:txBody>
      </p:sp>
      <p:sp>
        <p:nvSpPr>
          <p:cNvPr id="4" name="Rectangle 3">
            <a:extLst>
              <a:ext uri="{FF2B5EF4-FFF2-40B4-BE49-F238E27FC236}">
                <a16:creationId xmlns:a16="http://schemas.microsoft.com/office/drawing/2014/main" id="{12785FAD-FE39-4714-8416-962A06195DFE}"/>
              </a:ext>
            </a:extLst>
          </p:cNvPr>
          <p:cNvSpPr>
            <a:spLocks noGrp="1"/>
          </p:cNvSpPr>
          <p:nvPr/>
        </p:nvSpPr>
        <p:spPr>
          <a:xfrm>
            <a:off x="10858500" y="6515100"/>
            <a:ext cx="647700" cy="171450"/>
          </a:xfrm>
          <a:prstGeom prst="rect">
            <a:avLst/>
          </a:prstGeom>
          <a:noFill/>
          <a:ln w="0">
            <a:noFill/>
          </a:ln>
        </p:spPr>
        <p:txBody>
          <a:bodyPr lIns="0" tIns="0" rIns="0" bIns="0" anchor="t">
            <a:normAutofit/>
          </a:bodyPr>
          <a:lstStyle/>
          <a:p>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04</a:t>
            </a:r>
          </a:p>
        </p:txBody>
      </p:sp>
      <p:sp>
        <p:nvSpPr>
          <p:cNvPr id="5" name="Rectangle: Rounded Corners 4">
            <a:extLst>
              <a:ext uri="{FF2B5EF4-FFF2-40B4-BE49-F238E27FC236}">
                <a16:creationId xmlns:a16="http://schemas.microsoft.com/office/drawing/2014/main" id="{34415723-2B32-4F7E-A7BE-D6B3385D7726}"/>
              </a:ext>
            </a:extLst>
          </p:cNvPr>
          <p:cNvSpPr>
            <a:spLocks noGrp="1"/>
          </p:cNvSpPr>
          <p:nvPr/>
        </p:nvSpPr>
        <p:spPr>
          <a:xfrm>
            <a:off x="685800" y="514350"/>
            <a:ext cx="1428750" cy="266700"/>
          </a:xfrm>
          <a:prstGeom prst="roundRect">
            <a:avLst>
              <a:gd name="adj" fmla="val 50000"/>
            </a:avLst>
          </a:prstGeom>
          <a:solidFill>
            <a:srgbClr val="F1F0FF"/>
          </a:solidFill>
          <a:ln w="0">
            <a:noFill/>
          </a:ln>
        </p:spPr>
      </p:sp>
      <p:sp>
        <p:nvSpPr>
          <p:cNvPr id="6" name="Rectangle 5">
            <a:extLst>
              <a:ext uri="{FF2B5EF4-FFF2-40B4-BE49-F238E27FC236}">
                <a16:creationId xmlns:a16="http://schemas.microsoft.com/office/drawing/2014/main" id="{88C5FDEA-B694-453A-B0DB-8A55BBF72202}"/>
              </a:ext>
            </a:extLst>
          </p:cNvPr>
          <p:cNvSpPr>
            <a:spLocks noGrp="1"/>
          </p:cNvSpPr>
          <p:nvPr/>
        </p:nvSpPr>
        <p:spPr>
          <a:xfrm>
            <a:off x="781050" y="571500"/>
            <a:ext cx="1238250" cy="152400"/>
          </a:xfrm>
          <a:prstGeom prst="rect">
            <a:avLst/>
          </a:prstGeom>
          <a:noFill/>
          <a:ln w="0">
            <a:noFill/>
          </a:ln>
        </p:spPr>
        <p:txBody>
          <a:bodyPr lIns="0" tIns="0" rIns="0" bIns="0" anchor="t">
            <a:normAutofit/>
          </a:bodyPr>
          <a:lstStyle/>
          <a:p>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Rectangle 6">
            <a:extLst>
              <a:ext uri="{FF2B5EF4-FFF2-40B4-BE49-F238E27FC236}">
                <a16:creationId xmlns:a16="http://schemas.microsoft.com/office/drawing/2014/main" id="{83E6EF4D-4A5E-40AA-B079-84D723298AFF}"/>
              </a:ext>
            </a:extLst>
          </p:cNvPr>
          <p:cNvSpPr>
            <a:spLocks noGrp="1"/>
          </p:cNvSpPr>
          <p:nvPr/>
        </p:nvSpPr>
        <p:spPr>
          <a:xfrm>
            <a:off x="685800" y="1000125"/>
            <a:ext cx="7477125" cy="504825"/>
          </a:xfrm>
          <a:prstGeom prst="rect">
            <a:avLst/>
          </a:prstGeom>
          <a:noFill/>
          <a:ln w="0">
            <a:noFill/>
          </a:ln>
        </p:spPr>
        <p:txBody>
          <a:bodyPr lIns="0" tIns="0" rIns="0" bIns="0" anchor="t">
            <a:normAutofit fontScale="91708"/>
          </a:bodyPr>
          <a:lstStyle/>
          <a:p>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INVARIANT: a security-decision engine</a:t>
            </a:r>
          </a:p>
        </p:txBody>
      </p:sp>
      <p:sp>
        <p:nvSpPr>
          <p:cNvPr id="8" name="Rectangle 7">
            <a:extLst>
              <a:ext uri="{FF2B5EF4-FFF2-40B4-BE49-F238E27FC236}">
                <a16:creationId xmlns:a16="http://schemas.microsoft.com/office/drawing/2014/main" id="{C8ED1638-3C5D-4FB9-9BBC-82C027500E8B}"/>
              </a:ext>
            </a:extLst>
          </p:cNvPr>
          <p:cNvSpPr>
            <a:spLocks noGrp="1"/>
          </p:cNvSpPr>
          <p:nvPr/>
        </p:nvSpPr>
        <p:spPr>
          <a:xfrm>
            <a:off x="685800" y="1657350"/>
            <a:ext cx="8524875" cy="409575"/>
          </a:xfrm>
          <a:prstGeom prst="rect">
            <a:avLst/>
          </a:prstGeom>
          <a:noFill/>
          <a:ln w="0">
            <a:noFill/>
          </a:ln>
        </p:spPr>
        <p:txBody>
          <a:bodyPr lIns="0" tIns="0" rIns="0" bIns="0" anchor="t">
            <a:normAutofit fontScale="78582"/>
          </a:bodyPr>
          <a:lstStyle/>
          <a:p>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Invariant-based Networked Verification and Attack-path Reasoning defines the conditions under which a code pattern becomes a reported finding.</a:t>
            </a:r>
          </a:p>
        </p:txBody>
      </p:sp>
      <p:sp>
        <p:nvSpPr>
          <p:cNvPr id="9" name="Rectangle: Rounded Corners 8">
            <a:extLst>
              <a:ext uri="{FF2B5EF4-FFF2-40B4-BE49-F238E27FC236}">
                <a16:creationId xmlns:a16="http://schemas.microsoft.com/office/drawing/2014/main" id="{5B9C8CEF-A182-44F3-BE8C-7D612E39BF06}"/>
              </a:ext>
            </a:extLst>
          </p:cNvPr>
          <p:cNvSpPr>
            <a:spLocks noGrp="1"/>
          </p:cNvSpPr>
          <p:nvPr/>
        </p:nvSpPr>
        <p:spPr>
          <a:xfrm>
            <a:off x="685800" y="2724150"/>
            <a:ext cx="1809750" cy="1847850"/>
          </a:xfrm>
          <a:prstGeom prst="roundRect">
            <a:avLst>
              <a:gd name="adj" fmla="val 8421"/>
            </a:avLst>
          </a:prstGeom>
          <a:solidFill>
            <a:srgbClr val="F7F8FC"/>
          </a:solidFill>
          <a:ln w="9525">
            <a:solidFill>
              <a:srgbClr val="DEE1EC"/>
            </a:solidFill>
            <a:prstDash val="solid"/>
          </a:ln>
        </p:spPr>
      </p:sp>
      <p:sp>
        <p:nvSpPr>
          <p:cNvPr id="10" name="Rectangle 9">
            <a:extLst>
              <a:ext uri="{FF2B5EF4-FFF2-40B4-BE49-F238E27FC236}">
                <a16:creationId xmlns:a16="http://schemas.microsoft.com/office/drawing/2014/main" id="{03EA985A-C735-4F8F-9DBC-C12ED41D5DE8}"/>
              </a:ext>
            </a:extLst>
          </p:cNvPr>
          <p:cNvSpPr>
            <a:spLocks noGrp="1"/>
          </p:cNvSpPr>
          <p:nvPr/>
        </p:nvSpPr>
        <p:spPr>
          <a:xfrm>
            <a:off x="857250" y="2924175"/>
            <a:ext cx="428625" cy="171450"/>
          </a:xfrm>
          <a:prstGeom prst="rect">
            <a:avLst/>
          </a:prstGeom>
          <a:noFill/>
          <a:ln w="0">
            <a:noFill/>
          </a:ln>
        </p:spPr>
        <p:txBody>
          <a:bodyPr lIns="0" tIns="0" rIns="0" bIns="0" anchor="t">
            <a:normAutofit/>
          </a:bodyPr>
          <a:lstStyle/>
          <a:p>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01</a:t>
            </a:r>
          </a:p>
        </p:txBody>
      </p:sp>
      <p:sp>
        <p:nvSpPr>
          <p:cNvPr id="11" name="Rectangle 10">
            <a:extLst>
              <a:ext uri="{FF2B5EF4-FFF2-40B4-BE49-F238E27FC236}">
                <a16:creationId xmlns:a16="http://schemas.microsoft.com/office/drawing/2014/main" id="{2F37A74D-0BAB-40A5-84EA-1F495AD4EADE}"/>
              </a:ext>
            </a:extLst>
          </p:cNvPr>
          <p:cNvSpPr>
            <a:spLocks noGrp="1"/>
          </p:cNvSpPr>
          <p:nvPr/>
        </p:nvSpPr>
        <p:spPr>
          <a:xfrm>
            <a:off x="857250" y="3267075"/>
            <a:ext cx="1466850" cy="257175"/>
          </a:xfrm>
          <a:prstGeom prst="rect">
            <a:avLst/>
          </a:prstGeom>
          <a:noFill/>
          <a:ln w="0">
            <a:noFill/>
          </a:ln>
        </p:spPr>
        <p:txBody>
          <a:bodyPr lIns="0" tIns="0" rIns="0" bIns="0" anchor="t">
            <a:normAutofit fontScale="91315"/>
          </a:bodyPr>
          <a:lstStyle/>
          <a:p>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Model</a:t>
            </a:r>
          </a:p>
        </p:txBody>
      </p:sp>
      <p:sp>
        <p:nvSpPr>
          <p:cNvPr id="12" name="Rectangle 11">
            <a:extLst>
              <a:ext uri="{FF2B5EF4-FFF2-40B4-BE49-F238E27FC236}">
                <a16:creationId xmlns:a16="http://schemas.microsoft.com/office/drawing/2014/main" id="{922FCF5E-9852-4654-B5CB-4C77CEFBA64B}"/>
              </a:ext>
            </a:extLst>
          </p:cNvPr>
          <p:cNvSpPr>
            <a:spLocks noGrp="1"/>
          </p:cNvSpPr>
          <p:nvPr/>
        </p:nvSpPr>
        <p:spPr>
          <a:xfrm>
            <a:off x="857250" y="3667125"/>
            <a:ext cx="1438275" cy="647700"/>
          </a:xfrm>
          <a:prstGeom prst="rect">
            <a:avLst/>
          </a:prstGeom>
          <a:noFill/>
          <a:ln w="0">
            <a:noFill/>
          </a:ln>
        </p:spPr>
        <p:txBody>
          <a:bodyPr lIns="0" tIns="0" rIns="0" bIns="0" anchor="t">
            <a:normAutofit fontScale="95790"/>
          </a:bodyPr>
          <a:lstStyle/>
          <a:p>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Parse routes, functions, queries, identities, and trust boundaries</a:t>
            </a:r>
          </a:p>
        </p:txBody>
      </p:sp>
      <p:sp>
        <p:nvSpPr>
          <p:cNvPr id="13" name="Rectangle: Rounded Corners 12">
            <a:extLst>
              <a:ext uri="{FF2B5EF4-FFF2-40B4-BE49-F238E27FC236}">
                <a16:creationId xmlns:a16="http://schemas.microsoft.com/office/drawing/2014/main" id="{48D5038D-563F-4058-B64E-EC7B25A8451C}"/>
              </a:ext>
            </a:extLst>
          </p:cNvPr>
          <p:cNvSpPr>
            <a:spLocks noGrp="1"/>
          </p:cNvSpPr>
          <p:nvPr/>
        </p:nvSpPr>
        <p:spPr>
          <a:xfrm>
            <a:off x="2838450" y="2724150"/>
            <a:ext cx="1809750" cy="1847850"/>
          </a:xfrm>
          <a:prstGeom prst="roundRect">
            <a:avLst>
              <a:gd name="adj" fmla="val 8421"/>
            </a:avLst>
          </a:prstGeom>
          <a:solidFill>
            <a:srgbClr val="F7F8FC"/>
          </a:solidFill>
          <a:ln w="9525">
            <a:solidFill>
              <a:srgbClr val="DEE1EC"/>
            </a:solidFill>
            <a:prstDash val="solid"/>
          </a:ln>
        </p:spPr>
      </p:sp>
      <p:sp>
        <p:nvSpPr>
          <p:cNvPr id="14" name="Rectangle 13">
            <a:extLst>
              <a:ext uri="{FF2B5EF4-FFF2-40B4-BE49-F238E27FC236}">
                <a16:creationId xmlns:a16="http://schemas.microsoft.com/office/drawing/2014/main" id="{F5E4171D-D8AC-435E-87BE-BE5DA6968741}"/>
              </a:ext>
            </a:extLst>
          </p:cNvPr>
          <p:cNvSpPr>
            <a:spLocks noGrp="1"/>
          </p:cNvSpPr>
          <p:nvPr/>
        </p:nvSpPr>
        <p:spPr>
          <a:xfrm>
            <a:off x="3009900" y="2924175"/>
            <a:ext cx="428625" cy="171450"/>
          </a:xfrm>
          <a:prstGeom prst="rect">
            <a:avLst/>
          </a:prstGeom>
          <a:noFill/>
          <a:ln w="0">
            <a:noFill/>
          </a:ln>
        </p:spPr>
        <p:txBody>
          <a:bodyPr lIns="0" tIns="0" rIns="0" bIns="0" anchor="t">
            <a:normAutofit/>
          </a:bodyPr>
          <a:lstStyle/>
          <a:p>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02</a:t>
            </a:r>
          </a:p>
        </p:txBody>
      </p:sp>
      <p:sp>
        <p:nvSpPr>
          <p:cNvPr id="15" name="Rectangle 14">
            <a:extLst>
              <a:ext uri="{FF2B5EF4-FFF2-40B4-BE49-F238E27FC236}">
                <a16:creationId xmlns:a16="http://schemas.microsoft.com/office/drawing/2014/main" id="{AC428440-5CA9-4229-B604-B4776C4FBD1D}"/>
              </a:ext>
            </a:extLst>
          </p:cNvPr>
          <p:cNvSpPr>
            <a:spLocks noGrp="1"/>
          </p:cNvSpPr>
          <p:nvPr/>
        </p:nvSpPr>
        <p:spPr>
          <a:xfrm>
            <a:off x="3009900" y="3267075"/>
            <a:ext cx="1466850" cy="257175"/>
          </a:xfrm>
          <a:prstGeom prst="rect">
            <a:avLst/>
          </a:prstGeom>
          <a:noFill/>
          <a:ln w="0">
            <a:noFill/>
          </a:ln>
        </p:spPr>
        <p:txBody>
          <a:bodyPr lIns="0" tIns="0" rIns="0" bIns="0" anchor="t">
            <a:normAutofit fontScale="91315"/>
          </a:bodyPr>
          <a:lstStyle/>
          <a:p>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Hypothesis</a:t>
            </a:r>
          </a:p>
        </p:txBody>
      </p:sp>
      <p:sp>
        <p:nvSpPr>
          <p:cNvPr id="16" name="Rectangle 15">
            <a:extLst>
              <a:ext uri="{FF2B5EF4-FFF2-40B4-BE49-F238E27FC236}">
                <a16:creationId xmlns:a16="http://schemas.microsoft.com/office/drawing/2014/main" id="{6446A608-C6E4-411A-A232-0806C14A36B4}"/>
              </a:ext>
            </a:extLst>
          </p:cNvPr>
          <p:cNvSpPr>
            <a:spLocks noGrp="1"/>
          </p:cNvSpPr>
          <p:nvPr/>
        </p:nvSpPr>
        <p:spPr>
          <a:xfrm>
            <a:off x="3009900" y="3667125"/>
            <a:ext cx="1438275" cy="647700"/>
          </a:xfrm>
          <a:prstGeom prst="rect">
            <a:avLst/>
          </a:prstGeom>
          <a:noFill/>
          <a:ln w="0">
            <a:noFill/>
          </a:ln>
        </p:spPr>
        <p:txBody>
          <a:bodyPr lIns="0" tIns="0" rIns="0" bIns="0" anchor="t">
            <a:normAutofit/>
          </a:bodyPr>
          <a:lstStyle/>
          <a:p>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Ask a rule-specific question, such as BOLA001</a:t>
            </a:r>
          </a:p>
        </p:txBody>
      </p:sp>
      <p:sp>
        <p:nvSpPr>
          <p:cNvPr id="17" name="Rectangle: Rounded Corners 16">
            <a:extLst>
              <a:ext uri="{FF2B5EF4-FFF2-40B4-BE49-F238E27FC236}">
                <a16:creationId xmlns:a16="http://schemas.microsoft.com/office/drawing/2014/main" id="{F05B4473-09F5-4D3C-B56D-47D2F181C9DA}"/>
              </a:ext>
            </a:extLst>
          </p:cNvPr>
          <p:cNvSpPr>
            <a:spLocks noGrp="1"/>
          </p:cNvSpPr>
          <p:nvPr/>
        </p:nvSpPr>
        <p:spPr>
          <a:xfrm>
            <a:off x="4991100" y="2724150"/>
            <a:ext cx="1809750" cy="1847850"/>
          </a:xfrm>
          <a:prstGeom prst="roundRect">
            <a:avLst>
              <a:gd name="adj" fmla="val 8421"/>
            </a:avLst>
          </a:prstGeom>
          <a:solidFill>
            <a:srgbClr val="F7F8FC"/>
          </a:solidFill>
          <a:ln w="9525">
            <a:solidFill>
              <a:srgbClr val="DEE1EC"/>
            </a:solidFill>
            <a:prstDash val="solid"/>
          </a:ln>
        </p:spPr>
      </p:sp>
      <p:sp>
        <p:nvSpPr>
          <p:cNvPr id="18" name="Rectangle 17">
            <a:extLst>
              <a:ext uri="{FF2B5EF4-FFF2-40B4-BE49-F238E27FC236}">
                <a16:creationId xmlns:a16="http://schemas.microsoft.com/office/drawing/2014/main" id="{903F8EA7-ED6C-4991-A2CD-89A7BD08A561}"/>
              </a:ext>
            </a:extLst>
          </p:cNvPr>
          <p:cNvSpPr>
            <a:spLocks noGrp="1"/>
          </p:cNvSpPr>
          <p:nvPr/>
        </p:nvSpPr>
        <p:spPr>
          <a:xfrm>
            <a:off x="5162550" y="2924175"/>
            <a:ext cx="428625" cy="171450"/>
          </a:xfrm>
          <a:prstGeom prst="rect">
            <a:avLst/>
          </a:prstGeom>
          <a:noFill/>
          <a:ln w="0">
            <a:noFill/>
          </a:ln>
        </p:spPr>
        <p:txBody>
          <a:bodyPr lIns="0" tIns="0" rIns="0" bIns="0" anchor="t">
            <a:normAutofit/>
          </a:bodyPr>
          <a:lstStyle/>
          <a:p>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03</a:t>
            </a:r>
          </a:p>
        </p:txBody>
      </p:sp>
      <p:sp>
        <p:nvSpPr>
          <p:cNvPr id="19" name="Rectangle 18">
            <a:extLst>
              <a:ext uri="{FF2B5EF4-FFF2-40B4-BE49-F238E27FC236}">
                <a16:creationId xmlns:a16="http://schemas.microsoft.com/office/drawing/2014/main" id="{5BAA24F4-1AA9-4C03-BE81-5E3A109488CB}"/>
              </a:ext>
            </a:extLst>
          </p:cNvPr>
          <p:cNvSpPr>
            <a:spLocks noGrp="1"/>
          </p:cNvSpPr>
          <p:nvPr/>
        </p:nvSpPr>
        <p:spPr>
          <a:xfrm>
            <a:off x="5162550" y="3267075"/>
            <a:ext cx="1466850" cy="257175"/>
          </a:xfrm>
          <a:prstGeom prst="rect">
            <a:avLst/>
          </a:prstGeom>
          <a:noFill/>
          <a:ln w="0">
            <a:noFill/>
          </a:ln>
        </p:spPr>
        <p:txBody>
          <a:bodyPr lIns="0" tIns="0" rIns="0" bIns="0" anchor="t">
            <a:normAutofit fontScale="91315"/>
          </a:bodyPr>
          <a:lstStyle/>
          <a:p>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Evidence</a:t>
            </a:r>
          </a:p>
        </p:txBody>
      </p:sp>
      <p:sp>
        <p:nvSpPr>
          <p:cNvPr id="20" name="Rectangle 19">
            <a:extLst>
              <a:ext uri="{FF2B5EF4-FFF2-40B4-BE49-F238E27FC236}">
                <a16:creationId xmlns:a16="http://schemas.microsoft.com/office/drawing/2014/main" id="{A0603B09-9EBF-4EBD-864D-32E9C90530DB}"/>
              </a:ext>
            </a:extLst>
          </p:cNvPr>
          <p:cNvSpPr>
            <a:spLocks noGrp="1"/>
          </p:cNvSpPr>
          <p:nvPr/>
        </p:nvSpPr>
        <p:spPr>
          <a:xfrm>
            <a:off x="5162550" y="3667125"/>
            <a:ext cx="1438275" cy="647700"/>
          </a:xfrm>
          <a:prstGeom prst="rect">
            <a:avLst/>
          </a:prstGeom>
          <a:noFill/>
          <a:ln w="0">
            <a:noFill/>
          </a:ln>
        </p:spPr>
        <p:txBody>
          <a:bodyPr lIns="0" tIns="0" rIns="0" bIns="0" anchor="t">
            <a:normAutofit/>
          </a:bodyPr>
          <a:lstStyle/>
          <a:p>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Trace request flow and collect source snippets and controls</a:t>
            </a:r>
          </a:p>
        </p:txBody>
      </p:sp>
      <p:sp>
        <p:nvSpPr>
          <p:cNvPr id="21" name="Rectangle: Rounded Corners 20">
            <a:extLst>
              <a:ext uri="{FF2B5EF4-FFF2-40B4-BE49-F238E27FC236}">
                <a16:creationId xmlns:a16="http://schemas.microsoft.com/office/drawing/2014/main" id="{F2A5AC45-68E2-4940-9961-35A33C3EF9DF}"/>
              </a:ext>
            </a:extLst>
          </p:cNvPr>
          <p:cNvSpPr>
            <a:spLocks noGrp="1"/>
          </p:cNvSpPr>
          <p:nvPr/>
        </p:nvSpPr>
        <p:spPr>
          <a:xfrm>
            <a:off x="7143750" y="2724150"/>
            <a:ext cx="1809750" cy="1847850"/>
          </a:xfrm>
          <a:prstGeom prst="roundRect">
            <a:avLst>
              <a:gd name="adj" fmla="val 8421"/>
            </a:avLst>
          </a:prstGeom>
          <a:solidFill>
            <a:srgbClr val="F1F0FF"/>
          </a:solidFill>
          <a:ln w="19050">
            <a:solidFill>
              <a:srgbClr val="7C71FF"/>
            </a:solidFill>
            <a:prstDash val="solid"/>
          </a:ln>
        </p:spPr>
      </p:sp>
      <p:sp>
        <p:nvSpPr>
          <p:cNvPr id="22" name="Rectangle 21">
            <a:extLst>
              <a:ext uri="{FF2B5EF4-FFF2-40B4-BE49-F238E27FC236}">
                <a16:creationId xmlns:a16="http://schemas.microsoft.com/office/drawing/2014/main" id="{2F3F24B6-D5A0-48AD-ABD0-AC00026733A7}"/>
              </a:ext>
            </a:extLst>
          </p:cNvPr>
          <p:cNvSpPr>
            <a:spLocks noGrp="1"/>
          </p:cNvSpPr>
          <p:nvPr/>
        </p:nvSpPr>
        <p:spPr>
          <a:xfrm>
            <a:off x="7315200" y="2924175"/>
            <a:ext cx="428625" cy="171450"/>
          </a:xfrm>
          <a:prstGeom prst="rect">
            <a:avLst/>
          </a:prstGeom>
          <a:noFill/>
          <a:ln w="0">
            <a:noFill/>
          </a:ln>
        </p:spPr>
        <p:txBody>
          <a:bodyPr lIns="0" tIns="0" rIns="0" bIns="0" anchor="t">
            <a:normAutofit/>
          </a:bodyPr>
          <a:lstStyle/>
          <a:p>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04</a:t>
            </a:r>
          </a:p>
        </p:txBody>
      </p:sp>
      <p:sp>
        <p:nvSpPr>
          <p:cNvPr id="23" name="Rectangle 22">
            <a:extLst>
              <a:ext uri="{FF2B5EF4-FFF2-40B4-BE49-F238E27FC236}">
                <a16:creationId xmlns:a16="http://schemas.microsoft.com/office/drawing/2014/main" id="{F5738DD3-D5D7-4271-B296-C1A07254C7D1}"/>
              </a:ext>
            </a:extLst>
          </p:cNvPr>
          <p:cNvSpPr>
            <a:spLocks noGrp="1"/>
          </p:cNvSpPr>
          <p:nvPr/>
        </p:nvSpPr>
        <p:spPr>
          <a:xfrm>
            <a:off x="7315200" y="3267075"/>
            <a:ext cx="1466850" cy="257175"/>
          </a:xfrm>
          <a:prstGeom prst="rect">
            <a:avLst/>
          </a:prstGeom>
          <a:noFill/>
          <a:ln w="0">
            <a:noFill/>
          </a:ln>
        </p:spPr>
        <p:txBody>
          <a:bodyPr lIns="0" tIns="0" rIns="0" bIns="0" anchor="t">
            <a:normAutofit fontScale="91315"/>
          </a:bodyPr>
          <a:lstStyle/>
          <a:p>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Gate</a:t>
            </a:r>
          </a:p>
        </p:txBody>
      </p:sp>
      <p:sp>
        <p:nvSpPr>
          <p:cNvPr id="24" name="Rectangle 23">
            <a:extLst>
              <a:ext uri="{FF2B5EF4-FFF2-40B4-BE49-F238E27FC236}">
                <a16:creationId xmlns:a16="http://schemas.microsoft.com/office/drawing/2014/main" id="{A73047B7-698E-4DF8-8291-1361375BB974}"/>
              </a:ext>
            </a:extLst>
          </p:cNvPr>
          <p:cNvSpPr>
            <a:spLocks noGrp="1"/>
          </p:cNvSpPr>
          <p:nvPr/>
        </p:nvSpPr>
        <p:spPr>
          <a:xfrm>
            <a:off x="7315200" y="3667125"/>
            <a:ext cx="1438275" cy="647700"/>
          </a:xfrm>
          <a:prstGeom prst="rect">
            <a:avLst/>
          </a:prstGeom>
          <a:noFill/>
          <a:ln w="0">
            <a:noFill/>
          </a:ln>
        </p:spPr>
        <p:txBody>
          <a:bodyPr lIns="0" tIns="0" rIns="0" bIns="0" anchor="t">
            <a:normAutofit/>
          </a:bodyPr>
          <a:lstStyle/>
          <a:p>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Require the minimum evidence needed for that rule</a:t>
            </a:r>
          </a:p>
        </p:txBody>
      </p:sp>
      <p:sp>
        <p:nvSpPr>
          <p:cNvPr id="25" name="Rectangle: Rounded Corners 24">
            <a:extLst>
              <a:ext uri="{FF2B5EF4-FFF2-40B4-BE49-F238E27FC236}">
                <a16:creationId xmlns:a16="http://schemas.microsoft.com/office/drawing/2014/main" id="{BCCFB3A1-2EE4-48E9-B941-D8254D53873F}"/>
              </a:ext>
            </a:extLst>
          </p:cNvPr>
          <p:cNvSpPr>
            <a:spLocks noGrp="1"/>
          </p:cNvSpPr>
          <p:nvPr/>
        </p:nvSpPr>
        <p:spPr>
          <a:xfrm>
            <a:off x="9296400" y="2724150"/>
            <a:ext cx="1809750" cy="1847850"/>
          </a:xfrm>
          <a:prstGeom prst="roundRect">
            <a:avLst>
              <a:gd name="adj" fmla="val 8421"/>
            </a:avLst>
          </a:prstGeom>
          <a:solidFill>
            <a:srgbClr val="F7F8FC"/>
          </a:solidFill>
          <a:ln w="9525">
            <a:solidFill>
              <a:srgbClr val="DEE1EC"/>
            </a:solidFill>
            <a:prstDash val="solid"/>
          </a:ln>
        </p:spPr>
      </p:sp>
      <p:sp>
        <p:nvSpPr>
          <p:cNvPr id="26" name="Rectangle 25">
            <a:extLst>
              <a:ext uri="{FF2B5EF4-FFF2-40B4-BE49-F238E27FC236}">
                <a16:creationId xmlns:a16="http://schemas.microsoft.com/office/drawing/2014/main" id="{900F92EA-523B-4DE9-81FD-0D4E471855C1}"/>
              </a:ext>
            </a:extLst>
          </p:cNvPr>
          <p:cNvSpPr>
            <a:spLocks noGrp="1"/>
          </p:cNvSpPr>
          <p:nvPr/>
        </p:nvSpPr>
        <p:spPr>
          <a:xfrm>
            <a:off x="9467850" y="2924175"/>
            <a:ext cx="428625" cy="171450"/>
          </a:xfrm>
          <a:prstGeom prst="rect">
            <a:avLst/>
          </a:prstGeom>
          <a:noFill/>
          <a:ln w="0">
            <a:noFill/>
          </a:ln>
        </p:spPr>
        <p:txBody>
          <a:bodyPr lIns="0" tIns="0" rIns="0" bIns="0" anchor="t">
            <a:normAutofit/>
          </a:bodyPr>
          <a:lstStyle/>
          <a:p>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05</a:t>
            </a:r>
          </a:p>
        </p:txBody>
      </p:sp>
      <p:sp>
        <p:nvSpPr>
          <p:cNvPr id="27" name="Rectangle 26">
            <a:extLst>
              <a:ext uri="{FF2B5EF4-FFF2-40B4-BE49-F238E27FC236}">
                <a16:creationId xmlns:a16="http://schemas.microsoft.com/office/drawing/2014/main" id="{F9174F21-074E-4846-B9D0-D0C48112FE8E}"/>
              </a:ext>
            </a:extLst>
          </p:cNvPr>
          <p:cNvSpPr>
            <a:spLocks noGrp="1"/>
          </p:cNvSpPr>
          <p:nvPr/>
        </p:nvSpPr>
        <p:spPr>
          <a:xfrm>
            <a:off x="9467850" y="3267075"/>
            <a:ext cx="1466850" cy="257175"/>
          </a:xfrm>
          <a:prstGeom prst="rect">
            <a:avLst/>
          </a:prstGeom>
          <a:noFill/>
          <a:ln w="0">
            <a:noFill/>
          </a:ln>
        </p:spPr>
        <p:txBody>
          <a:bodyPr lIns="0" tIns="0" rIns="0" bIns="0" anchor="t">
            <a:normAutofit fontScale="91315"/>
          </a:bodyPr>
          <a:lstStyle/>
          <a:p>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Ledger</a:t>
            </a:r>
          </a:p>
        </p:txBody>
      </p:sp>
      <p:sp>
        <p:nvSpPr>
          <p:cNvPr id="28" name="Rectangle 27">
            <a:extLst>
              <a:ext uri="{FF2B5EF4-FFF2-40B4-BE49-F238E27FC236}">
                <a16:creationId xmlns:a16="http://schemas.microsoft.com/office/drawing/2014/main" id="{C7AF1C56-69B3-4142-BFE1-DA9A550CE2C1}"/>
              </a:ext>
            </a:extLst>
          </p:cNvPr>
          <p:cNvSpPr>
            <a:spLocks noGrp="1"/>
          </p:cNvSpPr>
          <p:nvPr/>
        </p:nvSpPr>
        <p:spPr>
          <a:xfrm>
            <a:off x="9467850" y="3667125"/>
            <a:ext cx="1438275" cy="647700"/>
          </a:xfrm>
          <a:prstGeom prst="rect">
            <a:avLst/>
          </a:prstGeom>
          <a:noFill/>
          <a:ln w="0">
            <a:noFill/>
          </a:ln>
        </p:spPr>
        <p:txBody>
          <a:bodyPr lIns="0" tIns="0" rIns="0" bIns="0" anchor="t">
            <a:normAutofit/>
          </a:bodyPr>
          <a:lstStyle/>
          <a:p>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Persist proof, conditions, coverage, and confidence basis</a:t>
            </a:r>
          </a:p>
        </p:txBody>
      </p:sp>
      <p:cxnSp>
        <p:nvCxnSpPr>
          <p:cNvPr id="64" name="Straight Arrow Connector 63"/>
          <p:cNvCxnSpPr>
            <a:stCxn id="9" idx="3"/>
            <a:endCxn id="13" idx="1"/>
          </p:cNvCxnSpPr>
          <p:nvPr/>
        </p:nvCxnSpPr>
        <p:spPr>
          <a:xfrm>
            <a:off x="2495550" y="3648075"/>
            <a:ext cx="342900" cy="0"/>
          </a:xfrm>
          <a:prstGeom prst="straightConnector1">
            <a:avLst/>
          </a:prstGeom>
          <a:ln w="19050">
            <a:solidFill>
              <a:srgbClr val="7C71FF"/>
            </a:solidFill>
            <a:prstDash val="solid"/>
            <a:tailEnd type="triangle" w="sm" len="sm"/>
          </a:ln>
        </p:spPr>
      </p:cxnSp>
      <p:cxnSp>
        <p:nvCxnSpPr>
          <p:cNvPr id="65" name="Straight Arrow Connector 64"/>
          <p:cNvCxnSpPr>
            <a:stCxn id="13" idx="3"/>
            <a:endCxn id="17" idx="1"/>
          </p:cNvCxnSpPr>
          <p:nvPr/>
        </p:nvCxnSpPr>
        <p:spPr>
          <a:xfrm>
            <a:off x="4648200" y="3648075"/>
            <a:ext cx="342900" cy="0"/>
          </a:xfrm>
          <a:prstGeom prst="straightConnector1">
            <a:avLst/>
          </a:prstGeom>
          <a:ln w="19050">
            <a:solidFill>
              <a:srgbClr val="7C71FF"/>
            </a:solidFill>
            <a:prstDash val="solid"/>
            <a:tailEnd type="triangle" w="sm" len="sm"/>
          </a:ln>
        </p:spPr>
      </p:cxnSp>
      <p:cxnSp>
        <p:nvCxnSpPr>
          <p:cNvPr id="66" name="Straight Arrow Connector 65"/>
          <p:cNvCxnSpPr>
            <a:stCxn id="17" idx="3"/>
            <a:endCxn id="21" idx="1"/>
          </p:cNvCxnSpPr>
          <p:nvPr/>
        </p:nvCxnSpPr>
        <p:spPr>
          <a:xfrm>
            <a:off x="6800850" y="3648075"/>
            <a:ext cx="342900" cy="0"/>
          </a:xfrm>
          <a:prstGeom prst="straightConnector1">
            <a:avLst/>
          </a:prstGeom>
          <a:ln w="19050">
            <a:solidFill>
              <a:srgbClr val="7C71FF"/>
            </a:solidFill>
            <a:prstDash val="solid"/>
            <a:tailEnd type="triangle" w="sm" len="sm"/>
          </a:ln>
        </p:spPr>
      </p:cxnSp>
      <p:cxnSp>
        <p:nvCxnSpPr>
          <p:cNvPr id="67" name="Straight Arrow Connector 66"/>
          <p:cNvCxnSpPr>
            <a:stCxn id="21" idx="3"/>
            <a:endCxn id="25" idx="1"/>
          </p:cNvCxnSpPr>
          <p:nvPr/>
        </p:nvCxnSpPr>
        <p:spPr>
          <a:xfrm>
            <a:off x="8953500" y="3648075"/>
            <a:ext cx="342900" cy="0"/>
          </a:xfrm>
          <a:prstGeom prst="straightConnector1">
            <a:avLst/>
          </a:prstGeom>
          <a:ln w="19050">
            <a:solidFill>
              <a:srgbClr val="7C71FF"/>
            </a:solidFill>
            <a:prstDash val="solid"/>
            <a:tailEnd type="triangle" w="sm" len="sm"/>
          </a:ln>
        </p:spPr>
      </p:cxnSp>
      <p:sp>
        <p:nvSpPr>
          <p:cNvPr id="33" name="Rectangle: Rounded Corners 32">
            <a:extLst>
              <a:ext uri="{FF2B5EF4-FFF2-40B4-BE49-F238E27FC236}">
                <a16:creationId xmlns:a16="http://schemas.microsoft.com/office/drawing/2014/main" id="{5A7EB60C-24DC-4AA2-BC11-3D18802B8360}"/>
              </a:ext>
            </a:extLst>
          </p:cNvPr>
          <p:cNvSpPr>
            <a:spLocks noGrp="1"/>
          </p:cNvSpPr>
          <p:nvPr/>
        </p:nvSpPr>
        <p:spPr>
          <a:xfrm>
            <a:off x="685800" y="5095875"/>
            <a:ext cx="10820400" cy="838200"/>
          </a:xfrm>
          <a:prstGeom prst="roundRect">
            <a:avLst>
              <a:gd name="adj" fmla="val 18182"/>
            </a:avLst>
          </a:prstGeom>
          <a:solidFill>
            <a:srgbClr val="12131E"/>
          </a:solidFill>
          <a:ln w="0">
            <a:noFill/>
          </a:ln>
        </p:spPr>
      </p:sp>
      <p:sp>
        <p:nvSpPr>
          <p:cNvPr id="34" name="Rectangle 33">
            <a:extLst>
              <a:ext uri="{FF2B5EF4-FFF2-40B4-BE49-F238E27FC236}">
                <a16:creationId xmlns:a16="http://schemas.microsoft.com/office/drawing/2014/main" id="{608F39B5-EE68-42E4-A06F-5AE8134D1728}"/>
              </a:ext>
            </a:extLst>
          </p:cNvPr>
          <p:cNvSpPr>
            <a:spLocks noGrp="1"/>
          </p:cNvSpPr>
          <p:nvPr/>
        </p:nvSpPr>
        <p:spPr>
          <a:xfrm>
            <a:off x="933450" y="5295900"/>
            <a:ext cx="1524000" cy="171450"/>
          </a:xfrm>
          <a:prstGeom prst="rect">
            <a:avLst/>
          </a:prstGeom>
          <a:noFill/>
          <a:ln w="0">
            <a:noFill/>
          </a:ln>
        </p:spPr>
        <p:txBody>
          <a:bodyPr lIns="0" tIns="0" rIns="0" bIns="0" anchor="t">
            <a:normAutofit/>
          </a:bodyPr>
          <a:lstStyle/>
          <a:p>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MODEL BOUNDARY</a:t>
            </a:r>
          </a:p>
        </p:txBody>
      </p:sp>
      <p:sp>
        <p:nvSpPr>
          <p:cNvPr id="35" name="Rectangle 34">
            <a:extLst>
              <a:ext uri="{FF2B5EF4-FFF2-40B4-BE49-F238E27FC236}">
                <a16:creationId xmlns:a16="http://schemas.microsoft.com/office/drawing/2014/main" id="{2013774E-3F51-4E5D-8D8F-63AE72908853}"/>
              </a:ext>
            </a:extLst>
          </p:cNvPr>
          <p:cNvSpPr>
            <a:spLocks noGrp="1"/>
          </p:cNvSpPr>
          <p:nvPr/>
        </p:nvSpPr>
        <p:spPr>
          <a:xfrm>
            <a:off x="2857500" y="5267325"/>
            <a:ext cx="7943850" cy="361950"/>
          </a:xfrm>
          <a:prstGeom prst="rect">
            <a:avLst/>
          </a:prstGeom>
          <a:noFill/>
          <a:ln w="0">
            <a:noFill/>
          </a:ln>
        </p:spPr>
        <p:txBody>
          <a:bodyPr lIns="0" tIns="0" rIns="0" bIns="0" anchor="ctr">
            <a:normAutofit fontScale="67319"/>
          </a:bodyPr>
          <a:lstStyle/>
          <a:p>
            <a:pPr algn="l">
              <a:lnSpc>
                <a:spcPct val="112000"/>
              </a:lnSpc>
              <a:buNone/>
              <a:defRPr sz="1575" b="1" i="0">
                <a:solidFill>
                  <a:srgbClr val="FFFFFF"/>
                </a:solidFill>
                <a:latin typeface="Arial"/>
                <a:ea typeface="Arial"/>
                <a:cs typeface="Arial"/>
              </a:defRPr>
            </a:pPr>
            <a:r>
              <a:rPr sz="1575" b="1" i="0">
                <a:solidFill>
                  <a:srgbClr val="FFFFFF"/>
                </a:solidFill>
                <a:latin typeface="Arial"/>
                <a:ea typeface="Arial"/>
                <a:cs typeface="Arial"/>
              </a:rPr>
              <a:t>RAG and the LLM can review a bounded evidence bundle. They cannot satisfy an evidence gate or replace missing source evidence.</a:t>
            </a:r>
          </a:p>
        </p:txBody>
      </p:sp>
    </p:spTree>
    <p:extLst>
      <p:ext uri="{BB962C8B-B14F-4D97-AF65-F5344CB8AC3E}">
        <p14:creationId xmlns:p14="http://schemas.microsoft.com/office/powerpoint/2010/main" val="717975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traight Connector 16">
            <a:extLst>
              <a:ext uri="{FF2B5EF4-FFF2-40B4-BE49-F238E27FC236}">
                <a16:creationId xmlns:a16="http://schemas.microsoft.com/office/drawing/2014/main" id="{57338493-0048-4638-92D5-737EEE09422C}"/>
              </a:ext>
            </a:extLst>
          </p:cNvPr>
          <p:cNvSpPr>
            <a:spLocks noGrp="1"/>
          </p:cNvSpPr>
          <p:nvPr/>
        </p:nvSpPr>
        <p:spPr>
          <a:xfrm>
            <a:off x="685800" y="6381750"/>
            <a:ext cx="10820400" cy="0"/>
          </a:xfrm>
          <a:prstGeom prst="line">
            <a:avLst/>
          </a:prstGeom>
          <a:noFill/>
          <a:ln w="9525">
            <a:solidFill>
              <a:srgbClr val="DEE1EC"/>
            </a:solidFill>
            <a:prstDash val="solid"/>
          </a:ln>
        </p:spPr>
      </p:sp>
      <p:sp>
        <p:nvSpPr>
          <p:cNvPr id="2" name="Rectangle 1">
            <a:extLst>
              <a:ext uri="{FF2B5EF4-FFF2-40B4-BE49-F238E27FC236}">
                <a16:creationId xmlns:a16="http://schemas.microsoft.com/office/drawing/2014/main" id="{9327D9A6-801C-4280-B156-340598554B6D}"/>
              </a:ext>
            </a:extLst>
          </p:cNvPr>
          <p:cNvSpPr>
            <a:spLocks noGrp="1"/>
          </p:cNvSpPr>
          <p:nvPr/>
        </p:nvSpPr>
        <p:spPr>
          <a:xfrm>
            <a:off x="685800" y="6534150"/>
            <a:ext cx="4286250" cy="142875"/>
          </a:xfrm>
          <a:prstGeom prst="rect">
            <a:avLst/>
          </a:prstGeom>
          <a:noFill/>
          <a:ln w="0">
            <a:noFill/>
          </a:ln>
        </p:spPr>
        <p:txBody>
          <a:bodyPr lIns="0" tIns="0" rIns="0" bIns="0" anchor="t">
            <a:normAutofit/>
          </a:bodyPr>
          <a:lstStyle/>
          <a:p>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Rectangle 2">
            <a:extLst>
              <a:ext uri="{FF2B5EF4-FFF2-40B4-BE49-F238E27FC236}">
                <a16:creationId xmlns:a16="http://schemas.microsoft.com/office/drawing/2014/main" id="{B09E3AD1-5793-43C0-AEBE-842F97874101}"/>
              </a:ext>
            </a:extLst>
          </p:cNvPr>
          <p:cNvSpPr>
            <a:spLocks noGrp="1"/>
          </p:cNvSpPr>
          <p:nvPr/>
        </p:nvSpPr>
        <p:spPr>
          <a:xfrm>
            <a:off x="4286250" y="6534150"/>
            <a:ext cx="6191250" cy="142875"/>
          </a:xfrm>
          <a:prstGeom prst="rect">
            <a:avLst/>
          </a:prstGeom>
          <a:noFill/>
          <a:ln w="0">
            <a:noFill/>
          </a:ln>
        </p:spPr>
        <p:txBody>
          <a:bodyPr lIns="0" tIns="0" rIns="0" bIns="0" anchor="t">
            <a:normAutofit/>
          </a:bodyPr>
          <a:lstStyle/>
          <a:p>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INVARIANT decision ledger, captured 24 Sep 2026</a:t>
            </a:r>
          </a:p>
        </p:txBody>
      </p:sp>
      <p:sp>
        <p:nvSpPr>
          <p:cNvPr id="4" name="Rectangle 3">
            <a:extLst>
              <a:ext uri="{FF2B5EF4-FFF2-40B4-BE49-F238E27FC236}">
                <a16:creationId xmlns:a16="http://schemas.microsoft.com/office/drawing/2014/main" id="{38A84620-0ED4-4B1E-83DA-1369088F6FBF}"/>
              </a:ext>
            </a:extLst>
          </p:cNvPr>
          <p:cNvSpPr>
            <a:spLocks noGrp="1"/>
          </p:cNvSpPr>
          <p:nvPr/>
        </p:nvSpPr>
        <p:spPr>
          <a:xfrm>
            <a:off x="10858500" y="6515100"/>
            <a:ext cx="647700" cy="171450"/>
          </a:xfrm>
          <a:prstGeom prst="rect">
            <a:avLst/>
          </a:prstGeom>
          <a:noFill/>
          <a:ln w="0">
            <a:noFill/>
          </a:ln>
        </p:spPr>
        <p:txBody>
          <a:bodyPr lIns="0" tIns="0" rIns="0" bIns="0" anchor="t">
            <a:normAutofit/>
          </a:bodyPr>
          <a:lstStyle/>
          <a:p>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05</a:t>
            </a:r>
          </a:p>
        </p:txBody>
      </p:sp>
      <p:sp>
        <p:nvSpPr>
          <p:cNvPr id="5" name="Rectangle: Rounded Corners 4">
            <a:extLst>
              <a:ext uri="{FF2B5EF4-FFF2-40B4-BE49-F238E27FC236}">
                <a16:creationId xmlns:a16="http://schemas.microsoft.com/office/drawing/2014/main" id="{66202DFD-416E-4827-A639-5427871FEAD4}"/>
              </a:ext>
            </a:extLst>
          </p:cNvPr>
          <p:cNvSpPr>
            <a:spLocks noGrp="1"/>
          </p:cNvSpPr>
          <p:nvPr/>
        </p:nvSpPr>
        <p:spPr>
          <a:xfrm>
            <a:off x="685800" y="514350"/>
            <a:ext cx="1428750" cy="266700"/>
          </a:xfrm>
          <a:prstGeom prst="roundRect">
            <a:avLst>
              <a:gd name="adj" fmla="val 50000"/>
            </a:avLst>
          </a:prstGeom>
          <a:solidFill>
            <a:srgbClr val="F1F0FF"/>
          </a:solidFill>
          <a:ln w="0">
            <a:noFill/>
          </a:ln>
        </p:spPr>
      </p:sp>
      <p:sp>
        <p:nvSpPr>
          <p:cNvPr id="6" name="Rectangle 5">
            <a:extLst>
              <a:ext uri="{FF2B5EF4-FFF2-40B4-BE49-F238E27FC236}">
                <a16:creationId xmlns:a16="http://schemas.microsoft.com/office/drawing/2014/main" id="{EEC2E3A5-7BE5-4A77-96D5-0DFE2034CDBC}"/>
              </a:ext>
            </a:extLst>
          </p:cNvPr>
          <p:cNvSpPr>
            <a:spLocks noGrp="1"/>
          </p:cNvSpPr>
          <p:nvPr/>
        </p:nvSpPr>
        <p:spPr>
          <a:xfrm>
            <a:off x="781050" y="571500"/>
            <a:ext cx="1238250" cy="152400"/>
          </a:xfrm>
          <a:prstGeom prst="rect">
            <a:avLst/>
          </a:prstGeom>
          <a:noFill/>
          <a:ln w="0">
            <a:noFill/>
          </a:ln>
        </p:spPr>
        <p:txBody>
          <a:bodyPr lIns="0" tIns="0" rIns="0" bIns="0" anchor="t">
            <a:normAutofit/>
          </a:bodyPr>
          <a:lstStyle/>
          <a:p>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Rectangle 6">
            <a:extLst>
              <a:ext uri="{FF2B5EF4-FFF2-40B4-BE49-F238E27FC236}">
                <a16:creationId xmlns:a16="http://schemas.microsoft.com/office/drawing/2014/main" id="{C30A4FB1-5A89-404C-88E7-F4FB204E095E}"/>
              </a:ext>
            </a:extLst>
          </p:cNvPr>
          <p:cNvSpPr>
            <a:spLocks noGrp="1"/>
          </p:cNvSpPr>
          <p:nvPr/>
        </p:nvSpPr>
        <p:spPr>
          <a:xfrm>
            <a:off x="685800" y="1000125"/>
            <a:ext cx="5334000" cy="876300"/>
          </a:xfrm>
          <a:prstGeom prst="rect">
            <a:avLst/>
          </a:prstGeom>
          <a:noFill/>
          <a:ln w="0">
            <a:noFill/>
          </a:ln>
        </p:spPr>
        <p:txBody>
          <a:bodyPr lIns="0" tIns="0" rIns="0" bIns="0" anchor="t">
            <a:normAutofit fontScale="91270"/>
          </a:bodyPr>
          <a:lstStyle/>
          <a:p>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 BOLA finding must pass</a:t>
            </a:r>
          </a:p>
          <a:p>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evidence test</a:t>
            </a:r>
          </a:p>
        </p:txBody>
      </p:sp>
      <p:sp>
        <p:nvSpPr>
          <p:cNvPr id="8" name="Rectangle 7">
            <a:extLst>
              <a:ext uri="{FF2B5EF4-FFF2-40B4-BE49-F238E27FC236}">
                <a16:creationId xmlns:a16="http://schemas.microsoft.com/office/drawing/2014/main" id="{57AA4119-8004-47F5-ACB2-BCFE84C1AB77}"/>
              </a:ext>
            </a:extLst>
          </p:cNvPr>
          <p:cNvSpPr>
            <a:spLocks noGrp="1"/>
          </p:cNvSpPr>
          <p:nvPr/>
        </p:nvSpPr>
        <p:spPr>
          <a:xfrm>
            <a:off x="685800" y="2095500"/>
            <a:ext cx="5210175" cy="514350"/>
          </a:xfrm>
          <a:prstGeom prst="rect">
            <a:avLst/>
          </a:prstGeom>
          <a:noFill/>
          <a:ln w="0">
            <a:noFill/>
          </a:ln>
        </p:spPr>
        <p:txBody>
          <a:bodyPr lIns="0" tIns="0" rIns="0" bIns="0" anchor="t">
            <a:normAutofit fontScale="95725"/>
          </a:bodyPr>
          <a:lstStyle/>
          <a:p>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BOLA001 asks whether a request-controlled object reference reaches private data without a proven server-side ownership or tenant predicate.</a:t>
            </a:r>
          </a:p>
        </p:txBody>
      </p:sp>
      <p:sp>
        <p:nvSpPr>
          <p:cNvPr id="9" name="Rectangle: Rounded Corners 8">
            <a:extLst>
              <a:ext uri="{FF2B5EF4-FFF2-40B4-BE49-F238E27FC236}">
                <a16:creationId xmlns:a16="http://schemas.microsoft.com/office/drawing/2014/main" id="{0862A28F-F842-44FF-BE70-1CF59B0AEB61}"/>
              </a:ext>
            </a:extLst>
          </p:cNvPr>
          <p:cNvSpPr>
            <a:spLocks noGrp="1"/>
          </p:cNvSpPr>
          <p:nvPr/>
        </p:nvSpPr>
        <p:spPr>
          <a:xfrm>
            <a:off x="685800" y="2952750"/>
            <a:ext cx="5219700" cy="2590800"/>
          </a:xfrm>
          <a:prstGeom prst="roundRect">
            <a:avLst>
              <a:gd name="adj" fmla="val 5882"/>
            </a:avLst>
          </a:prstGeom>
          <a:solidFill>
            <a:srgbClr val="12131E"/>
          </a:solidFill>
          <a:ln w="0">
            <a:noFill/>
          </a:ln>
        </p:spPr>
      </p:sp>
      <p:sp>
        <p:nvSpPr>
          <p:cNvPr id="10" name="Rectangle 9">
            <a:extLst>
              <a:ext uri="{FF2B5EF4-FFF2-40B4-BE49-F238E27FC236}">
                <a16:creationId xmlns:a16="http://schemas.microsoft.com/office/drawing/2014/main" id="{4CDB867A-7C1D-492F-A1F7-82C2C8F0FD24}"/>
              </a:ext>
            </a:extLst>
          </p:cNvPr>
          <p:cNvSpPr>
            <a:spLocks noGrp="1"/>
          </p:cNvSpPr>
          <p:nvPr/>
        </p:nvSpPr>
        <p:spPr>
          <a:xfrm>
            <a:off x="952500" y="3219450"/>
            <a:ext cx="1619250" cy="161925"/>
          </a:xfrm>
          <a:prstGeom prst="rect">
            <a:avLst/>
          </a:prstGeom>
          <a:noFill/>
          <a:ln w="0">
            <a:noFill/>
          </a:ln>
        </p:spPr>
        <p:txBody>
          <a:bodyPr lIns="0" tIns="0" rIns="0" bIns="0" anchor="t">
            <a:normAutofit/>
          </a:bodyPr>
          <a:lstStyle/>
          <a:p>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EXAMPLE PATH</a:t>
            </a:r>
          </a:p>
        </p:txBody>
      </p:sp>
      <p:sp>
        <p:nvSpPr>
          <p:cNvPr id="11" name="Rectangle 10">
            <a:extLst>
              <a:ext uri="{FF2B5EF4-FFF2-40B4-BE49-F238E27FC236}">
                <a16:creationId xmlns:a16="http://schemas.microsoft.com/office/drawing/2014/main" id="{7DC121E6-09BB-4996-B103-7B0659D0FCEF}"/>
              </a:ext>
            </a:extLst>
          </p:cNvPr>
          <p:cNvSpPr>
            <a:spLocks noGrp="1"/>
          </p:cNvSpPr>
          <p:nvPr/>
        </p:nvSpPr>
        <p:spPr>
          <a:xfrm>
            <a:off x="952500" y="3533775"/>
            <a:ext cx="3952875" cy="228600"/>
          </a:xfrm>
          <a:prstGeom prst="rect">
            <a:avLst/>
          </a:prstGeom>
          <a:noFill/>
          <a:ln w="0">
            <a:noFill/>
          </a:ln>
        </p:spPr>
        <p:txBody>
          <a:bodyPr lIns="0" tIns="0" rIns="0" bIns="0" anchor="t">
            <a:normAutofit fontScale="89286"/>
          </a:bodyPr>
          <a:lstStyle/>
          <a:p>
            <a:pPr algn="l">
              <a:lnSpc>
                <a:spcPct val="112000"/>
              </a:lnSpc>
              <a:buNone/>
              <a:defRPr sz="1500" b="1" i="0">
                <a:solidFill>
                  <a:srgbClr val="FFFFFF"/>
                </a:solidFill>
                <a:latin typeface="Arial"/>
                <a:ea typeface="Arial"/>
                <a:cs typeface="Arial"/>
              </a:defRPr>
            </a:pPr>
            <a:r>
              <a:rPr sz="1500" b="1" i="0">
                <a:solidFill>
                  <a:srgbClr val="FFFFFF"/>
                </a:solidFill>
                <a:latin typeface="Arial"/>
                <a:ea typeface="Arial"/>
                <a:cs typeface="Arial"/>
              </a:rPr>
              <a:t>POST /api/wallet/withdraw</a:t>
            </a:r>
          </a:p>
        </p:txBody>
      </p:sp>
      <p:sp>
        <p:nvSpPr>
          <p:cNvPr id="12" name="Rectangle 11">
            <a:extLst>
              <a:ext uri="{FF2B5EF4-FFF2-40B4-BE49-F238E27FC236}">
                <a16:creationId xmlns:a16="http://schemas.microsoft.com/office/drawing/2014/main" id="{191B336E-1153-4A35-B91F-A60D86DF0C61}"/>
              </a:ext>
            </a:extLst>
          </p:cNvPr>
          <p:cNvSpPr>
            <a:spLocks noGrp="1"/>
          </p:cNvSpPr>
          <p:nvPr/>
        </p:nvSpPr>
        <p:spPr>
          <a:xfrm>
            <a:off x="952500" y="3943350"/>
            <a:ext cx="4000500" cy="1095375"/>
          </a:xfrm>
          <a:prstGeom prst="rect">
            <a:avLst/>
          </a:prstGeom>
          <a:noFill/>
          <a:ln w="0">
            <a:noFill/>
          </a:ln>
        </p:spPr>
        <p:txBody>
          <a:bodyPr lIns="0" tIns="0" rIns="0" bIns="0" anchor="t">
            <a:normAutofit/>
          </a:bodyPr>
          <a:lstStyle/>
          <a:p>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const wallet = getWallet(userId);</a:t>
            </a:r>
          </a:p>
          <a:p>
            <a:endParaRPr sz="1200" b="0" i="0">
              <a:solidFill>
                <a:srgbClr val="D8DCEC"/>
              </a:solidFill>
              <a:latin typeface="Arial"/>
              <a:ea typeface="Arial"/>
              <a:cs typeface="Arial"/>
            </a:endParaRPr>
          </a:p>
          <a:p>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let wallet = data.wallets.find(</a:t>
            </a:r>
          </a:p>
          <a:p>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  w =&gt; w.userId === userId</a:t>
            </a:r>
          </a:p>
          <a:p>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a:t>
            </a:r>
          </a:p>
        </p:txBody>
      </p:sp>
      <p:sp>
        <p:nvSpPr>
          <p:cNvPr id="13" name="Rectangle 12">
            <a:extLst>
              <a:ext uri="{FF2B5EF4-FFF2-40B4-BE49-F238E27FC236}">
                <a16:creationId xmlns:a16="http://schemas.microsoft.com/office/drawing/2014/main" id="{227E80CB-2865-4385-B241-D72D860DB44D}"/>
              </a:ext>
            </a:extLst>
          </p:cNvPr>
          <p:cNvSpPr>
            <a:spLocks noGrp="1"/>
          </p:cNvSpPr>
          <p:nvPr/>
        </p:nvSpPr>
        <p:spPr>
          <a:xfrm>
            <a:off x="952500" y="5181600"/>
            <a:ext cx="4333875" cy="238125"/>
          </a:xfrm>
          <a:prstGeom prst="rect">
            <a:avLst/>
          </a:prstGeom>
          <a:noFill/>
          <a:ln w="0">
            <a:noFill/>
          </a:ln>
        </p:spPr>
        <p:txBody>
          <a:bodyPr lIns="0" tIns="0" rIns="0" bIns="0" anchor="t">
            <a:normAutofit fontScale="71543"/>
          </a:bodyPr>
          <a:lstStyle/>
          <a:p>
            <a:pPr algn="l">
              <a:lnSpc>
                <a:spcPct val="112000"/>
              </a:lnSpc>
              <a:buNone/>
              <a:defRPr sz="975" b="0" i="1">
                <a:solidFill>
                  <a:srgbClr val="B7BED2"/>
                </a:solidFill>
                <a:latin typeface="Arial"/>
                <a:ea typeface="Arial"/>
                <a:cs typeface="Arial"/>
              </a:defRPr>
            </a:pPr>
            <a:r>
              <a:rPr sz="975" b="0" i="1">
                <a:solidFill>
                  <a:srgbClr val="B7BED2"/>
                </a:solidFill>
                <a:latin typeface="Arial"/>
                <a:ea typeface="Arial"/>
                <a:cs typeface="Arial"/>
              </a:rPr>
              <a:t>The engine follows request-derived data into the resolved local helper and inspects the lookup for a server-derived scope constraint.</a:t>
            </a:r>
          </a:p>
        </p:txBody>
      </p:sp>
      <p:pic>
        <p:nvPicPr>
          <p:cNvPr id="30" name="Picture 29"/>
          <p:cNvPicPr>
            <a:picLocks noChangeAspect="1"/>
          </p:cNvPicPr>
          <p:nvPr/>
        </p:nvPicPr>
        <p:blipFill>
          <a:blip r:embed="rId3"/>
          <a:srcRect l="21690" r="21690"/>
          <a:stretch>
            <a:fillRect/>
          </a:stretch>
        </p:blipFill>
        <p:spPr>
          <a:xfrm>
            <a:off x="6400800" y="828675"/>
            <a:ext cx="5105400" cy="4791075"/>
          </a:xfrm>
          <a:prstGeom prst="roundRect">
            <a:avLst>
              <a:gd name="adj" fmla="val 2386"/>
            </a:avLst>
          </a:prstGeom>
        </p:spPr>
      </p:pic>
      <p:sp>
        <p:nvSpPr>
          <p:cNvPr id="15" name="Rectangle 14">
            <a:extLst>
              <a:ext uri="{FF2B5EF4-FFF2-40B4-BE49-F238E27FC236}">
                <a16:creationId xmlns:a16="http://schemas.microsoft.com/office/drawing/2014/main" id="{F82340B0-7252-4297-9741-34B968CB91CC}"/>
              </a:ext>
            </a:extLst>
          </p:cNvPr>
          <p:cNvSpPr>
            <a:spLocks noGrp="1"/>
          </p:cNvSpPr>
          <p:nvPr/>
        </p:nvSpPr>
        <p:spPr>
          <a:xfrm>
            <a:off x="6400800" y="5753100"/>
            <a:ext cx="5095875" cy="285750"/>
          </a:xfrm>
          <a:prstGeom prst="rect">
            <a:avLst/>
          </a:prstGeom>
          <a:noFill/>
          <a:ln w="0">
            <a:noFill/>
          </a:ln>
        </p:spPr>
        <p:txBody>
          <a:bodyPr lIns="0" tIns="0" rIns="0" bIns="0" anchor="t">
            <a:normAutofit fontScale="77640"/>
          </a:bodyPr>
          <a:lstStyle/>
          <a:p>
            <a:pPr algn="l">
              <a:lnSpc>
                <a:spcPct val="115000"/>
              </a:lnSpc>
              <a:buNone/>
              <a:defRPr sz="1050" b="0" i="0">
                <a:solidFill>
                  <a:srgbClr val="626A7C"/>
                </a:solidFill>
                <a:latin typeface="Arial"/>
                <a:ea typeface="Arial"/>
                <a:cs typeface="Arial"/>
              </a:defRPr>
            </a:pPr>
            <a:r>
              <a:rPr sz="1050" b="0" i="0">
                <a:solidFill>
                  <a:srgbClr val="626A7C"/>
                </a:solidFill>
                <a:latin typeface="Arial"/>
                <a:ea typeface="Arial"/>
                <a:cs typeface="Arial"/>
              </a:rPr>
              <a:t>The decision ledger states what was observed, which controls were proven, and what requires human validation.</a:t>
            </a:r>
          </a:p>
        </p:txBody>
      </p:sp>
      <p:sp>
        <p:nvSpPr>
          <p:cNvPr id="16" name="Rectangle 15">
            <a:extLst>
              <a:ext uri="{FF2B5EF4-FFF2-40B4-BE49-F238E27FC236}">
                <a16:creationId xmlns:a16="http://schemas.microsoft.com/office/drawing/2014/main" id="{9E518C22-6289-496C-A7D5-4019ADF5F814}"/>
              </a:ext>
            </a:extLst>
          </p:cNvPr>
          <p:cNvSpPr>
            <a:spLocks noGrp="1"/>
          </p:cNvSpPr>
          <p:nvPr/>
        </p:nvSpPr>
        <p:spPr>
          <a:xfrm>
            <a:off x="685800" y="5915025"/>
            <a:ext cx="8239125" cy="171450"/>
          </a:xfrm>
          <a:prstGeom prst="rect">
            <a:avLst/>
          </a:prstGeom>
          <a:noFill/>
          <a:ln w="0">
            <a:noFill/>
          </a:ln>
        </p:spPr>
        <p:txBody>
          <a:bodyPr lIns="0" tIns="0" rIns="0" bIns="0" anchor="t">
            <a:normAutofit/>
          </a:bodyPr>
          <a:lstStyle/>
          <a:p>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BOLA001: route + lookup  |  BFL001: route + mutation  |  INJ001: route + sink  |  SEC001: credential literal</a:t>
            </a:r>
          </a:p>
        </p:txBody>
      </p:sp>
    </p:spTree>
    <p:extLst>
      <p:ext uri="{BB962C8B-B14F-4D97-AF65-F5344CB8AC3E}">
        <p14:creationId xmlns:p14="http://schemas.microsoft.com/office/powerpoint/2010/main" val="2129165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88F65964-EF10-4AE1-9BAC-53901FEB270B}"/>
              </a:ext>
            </a:extLst>
          </p:cNvPr>
          <p:cNvSpPr>
            <a:spLocks noGrp="1"/>
          </p:cNvSpPr>
          <p:nvPr/>
        </p:nvSpPr>
        <p:spPr>
          <a:xfrm>
            <a:off x="685800" y="6381750"/>
            <a:ext cx="10820400" cy="0"/>
          </a:xfrm>
          <a:prstGeom prst="line">
            <a:avLst/>
          </a:prstGeom>
          <a:noFill/>
          <a:ln w="9525">
            <a:solidFill>
              <a:srgbClr val="DEE1EC"/>
            </a:solidFill>
            <a:prstDash val="solid"/>
          </a:ln>
        </p:spPr>
      </p:sp>
      <p:sp>
        <p:nvSpPr>
          <p:cNvPr id="2" name="Rectangle 1">
            <a:extLst>
              <a:ext uri="{FF2B5EF4-FFF2-40B4-BE49-F238E27FC236}">
                <a16:creationId xmlns:a16="http://schemas.microsoft.com/office/drawing/2014/main" id="{DC1CB29C-615F-49DE-84E7-A706839E1657}"/>
              </a:ext>
            </a:extLst>
          </p:cNvPr>
          <p:cNvSpPr>
            <a:spLocks noGrp="1"/>
          </p:cNvSpPr>
          <p:nvPr/>
        </p:nvSpPr>
        <p:spPr>
          <a:xfrm>
            <a:off x="685800" y="6534150"/>
            <a:ext cx="4286250" cy="142875"/>
          </a:xfrm>
          <a:prstGeom prst="rect">
            <a:avLst/>
          </a:prstGeom>
          <a:noFill/>
          <a:ln w="0">
            <a:noFill/>
          </a:ln>
        </p:spPr>
        <p:txBody>
          <a:bodyPr lIns="0" tIns="0" rIns="0" bIns="0" anchor="t">
            <a:normAutofit/>
          </a:bodyPr>
          <a:lstStyle/>
          <a:p>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Rectangle 2">
            <a:extLst>
              <a:ext uri="{FF2B5EF4-FFF2-40B4-BE49-F238E27FC236}">
                <a16:creationId xmlns:a16="http://schemas.microsoft.com/office/drawing/2014/main" id="{7DCB5F38-A11F-49F6-B524-40DC08CA2BC2}"/>
              </a:ext>
            </a:extLst>
          </p:cNvPr>
          <p:cNvSpPr>
            <a:spLocks noGrp="1"/>
          </p:cNvSpPr>
          <p:nvPr/>
        </p:nvSpPr>
        <p:spPr>
          <a:xfrm>
            <a:off x="4286250" y="6534150"/>
            <a:ext cx="6191250" cy="142875"/>
          </a:xfrm>
          <a:prstGeom prst="rect">
            <a:avLst/>
          </a:prstGeom>
          <a:noFill/>
          <a:ln w="0">
            <a:noFill/>
          </a:ln>
        </p:spPr>
        <p:txBody>
          <a:bodyPr lIns="0" tIns="0" rIns="0" bIns="0" anchor="t">
            <a:normAutofit/>
          </a:bodyPr>
          <a:lstStyle/>
          <a:p>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public TaskForge scan; source-backed candidate, not a confirmed breach</a:t>
            </a:r>
          </a:p>
        </p:txBody>
      </p:sp>
      <p:sp>
        <p:nvSpPr>
          <p:cNvPr id="4" name="Rectangle 3">
            <a:extLst>
              <a:ext uri="{FF2B5EF4-FFF2-40B4-BE49-F238E27FC236}">
                <a16:creationId xmlns:a16="http://schemas.microsoft.com/office/drawing/2014/main" id="{42A251F7-F7EA-43F6-A574-96B1BA1EB890}"/>
              </a:ext>
            </a:extLst>
          </p:cNvPr>
          <p:cNvSpPr>
            <a:spLocks noGrp="1"/>
          </p:cNvSpPr>
          <p:nvPr/>
        </p:nvSpPr>
        <p:spPr>
          <a:xfrm>
            <a:off x="10858500" y="6515100"/>
            <a:ext cx="647700" cy="171450"/>
          </a:xfrm>
          <a:prstGeom prst="rect">
            <a:avLst/>
          </a:prstGeom>
          <a:noFill/>
          <a:ln w="0">
            <a:noFill/>
          </a:ln>
        </p:spPr>
        <p:txBody>
          <a:bodyPr lIns="0" tIns="0" rIns="0" bIns="0" anchor="t">
            <a:normAutofit/>
          </a:bodyPr>
          <a:lstStyle/>
          <a:p>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06</a:t>
            </a:r>
          </a:p>
        </p:txBody>
      </p:sp>
      <p:sp>
        <p:nvSpPr>
          <p:cNvPr id="5" name="Rectangle: Rounded Corners 4">
            <a:extLst>
              <a:ext uri="{FF2B5EF4-FFF2-40B4-BE49-F238E27FC236}">
                <a16:creationId xmlns:a16="http://schemas.microsoft.com/office/drawing/2014/main" id="{B34DE993-A7BC-4869-8F56-0A0545E955FF}"/>
              </a:ext>
            </a:extLst>
          </p:cNvPr>
          <p:cNvSpPr>
            <a:spLocks noGrp="1"/>
          </p:cNvSpPr>
          <p:nvPr/>
        </p:nvSpPr>
        <p:spPr>
          <a:xfrm>
            <a:off x="685800" y="514350"/>
            <a:ext cx="1524000" cy="266700"/>
          </a:xfrm>
          <a:prstGeom prst="roundRect">
            <a:avLst>
              <a:gd name="adj" fmla="val 50000"/>
            </a:avLst>
          </a:prstGeom>
          <a:solidFill>
            <a:srgbClr val="F1F0FF"/>
          </a:solidFill>
          <a:ln w="0">
            <a:noFill/>
          </a:ln>
        </p:spPr>
      </p:sp>
      <p:sp>
        <p:nvSpPr>
          <p:cNvPr id="6" name="Rectangle 5">
            <a:extLst>
              <a:ext uri="{FF2B5EF4-FFF2-40B4-BE49-F238E27FC236}">
                <a16:creationId xmlns:a16="http://schemas.microsoft.com/office/drawing/2014/main" id="{EB1CBBF3-87B4-4C62-B697-2A96F2194B1D}"/>
              </a:ext>
            </a:extLst>
          </p:cNvPr>
          <p:cNvSpPr>
            <a:spLocks noGrp="1"/>
          </p:cNvSpPr>
          <p:nvPr/>
        </p:nvSpPr>
        <p:spPr>
          <a:xfrm>
            <a:off x="781050" y="571500"/>
            <a:ext cx="1333500" cy="152400"/>
          </a:xfrm>
          <a:prstGeom prst="rect">
            <a:avLst/>
          </a:prstGeom>
          <a:noFill/>
          <a:ln w="0">
            <a:noFill/>
          </a:ln>
        </p:spPr>
        <p:txBody>
          <a:bodyPr lIns="0" tIns="0" rIns="0" bIns="0" anchor="t">
            <a:normAutofit/>
          </a:bodyPr>
          <a:lstStyle/>
          <a:p>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REAL-LIFE EXAMPLE</a:t>
            </a:r>
          </a:p>
        </p:txBody>
      </p:sp>
      <p:sp>
        <p:nvSpPr>
          <p:cNvPr id="7" name="Rectangle 6">
            <a:extLst>
              <a:ext uri="{FF2B5EF4-FFF2-40B4-BE49-F238E27FC236}">
                <a16:creationId xmlns:a16="http://schemas.microsoft.com/office/drawing/2014/main" id="{5E010C7D-437B-4FBF-B89D-55954DEDA28C}"/>
              </a:ext>
            </a:extLst>
          </p:cNvPr>
          <p:cNvSpPr>
            <a:spLocks noGrp="1"/>
          </p:cNvSpPr>
          <p:nvPr/>
        </p:nvSpPr>
        <p:spPr>
          <a:xfrm>
            <a:off x="685800" y="1000125"/>
            <a:ext cx="6477000" cy="466725"/>
          </a:xfrm>
          <a:prstGeom prst="rect">
            <a:avLst/>
          </a:prstGeom>
          <a:noFill/>
          <a:ln w="0">
            <a:noFill/>
          </a:ln>
        </p:spPr>
        <p:txBody>
          <a:bodyPr lIns="0" tIns="0" rIns="0" bIns="0" anchor="t">
            <a:normAutofit fontScale="84787"/>
          </a:bodyPr>
          <a:lstStyle/>
          <a:p>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A marketplace authorization path</a:t>
            </a:r>
          </a:p>
        </p:txBody>
      </p:sp>
      <p:sp>
        <p:nvSpPr>
          <p:cNvPr id="8" name="Rectangle 7">
            <a:extLst>
              <a:ext uri="{FF2B5EF4-FFF2-40B4-BE49-F238E27FC236}">
                <a16:creationId xmlns:a16="http://schemas.microsoft.com/office/drawing/2014/main" id="{BE11CDAD-B1BB-4164-AEF6-7985EB5F6A30}"/>
              </a:ext>
            </a:extLst>
          </p:cNvPr>
          <p:cNvSpPr>
            <a:spLocks noGrp="1"/>
          </p:cNvSpPr>
          <p:nvPr/>
        </p:nvSpPr>
        <p:spPr>
          <a:xfrm>
            <a:off x="685800" y="1657350"/>
            <a:ext cx="6238875" cy="400050"/>
          </a:xfrm>
          <a:prstGeom prst="rect">
            <a:avLst/>
          </a:prstGeom>
          <a:noFill/>
          <a:ln w="0">
            <a:noFill/>
          </a:ln>
        </p:spPr>
        <p:txBody>
          <a:bodyPr lIns="0" tIns="0" rIns="0" bIns="0" anchor="t">
            <a:normAutofit fontScale="76754"/>
          </a:bodyPr>
          <a:lstStyle/>
          <a:p>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 a multi-tenant marketplace, a participant should only access lender records they own or are permitted to view.</a:t>
            </a:r>
          </a:p>
        </p:txBody>
      </p:sp>
      <p:pic>
        <p:nvPicPr>
          <p:cNvPr id="28" name="Picture 27"/>
          <p:cNvPicPr>
            <a:picLocks noChangeAspect="1"/>
          </p:cNvPicPr>
          <p:nvPr/>
        </p:nvPicPr>
        <p:blipFill>
          <a:blip r:embed="rId3"/>
          <a:srcRect t="16" b="16"/>
          <a:stretch>
            <a:fillRect/>
          </a:stretch>
        </p:blipFill>
        <p:spPr>
          <a:xfrm>
            <a:off x="685800" y="2476500"/>
            <a:ext cx="6705600" cy="3200400"/>
          </a:xfrm>
          <a:prstGeom prst="roundRect">
            <a:avLst>
              <a:gd name="adj" fmla="val 3571"/>
            </a:avLst>
          </a:prstGeom>
        </p:spPr>
      </p:pic>
      <p:sp>
        <p:nvSpPr>
          <p:cNvPr id="10" name="Rectangle 9">
            <a:extLst>
              <a:ext uri="{FF2B5EF4-FFF2-40B4-BE49-F238E27FC236}">
                <a16:creationId xmlns:a16="http://schemas.microsoft.com/office/drawing/2014/main" id="{8EFA959D-5856-4DEF-9F0A-2550202B5297}"/>
              </a:ext>
            </a:extLst>
          </p:cNvPr>
          <p:cNvSpPr>
            <a:spLocks noGrp="1"/>
          </p:cNvSpPr>
          <p:nvPr/>
        </p:nvSpPr>
        <p:spPr>
          <a:xfrm>
            <a:off x="685800" y="5791200"/>
            <a:ext cx="4572000" cy="171450"/>
          </a:xfrm>
          <a:prstGeom prst="rect">
            <a:avLst/>
          </a:prstGeom>
          <a:noFill/>
          <a:ln w="0">
            <a:noFill/>
          </a:ln>
        </p:spPr>
        <p:txBody>
          <a:bodyPr lIns="0" tIns="0" rIns="0" bIns="0" anchor="t">
            <a:normAutofit/>
          </a:bodyPr>
          <a:lstStyle/>
          <a:p>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Live relationship graph: GET /api/lenders/:id</a:t>
            </a:r>
          </a:p>
        </p:txBody>
      </p:sp>
      <p:sp>
        <p:nvSpPr>
          <p:cNvPr id="11" name="Rectangle 10">
            <a:extLst>
              <a:ext uri="{FF2B5EF4-FFF2-40B4-BE49-F238E27FC236}">
                <a16:creationId xmlns:a16="http://schemas.microsoft.com/office/drawing/2014/main" id="{67FC841B-66F8-494E-B825-D226D3BBFD98}"/>
              </a:ext>
            </a:extLst>
          </p:cNvPr>
          <p:cNvSpPr>
            <a:spLocks noGrp="1"/>
          </p:cNvSpPr>
          <p:nvPr/>
        </p:nvSpPr>
        <p:spPr>
          <a:xfrm>
            <a:off x="8039100" y="2647950"/>
            <a:ext cx="2667000" cy="238125"/>
          </a:xfrm>
          <a:prstGeom prst="rect">
            <a:avLst/>
          </a:prstGeom>
          <a:noFill/>
          <a:ln w="0">
            <a:noFill/>
          </a:ln>
        </p:spPr>
        <p:txBody>
          <a:bodyPr lIns="0" tIns="0" rIns="0" bIns="0" anchor="t">
            <a:normAutofit fontScale="93006"/>
          </a:bodyPr>
          <a:lstStyle/>
          <a:p>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Expected invariant</a:t>
            </a:r>
          </a:p>
        </p:txBody>
      </p:sp>
      <p:sp>
        <p:nvSpPr>
          <p:cNvPr id="12" name="Rectangle 11">
            <a:extLst>
              <a:ext uri="{FF2B5EF4-FFF2-40B4-BE49-F238E27FC236}">
                <a16:creationId xmlns:a16="http://schemas.microsoft.com/office/drawing/2014/main" id="{3CDAD519-BCB3-40E4-923C-22B64BB3B06D}"/>
              </a:ext>
            </a:extLst>
          </p:cNvPr>
          <p:cNvSpPr>
            <a:spLocks noGrp="1"/>
          </p:cNvSpPr>
          <p:nvPr/>
        </p:nvSpPr>
        <p:spPr>
          <a:xfrm>
            <a:off x="8039100" y="2990850"/>
            <a:ext cx="3143250" cy="457200"/>
          </a:xfrm>
          <a:prstGeom prst="rect">
            <a:avLst/>
          </a:prstGeom>
          <a:noFill/>
          <a:ln w="0">
            <a:noFill/>
          </a:ln>
        </p:spPr>
        <p:txBody>
          <a:bodyPr lIns="0" tIns="0" rIns="0" bIns="0" anchor="t">
            <a:normAutofit fontScale="99701"/>
          </a:bodyPr>
          <a:lstStyle/>
          <a:p>
            <a:pPr algn="l">
              <a:lnSpc>
                <a:spcPct val="118000"/>
              </a:lnSpc>
              <a:buNone/>
              <a:defRPr sz="1275" b="0" i="0">
                <a:solidFill>
                  <a:srgbClr val="626A7C"/>
                </a:solidFill>
                <a:latin typeface="Arial"/>
                <a:ea typeface="Arial"/>
                <a:cs typeface="Arial"/>
              </a:defRPr>
            </a:pPr>
            <a:r>
              <a:rPr sz="1275" b="0" i="0">
                <a:solidFill>
                  <a:srgbClr val="626A7C"/>
                </a:solidFill>
                <a:latin typeface="Arial"/>
                <a:ea typeface="Arial"/>
                <a:cs typeface="Arial"/>
              </a:rPr>
              <a:t>The actor's identity or tenant scope must constrain access to the lender record.</a:t>
            </a:r>
          </a:p>
        </p:txBody>
      </p:sp>
      <p:sp>
        <p:nvSpPr>
          <p:cNvPr id="13" name="Straight Connector 12">
            <a:extLst>
              <a:ext uri="{FF2B5EF4-FFF2-40B4-BE49-F238E27FC236}">
                <a16:creationId xmlns:a16="http://schemas.microsoft.com/office/drawing/2014/main" id="{27C17C30-4F5E-4191-A4DF-0EAE67C66035}"/>
              </a:ext>
            </a:extLst>
          </p:cNvPr>
          <p:cNvSpPr>
            <a:spLocks noGrp="1"/>
          </p:cNvSpPr>
          <p:nvPr/>
        </p:nvSpPr>
        <p:spPr>
          <a:xfrm>
            <a:off x="8039100" y="3676650"/>
            <a:ext cx="3000375" cy="0"/>
          </a:xfrm>
          <a:prstGeom prst="line">
            <a:avLst/>
          </a:prstGeom>
          <a:noFill/>
          <a:ln w="9525">
            <a:solidFill>
              <a:srgbClr val="DEE1EC"/>
            </a:solidFill>
            <a:prstDash val="solid"/>
          </a:ln>
        </p:spPr>
      </p:sp>
      <p:sp>
        <p:nvSpPr>
          <p:cNvPr id="14" name="Rectangle 13">
            <a:extLst>
              <a:ext uri="{FF2B5EF4-FFF2-40B4-BE49-F238E27FC236}">
                <a16:creationId xmlns:a16="http://schemas.microsoft.com/office/drawing/2014/main" id="{00578406-AC09-476A-A886-4A9B34A1AADC}"/>
              </a:ext>
            </a:extLst>
          </p:cNvPr>
          <p:cNvSpPr>
            <a:spLocks noGrp="1"/>
          </p:cNvSpPr>
          <p:nvPr/>
        </p:nvSpPr>
        <p:spPr>
          <a:xfrm>
            <a:off x="8039100" y="3895725"/>
            <a:ext cx="2667000" cy="238125"/>
          </a:xfrm>
          <a:prstGeom prst="rect">
            <a:avLst/>
          </a:prstGeom>
          <a:noFill/>
          <a:ln w="0">
            <a:noFill/>
          </a:ln>
        </p:spPr>
        <p:txBody>
          <a:bodyPr lIns="0" tIns="0" rIns="0" bIns="0" anchor="t">
            <a:normAutofit fontScale="93006"/>
          </a:bodyPr>
          <a:lstStyle/>
          <a:p>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Observed source path</a:t>
            </a:r>
          </a:p>
        </p:txBody>
      </p:sp>
      <p:sp>
        <p:nvSpPr>
          <p:cNvPr id="15" name="Rectangle 14">
            <a:extLst>
              <a:ext uri="{FF2B5EF4-FFF2-40B4-BE49-F238E27FC236}">
                <a16:creationId xmlns:a16="http://schemas.microsoft.com/office/drawing/2014/main" id="{BAEF3685-BB5B-46DF-8554-A686ED388556}"/>
              </a:ext>
            </a:extLst>
          </p:cNvPr>
          <p:cNvSpPr>
            <a:spLocks noGrp="1"/>
          </p:cNvSpPr>
          <p:nvPr/>
        </p:nvSpPr>
        <p:spPr>
          <a:xfrm>
            <a:off x="8039100" y="4248150"/>
            <a:ext cx="3143250" cy="590550"/>
          </a:xfrm>
          <a:prstGeom prst="rect">
            <a:avLst/>
          </a:prstGeom>
          <a:noFill/>
          <a:ln w="0">
            <a:noFill/>
          </a:ln>
        </p:spPr>
        <p:txBody>
          <a:bodyPr lIns="0" tIns="0" rIns="0" bIns="0" anchor="t">
            <a:normAutofit/>
          </a:bodyPr>
          <a:lstStyle/>
          <a:p>
            <a:pPr algn="l">
              <a:lnSpc>
                <a:spcPct val="120000"/>
              </a:lnSpc>
              <a:buNone/>
              <a:defRPr sz="1275" b="1" i="0">
                <a:solidFill>
                  <a:srgbClr val="5646E8"/>
                </a:solidFill>
                <a:latin typeface="Arial"/>
                <a:ea typeface="Arial"/>
                <a:cs typeface="Arial"/>
              </a:defRPr>
            </a:pPr>
            <a:r>
              <a:rPr sz="1275" b="1" i="0">
                <a:solidFill>
                  <a:srgbClr val="5646E8"/>
                </a:solidFill>
                <a:latin typeface="Arial"/>
                <a:ea typeface="Arial"/>
                <a:cs typeface="Arial"/>
              </a:rPr>
              <a:t>Route receives id  →  inline handler  →  data.lenders.find  →  data.lenders</a:t>
            </a:r>
          </a:p>
        </p:txBody>
      </p:sp>
      <p:sp>
        <p:nvSpPr>
          <p:cNvPr id="16" name="Straight Connector 15">
            <a:extLst>
              <a:ext uri="{FF2B5EF4-FFF2-40B4-BE49-F238E27FC236}">
                <a16:creationId xmlns:a16="http://schemas.microsoft.com/office/drawing/2014/main" id="{7BB720B2-D5E0-4CC6-9F7A-DCD34478CE68}"/>
              </a:ext>
            </a:extLst>
          </p:cNvPr>
          <p:cNvSpPr>
            <a:spLocks noGrp="1"/>
          </p:cNvSpPr>
          <p:nvPr/>
        </p:nvSpPr>
        <p:spPr>
          <a:xfrm>
            <a:off x="8039100" y="5038725"/>
            <a:ext cx="3000375" cy="0"/>
          </a:xfrm>
          <a:prstGeom prst="line">
            <a:avLst/>
          </a:prstGeom>
          <a:noFill/>
          <a:ln w="9525">
            <a:solidFill>
              <a:srgbClr val="DEE1EC"/>
            </a:solidFill>
            <a:prstDash val="solid"/>
          </a:ln>
        </p:spPr>
      </p:sp>
      <p:sp>
        <p:nvSpPr>
          <p:cNvPr id="17" name="Rectangle 16">
            <a:extLst>
              <a:ext uri="{FF2B5EF4-FFF2-40B4-BE49-F238E27FC236}">
                <a16:creationId xmlns:a16="http://schemas.microsoft.com/office/drawing/2014/main" id="{0CC01E6D-261B-46BC-99ED-9968991A67BE}"/>
              </a:ext>
            </a:extLst>
          </p:cNvPr>
          <p:cNvSpPr>
            <a:spLocks noGrp="1"/>
          </p:cNvSpPr>
          <p:nvPr/>
        </p:nvSpPr>
        <p:spPr>
          <a:xfrm>
            <a:off x="8039100" y="5257800"/>
            <a:ext cx="2667000" cy="219075"/>
          </a:xfrm>
          <a:prstGeom prst="rect">
            <a:avLst/>
          </a:prstGeom>
          <a:noFill/>
          <a:ln w="0">
            <a:noFill/>
          </a:ln>
        </p:spPr>
        <p:txBody>
          <a:bodyPr lIns="0" tIns="0" rIns="0" bIns="0" anchor="t">
            <a:normAutofit fontScale="85565"/>
          </a:bodyPr>
          <a:lstStyle/>
          <a:p>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Review decision</a:t>
            </a:r>
          </a:p>
        </p:txBody>
      </p:sp>
      <p:sp>
        <p:nvSpPr>
          <p:cNvPr id="18" name="Rectangle 17">
            <a:extLst>
              <a:ext uri="{FF2B5EF4-FFF2-40B4-BE49-F238E27FC236}">
                <a16:creationId xmlns:a16="http://schemas.microsoft.com/office/drawing/2014/main" id="{AAB09DD6-F6CC-486B-8D9D-2D77EE981293}"/>
              </a:ext>
            </a:extLst>
          </p:cNvPr>
          <p:cNvSpPr>
            <a:spLocks noGrp="1"/>
          </p:cNvSpPr>
          <p:nvPr/>
        </p:nvSpPr>
        <p:spPr>
          <a:xfrm>
            <a:off x="8039100" y="5581650"/>
            <a:ext cx="3286125" cy="495300"/>
          </a:xfrm>
          <a:prstGeom prst="rect">
            <a:avLst/>
          </a:prstGeom>
          <a:noFill/>
          <a:ln w="0">
            <a:noFill/>
          </a:ln>
        </p:spPr>
        <p:txBody>
          <a:bodyPr lIns="0" tIns="0" rIns="0" bIns="0" anchor="t">
            <a:normAutofit fontScale="78502"/>
          </a:bodyPr>
          <a:lstStyle/>
          <a:p>
            <a:pPr algn="l">
              <a:lnSpc>
                <a:spcPct val="115000"/>
              </a:lnSpc>
              <a:buNone/>
              <a:defRPr sz="1200" b="0" i="0">
                <a:solidFill>
                  <a:srgbClr val="626A7C"/>
                </a:solidFill>
                <a:latin typeface="Arial"/>
                <a:ea typeface="Arial"/>
                <a:cs typeface="Arial"/>
              </a:defRPr>
            </a:pPr>
            <a:r>
              <a:rPr sz="1200" b="0" i="0">
                <a:solidFill>
                  <a:srgbClr val="626A7C"/>
                </a:solidFill>
                <a:latin typeface="Arial"/>
                <a:ea typeface="Arial"/>
                <a:cs typeface="Arial"/>
              </a:rPr>
              <a:t>The reviewer checks whether a server-derived ownership or tenant predicate scopes the lookup. If the source does not prove it, Invaria reports the condition and uncertainty.</a:t>
            </a:r>
          </a:p>
        </p:txBody>
      </p:sp>
      <p:sp>
        <p:nvSpPr>
          <p:cNvPr id="19" name="Rectangle 18">
            <a:extLst>
              <a:ext uri="{FF2B5EF4-FFF2-40B4-BE49-F238E27FC236}">
                <a16:creationId xmlns:a16="http://schemas.microsoft.com/office/drawing/2014/main" id="{2F6B56CB-EDCB-4F0B-894B-EF1BE2765D8F}"/>
              </a:ext>
            </a:extLst>
          </p:cNvPr>
          <p:cNvSpPr>
            <a:spLocks noGrp="1"/>
          </p:cNvSpPr>
          <p:nvPr/>
        </p:nvSpPr>
        <p:spPr>
          <a:xfrm>
            <a:off x="685800" y="6076950"/>
            <a:ext cx="7810500" cy="171450"/>
          </a:xfrm>
          <a:prstGeom prst="rect">
            <a:avLst/>
          </a:prstGeom>
          <a:noFill/>
          <a:ln w="0">
            <a:noFill/>
          </a:ln>
        </p:spPr>
        <p:txBody>
          <a:bodyPr lIns="0" tIns="0" rIns="0" bIns="0" anchor="t">
            <a:normAutofit/>
          </a:bodyPr>
          <a:lstStyle/>
          <a:p>
            <a:pPr algn="l">
              <a:lnSpc>
                <a:spcPct val="112000"/>
              </a:lnSpc>
              <a:buNone/>
              <a:defRPr sz="975" b="0" i="1">
                <a:solidFill>
                  <a:srgbClr val="626A7C"/>
                </a:solidFill>
                <a:latin typeface="Arial"/>
                <a:ea typeface="Arial"/>
                <a:cs typeface="Arial"/>
              </a:defRPr>
            </a:pPr>
            <a:r>
              <a:rPr sz="975" b="0" i="1">
                <a:solidFill>
                  <a:srgbClr val="626A7C"/>
                </a:solidFill>
                <a:latin typeface="Arial"/>
                <a:ea typeface="Arial"/>
                <a:cs typeface="Arial"/>
              </a:rPr>
              <a:t>The same method applies to wallet, refund, patient-record, and admin-action workflows.</a:t>
            </a:r>
          </a:p>
        </p:txBody>
      </p:sp>
    </p:spTree>
    <p:extLst>
      <p:ext uri="{BB962C8B-B14F-4D97-AF65-F5344CB8AC3E}">
        <p14:creationId xmlns:p14="http://schemas.microsoft.com/office/powerpoint/2010/main" val="1967265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Straight Connector 37">
            <a:extLst>
              <a:ext uri="{FF2B5EF4-FFF2-40B4-BE49-F238E27FC236}">
                <a16:creationId xmlns:a16="http://schemas.microsoft.com/office/drawing/2014/main" id="{BFB2E148-C60C-4505-9460-5D89171572A5}"/>
              </a:ext>
            </a:extLst>
          </p:cNvPr>
          <p:cNvSpPr>
            <a:spLocks noGrp="1"/>
          </p:cNvSpPr>
          <p:nvPr/>
        </p:nvSpPr>
        <p:spPr>
          <a:xfrm>
            <a:off x="685800" y="6381750"/>
            <a:ext cx="10820400" cy="0"/>
          </a:xfrm>
          <a:prstGeom prst="line">
            <a:avLst/>
          </a:prstGeom>
          <a:noFill/>
          <a:ln w="9525">
            <a:solidFill>
              <a:srgbClr val="DEE1EC"/>
            </a:solidFill>
            <a:prstDash val="solid"/>
          </a:ln>
        </p:spPr>
      </p:sp>
      <p:sp>
        <p:nvSpPr>
          <p:cNvPr id="2" name="Rectangle 1">
            <a:extLst>
              <a:ext uri="{FF2B5EF4-FFF2-40B4-BE49-F238E27FC236}">
                <a16:creationId xmlns:a16="http://schemas.microsoft.com/office/drawing/2014/main" id="{BBB180F1-6046-4533-A5F2-F446A744E04F}"/>
              </a:ext>
            </a:extLst>
          </p:cNvPr>
          <p:cNvSpPr>
            <a:spLocks noGrp="1"/>
          </p:cNvSpPr>
          <p:nvPr/>
        </p:nvSpPr>
        <p:spPr>
          <a:xfrm>
            <a:off x="685800" y="6534150"/>
            <a:ext cx="4286250" cy="142875"/>
          </a:xfrm>
          <a:prstGeom prst="rect">
            <a:avLst/>
          </a:prstGeom>
          <a:noFill/>
          <a:ln w="0">
            <a:noFill/>
          </a:ln>
        </p:spPr>
        <p:txBody>
          <a:bodyPr lIns="0" tIns="0" rIns="0" bIns="0" anchor="t">
            <a:normAutofit/>
          </a:bodyPr>
          <a:lstStyle/>
          <a:p>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Rectangle 2">
            <a:extLst>
              <a:ext uri="{FF2B5EF4-FFF2-40B4-BE49-F238E27FC236}">
                <a16:creationId xmlns:a16="http://schemas.microsoft.com/office/drawing/2014/main" id="{F0F3E7BF-0AA6-4D79-BB3F-8D63B4558432}"/>
              </a:ext>
            </a:extLst>
          </p:cNvPr>
          <p:cNvSpPr>
            <a:spLocks noGrp="1"/>
          </p:cNvSpPr>
          <p:nvPr/>
        </p:nvSpPr>
        <p:spPr>
          <a:xfrm>
            <a:off x="4286250" y="6534150"/>
            <a:ext cx="6191250" cy="142875"/>
          </a:xfrm>
          <a:prstGeom prst="rect">
            <a:avLst/>
          </a:prstGeom>
          <a:noFill/>
          <a:ln w="0">
            <a:noFill/>
          </a:ln>
        </p:spPr>
        <p:txBody>
          <a:bodyPr lIns="0" tIns="0" rIns="0" bIns="0" anchor="t">
            <a:normAutofit/>
          </a:bodyPr>
          <a:lstStyle/>
          <a:p>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Invaria blueprint; target segments are prospective</a:t>
            </a:r>
          </a:p>
        </p:txBody>
      </p:sp>
      <p:sp>
        <p:nvSpPr>
          <p:cNvPr id="4" name="Rectangle 3">
            <a:extLst>
              <a:ext uri="{FF2B5EF4-FFF2-40B4-BE49-F238E27FC236}">
                <a16:creationId xmlns:a16="http://schemas.microsoft.com/office/drawing/2014/main" id="{57FF6E72-98AF-4531-A039-9D10C735879F}"/>
              </a:ext>
            </a:extLst>
          </p:cNvPr>
          <p:cNvSpPr>
            <a:spLocks noGrp="1"/>
          </p:cNvSpPr>
          <p:nvPr/>
        </p:nvSpPr>
        <p:spPr>
          <a:xfrm>
            <a:off x="10858500" y="6515100"/>
            <a:ext cx="647700" cy="171450"/>
          </a:xfrm>
          <a:prstGeom prst="rect">
            <a:avLst/>
          </a:prstGeom>
          <a:noFill/>
          <a:ln w="0">
            <a:noFill/>
          </a:ln>
        </p:spPr>
        <p:txBody>
          <a:bodyPr lIns="0" tIns="0" rIns="0" bIns="0" anchor="t">
            <a:normAutofit/>
          </a:bodyPr>
          <a:lstStyle/>
          <a:p>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07</a:t>
            </a:r>
          </a:p>
        </p:txBody>
      </p:sp>
      <p:sp>
        <p:nvSpPr>
          <p:cNvPr id="5" name="Rectangle: Rounded Corners 4">
            <a:extLst>
              <a:ext uri="{FF2B5EF4-FFF2-40B4-BE49-F238E27FC236}">
                <a16:creationId xmlns:a16="http://schemas.microsoft.com/office/drawing/2014/main" id="{B0EFF695-3F43-4E05-8709-F016234C3F59}"/>
              </a:ext>
            </a:extLst>
          </p:cNvPr>
          <p:cNvSpPr>
            <a:spLocks noGrp="1"/>
          </p:cNvSpPr>
          <p:nvPr/>
        </p:nvSpPr>
        <p:spPr>
          <a:xfrm>
            <a:off x="685800" y="514350"/>
            <a:ext cx="1476375" cy="266700"/>
          </a:xfrm>
          <a:prstGeom prst="roundRect">
            <a:avLst>
              <a:gd name="adj" fmla="val 50000"/>
            </a:avLst>
          </a:prstGeom>
          <a:solidFill>
            <a:srgbClr val="F1F0FF"/>
          </a:solidFill>
          <a:ln w="0">
            <a:noFill/>
          </a:ln>
        </p:spPr>
      </p:sp>
      <p:sp>
        <p:nvSpPr>
          <p:cNvPr id="6" name="Rectangle 5">
            <a:extLst>
              <a:ext uri="{FF2B5EF4-FFF2-40B4-BE49-F238E27FC236}">
                <a16:creationId xmlns:a16="http://schemas.microsoft.com/office/drawing/2014/main" id="{1045E801-40A3-4CB5-BE30-4865F427B0CF}"/>
              </a:ext>
            </a:extLst>
          </p:cNvPr>
          <p:cNvSpPr>
            <a:spLocks noGrp="1"/>
          </p:cNvSpPr>
          <p:nvPr/>
        </p:nvSpPr>
        <p:spPr>
          <a:xfrm>
            <a:off x="781050" y="571500"/>
            <a:ext cx="1285875" cy="152400"/>
          </a:xfrm>
          <a:prstGeom prst="rect">
            <a:avLst/>
          </a:prstGeom>
          <a:noFill/>
          <a:ln w="0">
            <a:noFill/>
          </a:ln>
        </p:spPr>
        <p:txBody>
          <a:bodyPr lIns="0" tIns="0" rIns="0" bIns="0" anchor="t">
            <a:normAutofit/>
          </a:bodyPr>
          <a:lstStyle/>
          <a:p>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TARGET CUSTOMERS</a:t>
            </a:r>
          </a:p>
        </p:txBody>
      </p:sp>
      <p:sp>
        <p:nvSpPr>
          <p:cNvPr id="7" name="Rectangle 6">
            <a:extLst>
              <a:ext uri="{FF2B5EF4-FFF2-40B4-BE49-F238E27FC236}">
                <a16:creationId xmlns:a16="http://schemas.microsoft.com/office/drawing/2014/main" id="{93EA3FCB-273B-41A3-AFF3-83CCF5AECD56}"/>
              </a:ext>
            </a:extLst>
          </p:cNvPr>
          <p:cNvSpPr>
            <a:spLocks noGrp="1"/>
          </p:cNvSpPr>
          <p:nvPr/>
        </p:nvSpPr>
        <p:spPr>
          <a:xfrm>
            <a:off x="685800" y="1000125"/>
            <a:ext cx="5572125" cy="885825"/>
          </a:xfrm>
          <a:prstGeom prst="rect">
            <a:avLst/>
          </a:prstGeom>
          <a:noFill/>
          <a:ln w="0">
            <a:noFill/>
          </a:ln>
        </p:spPr>
        <p:txBody>
          <a:bodyPr lIns="0" tIns="0" rIns="0" bIns="0" anchor="t">
            <a:normAutofit fontScale="90116"/>
          </a:bodyPr>
          <a:lstStyle/>
          <a:p>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Who needs evidence-backed</a:t>
            </a:r>
          </a:p>
          <a:p>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security review first</a:t>
            </a:r>
          </a:p>
        </p:txBody>
      </p:sp>
      <p:sp>
        <p:nvSpPr>
          <p:cNvPr id="8" name="Rectangle 7">
            <a:extLst>
              <a:ext uri="{FF2B5EF4-FFF2-40B4-BE49-F238E27FC236}">
                <a16:creationId xmlns:a16="http://schemas.microsoft.com/office/drawing/2014/main" id="{5C98981A-B895-4BE0-83AC-D48E8FB6C04A}"/>
              </a:ext>
            </a:extLst>
          </p:cNvPr>
          <p:cNvSpPr>
            <a:spLocks noGrp="1"/>
          </p:cNvSpPr>
          <p:nvPr/>
        </p:nvSpPr>
        <p:spPr>
          <a:xfrm>
            <a:off x="685800" y="2114550"/>
            <a:ext cx="5524500" cy="609600"/>
          </a:xfrm>
          <a:prstGeom prst="rect">
            <a:avLst/>
          </a:prstGeom>
          <a:noFill/>
          <a:ln w="0">
            <a:noFill/>
          </a:ln>
        </p:spPr>
        <p:txBody>
          <a:bodyPr lIns="0" tIns="0" rIns="0" bIns="0" anchor="t">
            <a:normAutofit fontScale="84761"/>
          </a:bodyPr>
          <a:lstStyle/>
          <a:p>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first customers share a common risk: their applications make sensitive access or business decisions faster than a small team can manually review them.</a:t>
            </a:r>
          </a:p>
        </p:txBody>
      </p:sp>
      <p:sp>
        <p:nvSpPr>
          <p:cNvPr id="9" name="Rectangle: Rounded Corners 8">
            <a:extLst>
              <a:ext uri="{FF2B5EF4-FFF2-40B4-BE49-F238E27FC236}">
                <a16:creationId xmlns:a16="http://schemas.microsoft.com/office/drawing/2014/main" id="{53E50C95-4A2B-48FA-8F28-F192525684CD}"/>
              </a:ext>
            </a:extLst>
          </p:cNvPr>
          <p:cNvSpPr>
            <a:spLocks noGrp="1"/>
          </p:cNvSpPr>
          <p:nvPr/>
        </p:nvSpPr>
        <p:spPr>
          <a:xfrm>
            <a:off x="685800" y="3209925"/>
            <a:ext cx="990600" cy="447675"/>
          </a:xfrm>
          <a:prstGeom prst="roundRect">
            <a:avLst>
              <a:gd name="adj" fmla="val 25532"/>
            </a:avLst>
          </a:prstGeom>
          <a:solidFill>
            <a:srgbClr val="F1F0FF"/>
          </a:solidFill>
          <a:ln w="0">
            <a:noFill/>
          </a:ln>
        </p:spPr>
      </p:sp>
      <p:sp>
        <p:nvSpPr>
          <p:cNvPr id="10" name="Rectangle 9">
            <a:extLst>
              <a:ext uri="{FF2B5EF4-FFF2-40B4-BE49-F238E27FC236}">
                <a16:creationId xmlns:a16="http://schemas.microsoft.com/office/drawing/2014/main" id="{806EF57F-44A3-435D-8FFF-BA9F2B4F5DBA}"/>
              </a:ext>
            </a:extLst>
          </p:cNvPr>
          <p:cNvSpPr>
            <a:spLocks noGrp="1"/>
          </p:cNvSpPr>
          <p:nvPr/>
        </p:nvSpPr>
        <p:spPr>
          <a:xfrm>
            <a:off x="809625" y="3314700"/>
            <a:ext cx="752475" cy="266700"/>
          </a:xfrm>
          <a:prstGeom prst="rect">
            <a:avLst/>
          </a:prstGeom>
          <a:noFill/>
          <a:ln w="0">
            <a:noFill/>
          </a:ln>
        </p:spPr>
        <p:txBody>
          <a:bodyPr lIns="0" tIns="0" rIns="0" bIns="0" anchor="ctr">
            <a:normAutofit fontScale="91439"/>
          </a:bodyPr>
          <a:lstStyle/>
          <a:p>
            <a:pPr algn="ctr">
              <a:lnSpc>
                <a:spcPct val="112000"/>
              </a:lnSpc>
              <a:buNone/>
              <a:defRPr sz="1050" b="1" i="0">
                <a:solidFill>
                  <a:srgbClr val="5646E8"/>
                </a:solidFill>
                <a:latin typeface="Arial"/>
                <a:ea typeface="Arial"/>
                <a:cs typeface="Arial"/>
              </a:defRPr>
            </a:pPr>
            <a:r>
              <a:rPr sz="1050" b="1" i="0">
                <a:solidFill>
                  <a:srgbClr val="5646E8"/>
                </a:solidFill>
                <a:latin typeface="Arial"/>
                <a:ea typeface="Arial"/>
                <a:cs typeface="Arial"/>
              </a:rPr>
              <a:t>AI-built SaaS</a:t>
            </a:r>
          </a:p>
        </p:txBody>
      </p:sp>
      <p:sp>
        <p:nvSpPr>
          <p:cNvPr id="11" name="Rectangle 10">
            <a:extLst>
              <a:ext uri="{FF2B5EF4-FFF2-40B4-BE49-F238E27FC236}">
                <a16:creationId xmlns:a16="http://schemas.microsoft.com/office/drawing/2014/main" id="{3104F8F9-ED07-416F-B038-F762117442DA}"/>
              </a:ext>
            </a:extLst>
          </p:cNvPr>
          <p:cNvSpPr>
            <a:spLocks noGrp="1"/>
          </p:cNvSpPr>
          <p:nvPr/>
        </p:nvSpPr>
        <p:spPr>
          <a:xfrm>
            <a:off x="1943100" y="3219450"/>
            <a:ext cx="2190750" cy="209550"/>
          </a:xfrm>
          <a:prstGeom prst="rect">
            <a:avLst/>
          </a:prstGeom>
          <a:noFill/>
          <a:ln w="0">
            <a:noFill/>
          </a:ln>
        </p:spPr>
        <p:txBody>
          <a:bodyPr lIns="0" tIns="0" rIns="0" bIns="0" anchor="t">
            <a:normAutofit fontScale="96289"/>
          </a:bodyPr>
          <a:lstStyle/>
          <a:p>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CTO or engineering lead</a:t>
            </a:r>
          </a:p>
        </p:txBody>
      </p:sp>
      <p:sp>
        <p:nvSpPr>
          <p:cNvPr id="12" name="Rectangle 11">
            <a:extLst>
              <a:ext uri="{FF2B5EF4-FFF2-40B4-BE49-F238E27FC236}">
                <a16:creationId xmlns:a16="http://schemas.microsoft.com/office/drawing/2014/main" id="{D68E2671-7677-402F-8904-54892EB09744}"/>
              </a:ext>
            </a:extLst>
          </p:cNvPr>
          <p:cNvSpPr>
            <a:spLocks noGrp="1"/>
          </p:cNvSpPr>
          <p:nvPr/>
        </p:nvSpPr>
        <p:spPr>
          <a:xfrm>
            <a:off x="1943100" y="3467100"/>
            <a:ext cx="4381500" cy="209550"/>
          </a:xfrm>
          <a:prstGeom prst="rect">
            <a:avLst/>
          </a:prstGeom>
          <a:noFill/>
          <a:ln w="0">
            <a:noFill/>
          </a:ln>
        </p:spPr>
        <p:txBody>
          <a:bodyPr lIns="0" tIns="0" rIns="0" bIns="0" anchor="t">
            <a:normAutofit/>
          </a:bodyPr>
          <a:lstStyle/>
          <a:p>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Tenant isolation, sensitive APIs, rapid release cycles</a:t>
            </a:r>
          </a:p>
        </p:txBody>
      </p:sp>
      <p:sp>
        <p:nvSpPr>
          <p:cNvPr id="13" name="Straight Connector 12">
            <a:extLst>
              <a:ext uri="{FF2B5EF4-FFF2-40B4-BE49-F238E27FC236}">
                <a16:creationId xmlns:a16="http://schemas.microsoft.com/office/drawing/2014/main" id="{9F6EBFBF-539A-4760-A2C8-DD6B13B05CE7}"/>
              </a:ext>
            </a:extLst>
          </p:cNvPr>
          <p:cNvSpPr>
            <a:spLocks noGrp="1"/>
          </p:cNvSpPr>
          <p:nvPr/>
        </p:nvSpPr>
        <p:spPr>
          <a:xfrm>
            <a:off x="685800" y="3762375"/>
            <a:ext cx="5657850" cy="0"/>
          </a:xfrm>
          <a:prstGeom prst="line">
            <a:avLst/>
          </a:prstGeom>
          <a:noFill/>
          <a:ln w="9525">
            <a:solidFill>
              <a:srgbClr val="DEE1EC"/>
            </a:solidFill>
            <a:prstDash val="solid"/>
          </a:ln>
        </p:spPr>
      </p:sp>
      <p:sp>
        <p:nvSpPr>
          <p:cNvPr id="14" name="Rectangle: Rounded Corners 13">
            <a:extLst>
              <a:ext uri="{FF2B5EF4-FFF2-40B4-BE49-F238E27FC236}">
                <a16:creationId xmlns:a16="http://schemas.microsoft.com/office/drawing/2014/main" id="{FB12BF0B-92BB-40CE-9E65-64F289C5C9C8}"/>
              </a:ext>
            </a:extLst>
          </p:cNvPr>
          <p:cNvSpPr>
            <a:spLocks noGrp="1"/>
          </p:cNvSpPr>
          <p:nvPr/>
        </p:nvSpPr>
        <p:spPr>
          <a:xfrm>
            <a:off x="685800" y="3867150"/>
            <a:ext cx="990600" cy="447675"/>
          </a:xfrm>
          <a:prstGeom prst="roundRect">
            <a:avLst>
              <a:gd name="adj" fmla="val 25532"/>
            </a:avLst>
          </a:prstGeom>
          <a:solidFill>
            <a:srgbClr val="FFF3E4"/>
          </a:solidFill>
          <a:ln w="0">
            <a:noFill/>
          </a:ln>
        </p:spPr>
      </p:sp>
      <p:sp>
        <p:nvSpPr>
          <p:cNvPr id="15" name="Rectangle 14">
            <a:extLst>
              <a:ext uri="{FF2B5EF4-FFF2-40B4-BE49-F238E27FC236}">
                <a16:creationId xmlns:a16="http://schemas.microsoft.com/office/drawing/2014/main" id="{764E4305-B7AC-4C89-9CC9-2CDE465CEF70}"/>
              </a:ext>
            </a:extLst>
          </p:cNvPr>
          <p:cNvSpPr>
            <a:spLocks noGrp="1"/>
          </p:cNvSpPr>
          <p:nvPr/>
        </p:nvSpPr>
        <p:spPr>
          <a:xfrm>
            <a:off x="809625" y="3971925"/>
            <a:ext cx="752475" cy="266700"/>
          </a:xfrm>
          <a:prstGeom prst="rect">
            <a:avLst/>
          </a:prstGeom>
          <a:noFill/>
          <a:ln w="0">
            <a:noFill/>
          </a:ln>
        </p:spPr>
        <p:txBody>
          <a:bodyPr lIns="0" tIns="0" rIns="0" bIns="0" anchor="ctr">
            <a:normAutofit fontScale="74405"/>
          </a:bodyPr>
          <a:lstStyle/>
          <a:p>
            <a:pPr algn="ctr">
              <a:lnSpc>
                <a:spcPct val="112000"/>
              </a:lnSpc>
              <a:buNone/>
              <a:defRPr sz="1050" b="1" i="0">
                <a:solidFill>
                  <a:srgbClr val="C36A12"/>
                </a:solidFill>
                <a:latin typeface="Arial"/>
                <a:ea typeface="Arial"/>
                <a:cs typeface="Arial"/>
              </a:defRPr>
            </a:pPr>
            <a:r>
              <a:rPr sz="1050" b="1" i="0">
                <a:solidFill>
                  <a:srgbClr val="C36A12"/>
                </a:solidFill>
                <a:latin typeface="Arial"/>
                <a:ea typeface="Arial"/>
                <a:cs typeface="Arial"/>
              </a:rPr>
              <a:t>Fintech &amp; payments</a:t>
            </a:r>
          </a:p>
        </p:txBody>
      </p:sp>
      <p:sp>
        <p:nvSpPr>
          <p:cNvPr id="16" name="Rectangle 15">
            <a:extLst>
              <a:ext uri="{FF2B5EF4-FFF2-40B4-BE49-F238E27FC236}">
                <a16:creationId xmlns:a16="http://schemas.microsoft.com/office/drawing/2014/main" id="{6234726D-4759-4D02-9EEB-E429D3077C7C}"/>
              </a:ext>
            </a:extLst>
          </p:cNvPr>
          <p:cNvSpPr>
            <a:spLocks noGrp="1"/>
          </p:cNvSpPr>
          <p:nvPr/>
        </p:nvSpPr>
        <p:spPr>
          <a:xfrm>
            <a:off x="1943100" y="3876675"/>
            <a:ext cx="2190750" cy="209550"/>
          </a:xfrm>
          <a:prstGeom prst="rect">
            <a:avLst/>
          </a:prstGeom>
          <a:noFill/>
          <a:ln w="0">
            <a:noFill/>
          </a:ln>
        </p:spPr>
        <p:txBody>
          <a:bodyPr lIns="0" tIns="0" rIns="0" bIns="0" anchor="t">
            <a:normAutofit fontScale="96289"/>
          </a:bodyPr>
          <a:lstStyle/>
          <a:p>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Security or platform lead</a:t>
            </a:r>
          </a:p>
        </p:txBody>
      </p:sp>
      <p:sp>
        <p:nvSpPr>
          <p:cNvPr id="17" name="Rectangle 16">
            <a:extLst>
              <a:ext uri="{FF2B5EF4-FFF2-40B4-BE49-F238E27FC236}">
                <a16:creationId xmlns:a16="http://schemas.microsoft.com/office/drawing/2014/main" id="{ED22B620-3CF7-4B44-9B3F-451621F38598}"/>
              </a:ext>
            </a:extLst>
          </p:cNvPr>
          <p:cNvSpPr>
            <a:spLocks noGrp="1"/>
          </p:cNvSpPr>
          <p:nvPr/>
        </p:nvSpPr>
        <p:spPr>
          <a:xfrm>
            <a:off x="1943100" y="4124325"/>
            <a:ext cx="4381500" cy="209550"/>
          </a:xfrm>
          <a:prstGeom prst="rect">
            <a:avLst/>
          </a:prstGeom>
          <a:noFill/>
          <a:ln w="0">
            <a:noFill/>
          </a:ln>
        </p:spPr>
        <p:txBody>
          <a:bodyPr lIns="0" tIns="0" rIns="0" bIns="0" anchor="t">
            <a:normAutofit/>
          </a:bodyPr>
          <a:lstStyle/>
          <a:p>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Refunds, balances, transfers, and state-changing actions</a:t>
            </a:r>
          </a:p>
        </p:txBody>
      </p:sp>
      <p:sp>
        <p:nvSpPr>
          <p:cNvPr id="18" name="Straight Connector 17">
            <a:extLst>
              <a:ext uri="{FF2B5EF4-FFF2-40B4-BE49-F238E27FC236}">
                <a16:creationId xmlns:a16="http://schemas.microsoft.com/office/drawing/2014/main" id="{11C41731-4FD3-4BCA-906E-06788E900C77}"/>
              </a:ext>
            </a:extLst>
          </p:cNvPr>
          <p:cNvSpPr>
            <a:spLocks noGrp="1"/>
          </p:cNvSpPr>
          <p:nvPr/>
        </p:nvSpPr>
        <p:spPr>
          <a:xfrm>
            <a:off x="685800" y="4419600"/>
            <a:ext cx="5657850" cy="0"/>
          </a:xfrm>
          <a:prstGeom prst="line">
            <a:avLst/>
          </a:prstGeom>
          <a:noFill/>
          <a:ln w="9525">
            <a:solidFill>
              <a:srgbClr val="DEE1EC"/>
            </a:solidFill>
            <a:prstDash val="solid"/>
          </a:ln>
        </p:spPr>
      </p:sp>
      <p:sp>
        <p:nvSpPr>
          <p:cNvPr id="19" name="Rectangle: Rounded Corners 18">
            <a:extLst>
              <a:ext uri="{FF2B5EF4-FFF2-40B4-BE49-F238E27FC236}">
                <a16:creationId xmlns:a16="http://schemas.microsoft.com/office/drawing/2014/main" id="{ECFD91B1-2B70-4DDF-A252-F6CE4E43369C}"/>
              </a:ext>
            </a:extLst>
          </p:cNvPr>
          <p:cNvSpPr>
            <a:spLocks noGrp="1"/>
          </p:cNvSpPr>
          <p:nvPr/>
        </p:nvSpPr>
        <p:spPr>
          <a:xfrm>
            <a:off x="685800" y="4524375"/>
            <a:ext cx="990600" cy="447675"/>
          </a:xfrm>
          <a:prstGeom prst="roundRect">
            <a:avLst>
              <a:gd name="adj" fmla="val 25532"/>
            </a:avLst>
          </a:prstGeom>
          <a:solidFill>
            <a:srgbClr val="E7F7F4"/>
          </a:solidFill>
          <a:ln w="0">
            <a:noFill/>
          </a:ln>
        </p:spPr>
      </p:sp>
      <p:sp>
        <p:nvSpPr>
          <p:cNvPr id="20" name="Rectangle 19">
            <a:extLst>
              <a:ext uri="{FF2B5EF4-FFF2-40B4-BE49-F238E27FC236}">
                <a16:creationId xmlns:a16="http://schemas.microsoft.com/office/drawing/2014/main" id="{08B18891-39C5-464E-82C1-AF6A6E8AEF6B}"/>
              </a:ext>
            </a:extLst>
          </p:cNvPr>
          <p:cNvSpPr>
            <a:spLocks noGrp="1"/>
          </p:cNvSpPr>
          <p:nvPr/>
        </p:nvSpPr>
        <p:spPr>
          <a:xfrm>
            <a:off x="809625" y="4629150"/>
            <a:ext cx="752475" cy="266700"/>
          </a:xfrm>
          <a:prstGeom prst="rect">
            <a:avLst/>
          </a:prstGeom>
          <a:noFill/>
          <a:ln w="0">
            <a:noFill/>
          </a:ln>
        </p:spPr>
        <p:txBody>
          <a:bodyPr lIns="0" tIns="0" rIns="0" bIns="0" anchor="ctr">
            <a:normAutofit fontScale="75968"/>
          </a:bodyPr>
          <a:lstStyle/>
          <a:p>
            <a:pPr algn="ctr">
              <a:lnSpc>
                <a:spcPct val="112000"/>
              </a:lnSpc>
              <a:buNone/>
              <a:defRPr sz="1050" b="1" i="0">
                <a:solidFill>
                  <a:srgbClr val="087A71"/>
                </a:solidFill>
                <a:latin typeface="Arial"/>
                <a:ea typeface="Arial"/>
                <a:cs typeface="Arial"/>
              </a:defRPr>
            </a:pPr>
            <a:r>
              <a:rPr sz="1050" b="1" i="0">
                <a:solidFill>
                  <a:srgbClr val="087A71"/>
                </a:solidFill>
                <a:latin typeface="Arial"/>
                <a:ea typeface="Arial"/>
                <a:cs typeface="Arial"/>
              </a:rPr>
              <a:t>Health software</a:t>
            </a:r>
          </a:p>
        </p:txBody>
      </p:sp>
      <p:sp>
        <p:nvSpPr>
          <p:cNvPr id="21" name="Rectangle 20">
            <a:extLst>
              <a:ext uri="{FF2B5EF4-FFF2-40B4-BE49-F238E27FC236}">
                <a16:creationId xmlns:a16="http://schemas.microsoft.com/office/drawing/2014/main" id="{86F4B3F1-16D4-4E21-80C0-72B085EFEA98}"/>
              </a:ext>
            </a:extLst>
          </p:cNvPr>
          <p:cNvSpPr>
            <a:spLocks noGrp="1"/>
          </p:cNvSpPr>
          <p:nvPr/>
        </p:nvSpPr>
        <p:spPr>
          <a:xfrm>
            <a:off x="1943100" y="4533900"/>
            <a:ext cx="2190750" cy="209550"/>
          </a:xfrm>
          <a:prstGeom prst="rect">
            <a:avLst/>
          </a:prstGeom>
          <a:noFill/>
          <a:ln w="0">
            <a:noFill/>
          </a:ln>
        </p:spPr>
        <p:txBody>
          <a:bodyPr lIns="0" tIns="0" rIns="0" bIns="0" anchor="t">
            <a:normAutofit fontScale="96289"/>
          </a:bodyPr>
          <a:lstStyle/>
          <a:p>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Product security lead</a:t>
            </a:r>
          </a:p>
        </p:txBody>
      </p:sp>
      <p:sp>
        <p:nvSpPr>
          <p:cNvPr id="22" name="Rectangle 21">
            <a:extLst>
              <a:ext uri="{FF2B5EF4-FFF2-40B4-BE49-F238E27FC236}">
                <a16:creationId xmlns:a16="http://schemas.microsoft.com/office/drawing/2014/main" id="{B124ABA5-2D8E-4E26-BE58-01599C807CF4}"/>
              </a:ext>
            </a:extLst>
          </p:cNvPr>
          <p:cNvSpPr>
            <a:spLocks noGrp="1"/>
          </p:cNvSpPr>
          <p:nvPr/>
        </p:nvSpPr>
        <p:spPr>
          <a:xfrm>
            <a:off x="1943100" y="4781550"/>
            <a:ext cx="4381500" cy="209550"/>
          </a:xfrm>
          <a:prstGeom prst="rect">
            <a:avLst/>
          </a:prstGeom>
          <a:noFill/>
          <a:ln w="0">
            <a:noFill/>
          </a:ln>
        </p:spPr>
        <p:txBody>
          <a:bodyPr lIns="0" tIns="0" rIns="0" bIns="0" anchor="t">
            <a:normAutofit/>
          </a:bodyPr>
          <a:lstStyle/>
          <a:p>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Patient ownership, role-based access, data exposure</a:t>
            </a:r>
          </a:p>
        </p:txBody>
      </p:sp>
      <p:sp>
        <p:nvSpPr>
          <p:cNvPr id="23" name="Straight Connector 22">
            <a:extLst>
              <a:ext uri="{FF2B5EF4-FFF2-40B4-BE49-F238E27FC236}">
                <a16:creationId xmlns:a16="http://schemas.microsoft.com/office/drawing/2014/main" id="{37E181CD-357C-46E3-A9A6-F94DA621B789}"/>
              </a:ext>
            </a:extLst>
          </p:cNvPr>
          <p:cNvSpPr>
            <a:spLocks noGrp="1"/>
          </p:cNvSpPr>
          <p:nvPr/>
        </p:nvSpPr>
        <p:spPr>
          <a:xfrm>
            <a:off x="685800" y="5076825"/>
            <a:ext cx="5657850" cy="0"/>
          </a:xfrm>
          <a:prstGeom prst="line">
            <a:avLst/>
          </a:prstGeom>
          <a:noFill/>
          <a:ln w="9525">
            <a:solidFill>
              <a:srgbClr val="DEE1EC"/>
            </a:solidFill>
            <a:prstDash val="solid"/>
          </a:ln>
        </p:spPr>
      </p:sp>
      <p:sp>
        <p:nvSpPr>
          <p:cNvPr id="24" name="Rectangle: Rounded Corners 23">
            <a:extLst>
              <a:ext uri="{FF2B5EF4-FFF2-40B4-BE49-F238E27FC236}">
                <a16:creationId xmlns:a16="http://schemas.microsoft.com/office/drawing/2014/main" id="{2535E540-52CB-48C6-82FC-1A0704566D47}"/>
              </a:ext>
            </a:extLst>
          </p:cNvPr>
          <p:cNvSpPr>
            <a:spLocks noGrp="1"/>
          </p:cNvSpPr>
          <p:nvPr/>
        </p:nvSpPr>
        <p:spPr>
          <a:xfrm>
            <a:off x="685800" y="5181600"/>
            <a:ext cx="990600" cy="447675"/>
          </a:xfrm>
          <a:prstGeom prst="roundRect">
            <a:avLst>
              <a:gd name="adj" fmla="val 25532"/>
            </a:avLst>
          </a:prstGeom>
          <a:solidFill>
            <a:srgbClr val="FCECEF"/>
          </a:solidFill>
          <a:ln w="0">
            <a:noFill/>
          </a:ln>
        </p:spPr>
      </p:sp>
      <p:sp>
        <p:nvSpPr>
          <p:cNvPr id="25" name="Rectangle 24">
            <a:extLst>
              <a:ext uri="{FF2B5EF4-FFF2-40B4-BE49-F238E27FC236}">
                <a16:creationId xmlns:a16="http://schemas.microsoft.com/office/drawing/2014/main" id="{30B8B1A3-742C-46AF-86F7-87A1981680A6}"/>
              </a:ext>
            </a:extLst>
          </p:cNvPr>
          <p:cNvSpPr>
            <a:spLocks noGrp="1"/>
          </p:cNvSpPr>
          <p:nvPr/>
        </p:nvSpPr>
        <p:spPr>
          <a:xfrm>
            <a:off x="809625" y="5286375"/>
            <a:ext cx="752475" cy="266700"/>
          </a:xfrm>
          <a:prstGeom prst="rect">
            <a:avLst/>
          </a:prstGeom>
          <a:noFill/>
          <a:ln w="0">
            <a:noFill/>
          </a:ln>
        </p:spPr>
        <p:txBody>
          <a:bodyPr lIns="0" tIns="0" rIns="0" bIns="0" anchor="ctr">
            <a:normAutofit fontScale="74405"/>
          </a:bodyPr>
          <a:lstStyle/>
          <a:p>
            <a:pPr algn="ctr">
              <a:lnSpc>
                <a:spcPct val="112000"/>
              </a:lnSpc>
              <a:buNone/>
              <a:defRPr sz="1050" b="1" i="0">
                <a:solidFill>
                  <a:srgbClr val="C23B59"/>
                </a:solidFill>
                <a:latin typeface="Arial"/>
                <a:ea typeface="Arial"/>
                <a:cs typeface="Arial"/>
              </a:defRPr>
            </a:pPr>
            <a:r>
              <a:rPr sz="1050" b="1" i="0">
                <a:solidFill>
                  <a:srgbClr val="C23B59"/>
                </a:solidFill>
                <a:latin typeface="Arial"/>
                <a:ea typeface="Arial"/>
                <a:cs typeface="Arial"/>
              </a:rPr>
              <a:t>Internal platforms</a:t>
            </a:r>
          </a:p>
        </p:txBody>
      </p:sp>
      <p:sp>
        <p:nvSpPr>
          <p:cNvPr id="26" name="Rectangle 25">
            <a:extLst>
              <a:ext uri="{FF2B5EF4-FFF2-40B4-BE49-F238E27FC236}">
                <a16:creationId xmlns:a16="http://schemas.microsoft.com/office/drawing/2014/main" id="{8C82F734-0D5E-4ED6-809D-140F24678809}"/>
              </a:ext>
            </a:extLst>
          </p:cNvPr>
          <p:cNvSpPr>
            <a:spLocks noGrp="1"/>
          </p:cNvSpPr>
          <p:nvPr/>
        </p:nvSpPr>
        <p:spPr>
          <a:xfrm>
            <a:off x="1943100" y="5191125"/>
            <a:ext cx="2190750" cy="209550"/>
          </a:xfrm>
          <a:prstGeom prst="rect">
            <a:avLst/>
          </a:prstGeom>
          <a:noFill/>
          <a:ln w="0">
            <a:noFill/>
          </a:ln>
        </p:spPr>
        <p:txBody>
          <a:bodyPr lIns="0" tIns="0" rIns="0" bIns="0" anchor="t">
            <a:normAutofit fontScale="96289"/>
          </a:bodyPr>
          <a:lstStyle/>
          <a:p>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Platform or IT lead</a:t>
            </a:r>
          </a:p>
        </p:txBody>
      </p:sp>
      <p:sp>
        <p:nvSpPr>
          <p:cNvPr id="27" name="Rectangle 26">
            <a:extLst>
              <a:ext uri="{FF2B5EF4-FFF2-40B4-BE49-F238E27FC236}">
                <a16:creationId xmlns:a16="http://schemas.microsoft.com/office/drawing/2014/main" id="{D082EFCD-0CEB-4E31-8A98-F84F9749DA44}"/>
              </a:ext>
            </a:extLst>
          </p:cNvPr>
          <p:cNvSpPr>
            <a:spLocks noGrp="1"/>
          </p:cNvSpPr>
          <p:nvPr/>
        </p:nvSpPr>
        <p:spPr>
          <a:xfrm>
            <a:off x="1943100" y="5438775"/>
            <a:ext cx="4381500" cy="209550"/>
          </a:xfrm>
          <a:prstGeom prst="rect">
            <a:avLst/>
          </a:prstGeom>
          <a:noFill/>
          <a:ln w="0">
            <a:noFill/>
          </a:ln>
        </p:spPr>
        <p:txBody>
          <a:bodyPr lIns="0" tIns="0" rIns="0" bIns="0" anchor="t">
            <a:normAutofit/>
          </a:bodyPr>
          <a:lstStyle/>
          <a:p>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Privileged workflows, employee data, uneven security coverage</a:t>
            </a:r>
          </a:p>
        </p:txBody>
      </p:sp>
      <p:sp>
        <p:nvSpPr>
          <p:cNvPr id="28" name="Straight Connector 27">
            <a:extLst>
              <a:ext uri="{FF2B5EF4-FFF2-40B4-BE49-F238E27FC236}">
                <a16:creationId xmlns:a16="http://schemas.microsoft.com/office/drawing/2014/main" id="{41E06AA1-00D0-4C89-9037-B5CFBE2271FA}"/>
              </a:ext>
            </a:extLst>
          </p:cNvPr>
          <p:cNvSpPr>
            <a:spLocks noGrp="1"/>
          </p:cNvSpPr>
          <p:nvPr/>
        </p:nvSpPr>
        <p:spPr>
          <a:xfrm>
            <a:off x="685800" y="5734050"/>
            <a:ext cx="5657850" cy="0"/>
          </a:xfrm>
          <a:prstGeom prst="line">
            <a:avLst/>
          </a:prstGeom>
          <a:noFill/>
          <a:ln w="9525">
            <a:solidFill>
              <a:srgbClr val="DEE1EC"/>
            </a:solidFill>
            <a:prstDash val="solid"/>
          </a:ln>
        </p:spPr>
      </p:sp>
      <p:sp>
        <p:nvSpPr>
          <p:cNvPr id="29" name="Rectangle: Rounded Corners 28">
            <a:extLst>
              <a:ext uri="{FF2B5EF4-FFF2-40B4-BE49-F238E27FC236}">
                <a16:creationId xmlns:a16="http://schemas.microsoft.com/office/drawing/2014/main" id="{737A6117-57FA-42CC-AA77-76EEADEBE3C7}"/>
              </a:ext>
            </a:extLst>
          </p:cNvPr>
          <p:cNvSpPr>
            <a:spLocks noGrp="1"/>
          </p:cNvSpPr>
          <p:nvPr/>
        </p:nvSpPr>
        <p:spPr>
          <a:xfrm>
            <a:off x="7115175" y="1028700"/>
            <a:ext cx="4391025" cy="4762500"/>
          </a:xfrm>
          <a:prstGeom prst="roundRect">
            <a:avLst>
              <a:gd name="adj" fmla="val 5206"/>
            </a:avLst>
          </a:prstGeom>
          <a:solidFill>
            <a:srgbClr val="12131E"/>
          </a:solidFill>
          <a:ln w="0">
            <a:noFill/>
          </a:ln>
        </p:spPr>
      </p:sp>
      <p:sp>
        <p:nvSpPr>
          <p:cNvPr id="30" name="Rectangle 29">
            <a:extLst>
              <a:ext uri="{FF2B5EF4-FFF2-40B4-BE49-F238E27FC236}">
                <a16:creationId xmlns:a16="http://schemas.microsoft.com/office/drawing/2014/main" id="{F58D19A6-C26C-4817-B468-3E52D205B822}"/>
              </a:ext>
            </a:extLst>
          </p:cNvPr>
          <p:cNvSpPr>
            <a:spLocks noGrp="1"/>
          </p:cNvSpPr>
          <p:nvPr/>
        </p:nvSpPr>
        <p:spPr>
          <a:xfrm>
            <a:off x="7505700" y="1438275"/>
            <a:ext cx="2381250" cy="171450"/>
          </a:xfrm>
          <a:prstGeom prst="rect">
            <a:avLst/>
          </a:prstGeom>
          <a:noFill/>
          <a:ln w="0">
            <a:noFill/>
          </a:ln>
        </p:spPr>
        <p:txBody>
          <a:bodyPr lIns="0" tIns="0" rIns="0" bIns="0" anchor="t">
            <a:normAutofit/>
          </a:bodyPr>
          <a:lstStyle/>
          <a:p>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FIRST SALES WEDGE</a:t>
            </a:r>
          </a:p>
        </p:txBody>
      </p:sp>
      <p:sp>
        <p:nvSpPr>
          <p:cNvPr id="31" name="Rectangle 30">
            <a:extLst>
              <a:ext uri="{FF2B5EF4-FFF2-40B4-BE49-F238E27FC236}">
                <a16:creationId xmlns:a16="http://schemas.microsoft.com/office/drawing/2014/main" id="{0A2EF0FF-2F94-4B94-BBAB-E82BB2816410}"/>
              </a:ext>
            </a:extLst>
          </p:cNvPr>
          <p:cNvSpPr>
            <a:spLocks noGrp="1"/>
          </p:cNvSpPr>
          <p:nvPr/>
        </p:nvSpPr>
        <p:spPr>
          <a:xfrm>
            <a:off x="7505700" y="1838325"/>
            <a:ext cx="3143250" cy="628650"/>
          </a:xfrm>
          <a:prstGeom prst="rect">
            <a:avLst/>
          </a:prstGeom>
          <a:noFill/>
          <a:ln w="0">
            <a:noFill/>
          </a:ln>
        </p:spPr>
        <p:txBody>
          <a:bodyPr lIns="0" tIns="0" rIns="0" bIns="0" anchor="t">
            <a:normAutofit fontScale="80882"/>
          </a:bodyPr>
          <a:lstStyle/>
          <a:p>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API-driven</a:t>
            </a:r>
          </a:p>
          <a:p>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multitenant products</a:t>
            </a:r>
          </a:p>
        </p:txBody>
      </p:sp>
      <p:sp>
        <p:nvSpPr>
          <p:cNvPr id="32" name="Rectangle 31">
            <a:extLst>
              <a:ext uri="{FF2B5EF4-FFF2-40B4-BE49-F238E27FC236}">
                <a16:creationId xmlns:a16="http://schemas.microsoft.com/office/drawing/2014/main" id="{B13C510C-7640-4891-A946-5B13D1C07BEF}"/>
              </a:ext>
            </a:extLst>
          </p:cNvPr>
          <p:cNvSpPr>
            <a:spLocks noGrp="1"/>
          </p:cNvSpPr>
          <p:nvPr/>
        </p:nvSpPr>
        <p:spPr>
          <a:xfrm>
            <a:off x="7505700" y="2781300"/>
            <a:ext cx="3171825" cy="809625"/>
          </a:xfrm>
          <a:prstGeom prst="rect">
            <a:avLst/>
          </a:prstGeom>
          <a:noFill/>
          <a:ln w="0">
            <a:noFill/>
          </a:ln>
        </p:spPr>
        <p:txBody>
          <a:bodyPr lIns="0" tIns="0" rIns="0" bIns="0" anchor="t">
            <a:normAutofit fontScale="80639"/>
          </a:bodyPr>
          <a:lstStyle/>
          <a:p>
            <a:pPr algn="l">
              <a:lnSpc>
                <a:spcPct val="122000"/>
              </a:lnSpc>
              <a:buNone/>
              <a:defRPr sz="1350" b="0" i="0">
                <a:solidFill>
                  <a:srgbClr val="C4C9D9"/>
                </a:solidFill>
                <a:latin typeface="Arial"/>
                <a:ea typeface="Arial"/>
                <a:cs typeface="Arial"/>
              </a:defRPr>
            </a:pPr>
            <a:r>
              <a:rPr sz="1350" b="0" i="0">
                <a:solidFill>
                  <a:srgbClr val="C4C9D9"/>
                </a:solidFill>
                <a:latin typeface="Arial"/>
                <a:ea typeface="Arial"/>
                <a:cs typeface="Arial"/>
              </a:rPr>
              <a:t>Start with JavaScript or TypeScript teams that need to demonstrate control over access paths and business logic before they can hire a mature AppSec function.</a:t>
            </a:r>
          </a:p>
        </p:txBody>
      </p:sp>
      <p:sp>
        <p:nvSpPr>
          <p:cNvPr id="33" name="Straight Connector 32">
            <a:extLst>
              <a:ext uri="{FF2B5EF4-FFF2-40B4-BE49-F238E27FC236}">
                <a16:creationId xmlns:a16="http://schemas.microsoft.com/office/drawing/2014/main" id="{8B274399-580F-45A8-BCD8-2411AEDE18C1}"/>
              </a:ext>
            </a:extLst>
          </p:cNvPr>
          <p:cNvSpPr>
            <a:spLocks noGrp="1"/>
          </p:cNvSpPr>
          <p:nvPr/>
        </p:nvSpPr>
        <p:spPr>
          <a:xfrm>
            <a:off x="7505700" y="4000500"/>
            <a:ext cx="3095625" cy="0"/>
          </a:xfrm>
          <a:prstGeom prst="line">
            <a:avLst/>
          </a:prstGeom>
          <a:noFill/>
          <a:ln w="9525">
            <a:solidFill>
              <a:srgbClr val="363A4D"/>
            </a:solidFill>
            <a:prstDash val="solid"/>
          </a:ln>
        </p:spPr>
      </p:sp>
      <p:sp>
        <p:nvSpPr>
          <p:cNvPr id="34" name="Rectangle 33">
            <a:extLst>
              <a:ext uri="{FF2B5EF4-FFF2-40B4-BE49-F238E27FC236}">
                <a16:creationId xmlns:a16="http://schemas.microsoft.com/office/drawing/2014/main" id="{C03AA7C5-823A-4D81-ACCC-97B8748A37DB}"/>
              </a:ext>
            </a:extLst>
          </p:cNvPr>
          <p:cNvSpPr>
            <a:spLocks noGrp="1"/>
          </p:cNvSpPr>
          <p:nvPr/>
        </p:nvSpPr>
        <p:spPr>
          <a:xfrm>
            <a:off x="7505700" y="4286250"/>
            <a:ext cx="1905000" cy="180975"/>
          </a:xfrm>
          <a:prstGeom prst="rect">
            <a:avLst/>
          </a:prstGeom>
          <a:noFill/>
          <a:ln w="0">
            <a:noFill/>
          </a:ln>
        </p:spPr>
        <p:txBody>
          <a:bodyPr lIns="0" tIns="0" rIns="0" bIns="0" anchor="t">
            <a:normAutofit/>
          </a:bodyPr>
          <a:lstStyle/>
          <a:p>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Primary buyer</a:t>
            </a:r>
          </a:p>
        </p:txBody>
      </p:sp>
      <p:sp>
        <p:nvSpPr>
          <p:cNvPr id="35" name="Rectangle 34">
            <a:extLst>
              <a:ext uri="{FF2B5EF4-FFF2-40B4-BE49-F238E27FC236}">
                <a16:creationId xmlns:a16="http://schemas.microsoft.com/office/drawing/2014/main" id="{18B0B1DD-751D-40ED-8F86-A94CC42BBF4C}"/>
              </a:ext>
            </a:extLst>
          </p:cNvPr>
          <p:cNvSpPr>
            <a:spLocks noGrp="1"/>
          </p:cNvSpPr>
          <p:nvPr/>
        </p:nvSpPr>
        <p:spPr>
          <a:xfrm>
            <a:off x="7505700" y="4591050"/>
            <a:ext cx="3048000" cy="228600"/>
          </a:xfrm>
          <a:prstGeom prst="rect">
            <a:avLst/>
          </a:prstGeom>
          <a:noFill/>
          <a:ln w="0">
            <a:noFill/>
          </a:ln>
        </p:spPr>
        <p:txBody>
          <a:bodyPr lIns="0" tIns="0" rIns="0" bIns="0" anchor="t">
            <a:normAutofit fontScale="81681"/>
          </a:bodyPr>
          <a:lstStyle/>
          <a:p>
            <a:pPr algn="l">
              <a:lnSpc>
                <a:spcPct val="112000"/>
              </a:lnSpc>
              <a:buNone/>
              <a:defRPr sz="1350" b="1" i="0">
                <a:solidFill>
                  <a:srgbClr val="FFFFFF"/>
                </a:solidFill>
                <a:latin typeface="Arial"/>
                <a:ea typeface="Arial"/>
                <a:cs typeface="Arial"/>
              </a:defRPr>
            </a:pPr>
            <a:r>
              <a:rPr sz="1350" b="1" i="0">
                <a:solidFill>
                  <a:srgbClr val="FFFFFF"/>
                </a:solidFill>
                <a:latin typeface="Arial"/>
                <a:ea typeface="Arial"/>
                <a:cs typeface="Arial"/>
              </a:rPr>
              <a:t>CTO / VP Engineering / Product Security Lead</a:t>
            </a:r>
          </a:p>
        </p:txBody>
      </p:sp>
      <p:sp>
        <p:nvSpPr>
          <p:cNvPr id="36" name="Rectangle 35">
            <a:extLst>
              <a:ext uri="{FF2B5EF4-FFF2-40B4-BE49-F238E27FC236}">
                <a16:creationId xmlns:a16="http://schemas.microsoft.com/office/drawing/2014/main" id="{1D53F50D-FC95-4274-BDA7-98BC1F5583F0}"/>
              </a:ext>
            </a:extLst>
          </p:cNvPr>
          <p:cNvSpPr>
            <a:spLocks noGrp="1"/>
          </p:cNvSpPr>
          <p:nvPr/>
        </p:nvSpPr>
        <p:spPr>
          <a:xfrm>
            <a:off x="7505700" y="5029200"/>
            <a:ext cx="1809750" cy="171450"/>
          </a:xfrm>
          <a:prstGeom prst="rect">
            <a:avLst/>
          </a:prstGeom>
          <a:noFill/>
          <a:ln w="0">
            <a:noFill/>
          </a:ln>
        </p:spPr>
        <p:txBody>
          <a:bodyPr lIns="0" tIns="0" rIns="0" bIns="0" anchor="t">
            <a:normAutofit fontScale="95663"/>
          </a:bodyPr>
          <a:lstStyle/>
          <a:p>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Value delivered</a:t>
            </a:r>
          </a:p>
        </p:txBody>
      </p:sp>
      <p:sp>
        <p:nvSpPr>
          <p:cNvPr id="37" name="Rectangle 36">
            <a:extLst>
              <a:ext uri="{FF2B5EF4-FFF2-40B4-BE49-F238E27FC236}">
                <a16:creationId xmlns:a16="http://schemas.microsoft.com/office/drawing/2014/main" id="{93E968C8-D1BE-41C9-8713-DD38644135D7}"/>
              </a:ext>
            </a:extLst>
          </p:cNvPr>
          <p:cNvSpPr>
            <a:spLocks noGrp="1"/>
          </p:cNvSpPr>
          <p:nvPr/>
        </p:nvSpPr>
        <p:spPr>
          <a:xfrm>
            <a:off x="7505700" y="5286375"/>
            <a:ext cx="3162300" cy="266700"/>
          </a:xfrm>
          <a:prstGeom prst="rect">
            <a:avLst/>
          </a:prstGeom>
          <a:noFill/>
          <a:ln w="0">
            <a:noFill/>
          </a:ln>
        </p:spPr>
        <p:txBody>
          <a:bodyPr lIns="0" tIns="0" rIns="0" bIns="0" anchor="t">
            <a:normAutofit fontScale="72122"/>
          </a:bodyPr>
          <a:lstStyle/>
          <a:p>
            <a:pPr algn="l">
              <a:lnSpc>
                <a:spcPct val="112000"/>
              </a:lnSpc>
              <a:buNone/>
              <a:defRPr sz="1200" b="0" i="0">
                <a:solidFill>
                  <a:srgbClr val="C4C9D9"/>
                </a:solidFill>
                <a:latin typeface="Arial"/>
                <a:ea typeface="Arial"/>
                <a:cs typeface="Arial"/>
              </a:defRPr>
            </a:pPr>
            <a:r>
              <a:rPr sz="1200" b="0" i="0">
                <a:solidFill>
                  <a:srgbClr val="C4C9D9"/>
                </a:solidFill>
                <a:latin typeface="Arial"/>
                <a:ea typeface="Arial"/>
                <a:cs typeface="Arial"/>
              </a:rPr>
              <a:t>A path from suspicious code to an accountable security decision.</a:t>
            </a:r>
          </a:p>
        </p:txBody>
      </p:sp>
    </p:spTree>
    <p:extLst>
      <p:ext uri="{BB962C8B-B14F-4D97-AF65-F5344CB8AC3E}">
        <p14:creationId xmlns:p14="http://schemas.microsoft.com/office/powerpoint/2010/main" val="1959949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Straight Connector 28">
            <a:extLst>
              <a:ext uri="{FF2B5EF4-FFF2-40B4-BE49-F238E27FC236}">
                <a16:creationId xmlns:a16="http://schemas.microsoft.com/office/drawing/2014/main" id="{3D623E0A-E0D1-4275-834B-E65F79A2C6BF}"/>
              </a:ext>
            </a:extLst>
          </p:cNvPr>
          <p:cNvSpPr>
            <a:spLocks noGrp="1"/>
          </p:cNvSpPr>
          <p:nvPr/>
        </p:nvSpPr>
        <p:spPr>
          <a:xfrm>
            <a:off x="685800" y="6381750"/>
            <a:ext cx="10820400" cy="0"/>
          </a:xfrm>
          <a:prstGeom prst="line">
            <a:avLst/>
          </a:prstGeom>
          <a:noFill/>
          <a:ln w="9525">
            <a:solidFill>
              <a:srgbClr val="DEE1EC"/>
            </a:solidFill>
            <a:prstDash val="solid"/>
          </a:ln>
        </p:spPr>
      </p:sp>
      <p:sp>
        <p:nvSpPr>
          <p:cNvPr id="2" name="Rectangle 1">
            <a:extLst>
              <a:ext uri="{FF2B5EF4-FFF2-40B4-BE49-F238E27FC236}">
                <a16:creationId xmlns:a16="http://schemas.microsoft.com/office/drawing/2014/main" id="{2DF30340-22D9-45E4-92D8-D6A19C1F4CEF}"/>
              </a:ext>
            </a:extLst>
          </p:cNvPr>
          <p:cNvSpPr>
            <a:spLocks noGrp="1"/>
          </p:cNvSpPr>
          <p:nvPr/>
        </p:nvSpPr>
        <p:spPr>
          <a:xfrm>
            <a:off x="685800" y="6534150"/>
            <a:ext cx="4286250" cy="142875"/>
          </a:xfrm>
          <a:prstGeom prst="rect">
            <a:avLst/>
          </a:prstGeom>
          <a:noFill/>
          <a:ln w="0">
            <a:noFill/>
          </a:ln>
        </p:spPr>
        <p:txBody>
          <a:bodyPr lIns="0" tIns="0" rIns="0" bIns="0" anchor="t">
            <a:normAutofit/>
          </a:bodyPr>
          <a:lstStyle/>
          <a:p>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Rectangle 2">
            <a:extLst>
              <a:ext uri="{FF2B5EF4-FFF2-40B4-BE49-F238E27FC236}">
                <a16:creationId xmlns:a16="http://schemas.microsoft.com/office/drawing/2014/main" id="{BCD62630-1B6C-4A5E-A16D-E7AAC55669A2}"/>
              </a:ext>
            </a:extLst>
          </p:cNvPr>
          <p:cNvSpPr>
            <a:spLocks noGrp="1"/>
          </p:cNvSpPr>
          <p:nvPr/>
        </p:nvSpPr>
        <p:spPr>
          <a:xfrm>
            <a:off x="4286250" y="6534150"/>
            <a:ext cx="6191250" cy="142875"/>
          </a:xfrm>
          <a:prstGeom prst="rect">
            <a:avLst/>
          </a:prstGeom>
          <a:noFill/>
          <a:ln w="0">
            <a:noFill/>
          </a:ln>
        </p:spPr>
        <p:txBody>
          <a:bodyPr lIns="0" tIns="0" rIns="0" bIns="0" anchor="t">
            <a:normAutofit/>
          </a:bodyPr>
          <a:lstStyle/>
          <a:p>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docs/ROADMAP.md and docs/INVARIANT_ENGINE.md</a:t>
            </a:r>
          </a:p>
        </p:txBody>
      </p:sp>
      <p:sp>
        <p:nvSpPr>
          <p:cNvPr id="4" name="Rectangle 3">
            <a:extLst>
              <a:ext uri="{FF2B5EF4-FFF2-40B4-BE49-F238E27FC236}">
                <a16:creationId xmlns:a16="http://schemas.microsoft.com/office/drawing/2014/main" id="{A612D792-26C4-4C97-A917-89F32B37D0C7}"/>
              </a:ext>
            </a:extLst>
          </p:cNvPr>
          <p:cNvSpPr>
            <a:spLocks noGrp="1"/>
          </p:cNvSpPr>
          <p:nvPr/>
        </p:nvSpPr>
        <p:spPr>
          <a:xfrm>
            <a:off x="10858500" y="6515100"/>
            <a:ext cx="647700" cy="171450"/>
          </a:xfrm>
          <a:prstGeom prst="rect">
            <a:avLst/>
          </a:prstGeom>
          <a:noFill/>
          <a:ln w="0">
            <a:noFill/>
          </a:ln>
        </p:spPr>
        <p:txBody>
          <a:bodyPr lIns="0" tIns="0" rIns="0" bIns="0" anchor="t">
            <a:normAutofit/>
          </a:bodyPr>
          <a:lstStyle/>
          <a:p>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08</a:t>
            </a:r>
          </a:p>
        </p:txBody>
      </p:sp>
      <p:sp>
        <p:nvSpPr>
          <p:cNvPr id="5" name="Rectangle: Rounded Corners 4">
            <a:extLst>
              <a:ext uri="{FF2B5EF4-FFF2-40B4-BE49-F238E27FC236}">
                <a16:creationId xmlns:a16="http://schemas.microsoft.com/office/drawing/2014/main" id="{72130970-8B76-410A-985B-8516196EEBBE}"/>
              </a:ext>
            </a:extLst>
          </p:cNvPr>
          <p:cNvSpPr>
            <a:spLocks noGrp="1"/>
          </p:cNvSpPr>
          <p:nvPr/>
        </p:nvSpPr>
        <p:spPr>
          <a:xfrm>
            <a:off x="685800" y="514350"/>
            <a:ext cx="2714625" cy="266700"/>
          </a:xfrm>
          <a:prstGeom prst="roundRect">
            <a:avLst>
              <a:gd name="adj" fmla="val 50000"/>
            </a:avLst>
          </a:prstGeom>
          <a:solidFill>
            <a:srgbClr val="F1F0FF"/>
          </a:solidFill>
          <a:ln w="0">
            <a:noFill/>
          </a:ln>
        </p:spPr>
      </p:sp>
      <p:sp>
        <p:nvSpPr>
          <p:cNvPr id="6" name="Rectangle 5">
            <a:extLst>
              <a:ext uri="{FF2B5EF4-FFF2-40B4-BE49-F238E27FC236}">
                <a16:creationId xmlns:a16="http://schemas.microsoft.com/office/drawing/2014/main" id="{183BBB61-1371-41FF-88F5-CFDB1A3791C3}"/>
              </a:ext>
            </a:extLst>
          </p:cNvPr>
          <p:cNvSpPr>
            <a:spLocks noGrp="1"/>
          </p:cNvSpPr>
          <p:nvPr/>
        </p:nvSpPr>
        <p:spPr>
          <a:xfrm>
            <a:off x="781050" y="571500"/>
            <a:ext cx="2524125" cy="152400"/>
          </a:xfrm>
          <a:prstGeom prst="rect">
            <a:avLst/>
          </a:prstGeom>
          <a:noFill/>
          <a:ln w="0">
            <a:noFill/>
          </a:ln>
        </p:spPr>
        <p:txBody>
          <a:bodyPr lIns="0" tIns="0" rIns="0" bIns="0" anchor="t">
            <a:normAutofit/>
          </a:bodyPr>
          <a:lstStyle/>
          <a:p>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DEVELOPMENT STAGES &amp; FUTURE SCOPE</a:t>
            </a:r>
          </a:p>
        </p:txBody>
      </p:sp>
      <p:sp>
        <p:nvSpPr>
          <p:cNvPr id="7" name="Rectangle 6">
            <a:extLst>
              <a:ext uri="{FF2B5EF4-FFF2-40B4-BE49-F238E27FC236}">
                <a16:creationId xmlns:a16="http://schemas.microsoft.com/office/drawing/2014/main" id="{324C1814-9586-47BE-AD27-7D9C8EF2DC70}"/>
              </a:ext>
            </a:extLst>
          </p:cNvPr>
          <p:cNvSpPr>
            <a:spLocks noGrp="1"/>
          </p:cNvSpPr>
          <p:nvPr/>
        </p:nvSpPr>
        <p:spPr>
          <a:xfrm>
            <a:off x="685800" y="1000125"/>
            <a:ext cx="6810375" cy="885825"/>
          </a:xfrm>
          <a:prstGeom prst="rect">
            <a:avLst/>
          </a:prstGeom>
          <a:noFill/>
          <a:ln w="0">
            <a:noFill/>
          </a:ln>
        </p:spPr>
        <p:txBody>
          <a:bodyPr lIns="0" tIns="0" rIns="0" bIns="0" anchor="t">
            <a:normAutofit fontScale="90116"/>
          </a:bodyPr>
          <a:lstStyle/>
          <a:p>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The path from a working engine</a:t>
            </a:r>
          </a:p>
          <a:p>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to trusted security coverage</a:t>
            </a:r>
          </a:p>
        </p:txBody>
      </p:sp>
      <p:sp>
        <p:nvSpPr>
          <p:cNvPr id="8" name="Rectangle 7">
            <a:extLst>
              <a:ext uri="{FF2B5EF4-FFF2-40B4-BE49-F238E27FC236}">
                <a16:creationId xmlns:a16="http://schemas.microsoft.com/office/drawing/2014/main" id="{CC1468BC-A801-4F9E-A468-FD124C6958D9}"/>
              </a:ext>
            </a:extLst>
          </p:cNvPr>
          <p:cNvSpPr>
            <a:spLocks noGrp="1"/>
          </p:cNvSpPr>
          <p:nvPr/>
        </p:nvSpPr>
        <p:spPr>
          <a:xfrm>
            <a:off x="685800" y="2105025"/>
            <a:ext cx="6858000" cy="285750"/>
          </a:xfrm>
          <a:prstGeom prst="rect">
            <a:avLst/>
          </a:prstGeom>
          <a:noFill/>
          <a:ln w="0">
            <a:noFill/>
          </a:ln>
        </p:spPr>
        <p:txBody>
          <a:bodyPr lIns="0" tIns="0" rIns="0" bIns="0" anchor="t">
            <a:normAutofit fontScale="84339"/>
          </a:bodyPr>
          <a:lstStyle/>
          <a:p>
            <a:pPr algn="l">
              <a:lnSpc>
                <a:spcPct val="112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roadmap prioritizes measurable accuracy and clear coverage boundaries before product breadth.</a:t>
            </a:r>
          </a:p>
        </p:txBody>
      </p:sp>
      <p:sp>
        <p:nvSpPr>
          <p:cNvPr id="9" name="Rectangle: Rounded Corners 8">
            <a:extLst>
              <a:ext uri="{FF2B5EF4-FFF2-40B4-BE49-F238E27FC236}">
                <a16:creationId xmlns:a16="http://schemas.microsoft.com/office/drawing/2014/main" id="{2B7D1DB9-6771-4F6D-AF17-BA6EDB81174E}"/>
              </a:ext>
            </a:extLst>
          </p:cNvPr>
          <p:cNvSpPr>
            <a:spLocks noGrp="1"/>
          </p:cNvSpPr>
          <p:nvPr/>
        </p:nvSpPr>
        <p:spPr>
          <a:xfrm>
            <a:off x="685800" y="2839610"/>
            <a:ext cx="3238500" cy="2181225"/>
          </a:xfrm>
          <a:prstGeom prst="roundRect">
            <a:avLst>
              <a:gd name="adj" fmla="val 6987"/>
            </a:avLst>
          </a:prstGeom>
          <a:solidFill>
            <a:srgbClr val="F1F0FF"/>
          </a:solidFill>
          <a:ln w="9525">
            <a:solidFill>
              <a:srgbClr val="DEE1EC"/>
            </a:solidFill>
            <a:prstDash val="solid"/>
          </a:ln>
        </p:spPr>
      </p:sp>
      <p:sp>
        <p:nvSpPr>
          <p:cNvPr id="10" name="Rectangle: Rounded Corners 9">
            <a:extLst>
              <a:ext uri="{FF2B5EF4-FFF2-40B4-BE49-F238E27FC236}">
                <a16:creationId xmlns:a16="http://schemas.microsoft.com/office/drawing/2014/main" id="{7220F9C9-6C40-4873-8D83-C6D20ADD5368}"/>
              </a:ext>
            </a:extLst>
          </p:cNvPr>
          <p:cNvSpPr>
            <a:spLocks noGrp="1"/>
          </p:cNvSpPr>
          <p:nvPr/>
        </p:nvSpPr>
        <p:spPr>
          <a:xfrm>
            <a:off x="914400" y="3068210"/>
            <a:ext cx="723900" cy="266700"/>
          </a:xfrm>
          <a:prstGeom prst="roundRect">
            <a:avLst>
              <a:gd name="adj" fmla="val 50000"/>
            </a:avLst>
          </a:prstGeom>
          <a:solidFill>
            <a:srgbClr val="F1F0FF"/>
          </a:solidFill>
          <a:ln w="0">
            <a:noFill/>
          </a:ln>
        </p:spPr>
      </p:sp>
      <p:sp>
        <p:nvSpPr>
          <p:cNvPr id="11" name="Rectangle 10">
            <a:extLst>
              <a:ext uri="{FF2B5EF4-FFF2-40B4-BE49-F238E27FC236}">
                <a16:creationId xmlns:a16="http://schemas.microsoft.com/office/drawing/2014/main" id="{B43BCB3F-4FE3-4326-85A4-046765A92FD9}"/>
              </a:ext>
            </a:extLst>
          </p:cNvPr>
          <p:cNvSpPr>
            <a:spLocks noGrp="1"/>
          </p:cNvSpPr>
          <p:nvPr/>
        </p:nvSpPr>
        <p:spPr>
          <a:xfrm>
            <a:off x="1009650" y="3125360"/>
            <a:ext cx="533400" cy="152400"/>
          </a:xfrm>
          <a:prstGeom prst="rect">
            <a:avLst/>
          </a:prstGeom>
          <a:noFill/>
          <a:ln w="0">
            <a:noFill/>
          </a:ln>
        </p:spPr>
        <p:txBody>
          <a:bodyPr lIns="0" tIns="0" rIns="0" bIns="0" anchor="t">
            <a:normAutofit/>
          </a:bodyPr>
          <a:lstStyle/>
          <a:p>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NOW</a:t>
            </a:r>
          </a:p>
        </p:txBody>
      </p:sp>
      <p:sp>
        <p:nvSpPr>
          <p:cNvPr id="12" name="Rectangle 11">
            <a:extLst>
              <a:ext uri="{FF2B5EF4-FFF2-40B4-BE49-F238E27FC236}">
                <a16:creationId xmlns:a16="http://schemas.microsoft.com/office/drawing/2014/main" id="{CE5E2603-6EB7-44B6-9131-4362B25CD9D0}"/>
              </a:ext>
            </a:extLst>
          </p:cNvPr>
          <p:cNvSpPr>
            <a:spLocks noGrp="1"/>
          </p:cNvSpPr>
          <p:nvPr/>
        </p:nvSpPr>
        <p:spPr>
          <a:xfrm>
            <a:off x="914400" y="3525410"/>
            <a:ext cx="2724150" cy="266700"/>
          </a:xfrm>
          <a:prstGeom prst="rect">
            <a:avLst/>
          </a:prstGeom>
          <a:noFill/>
          <a:ln w="0">
            <a:noFill/>
          </a:ln>
        </p:spPr>
        <p:txBody>
          <a:bodyPr lIns="0" tIns="0" rIns="0" bIns="0" anchor="t">
            <a:normAutofit fontScale="94697"/>
          </a:bodyPr>
          <a:lstStyle/>
          <a:p>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Vertical slice</a:t>
            </a:r>
          </a:p>
        </p:txBody>
      </p:sp>
      <p:sp>
        <p:nvSpPr>
          <p:cNvPr id="13" name="Rectangle 12">
            <a:extLst>
              <a:ext uri="{FF2B5EF4-FFF2-40B4-BE49-F238E27FC236}">
                <a16:creationId xmlns:a16="http://schemas.microsoft.com/office/drawing/2014/main" id="{5FAC67C3-B0EB-4662-B882-EB2C695EF0ED}"/>
              </a:ext>
            </a:extLst>
          </p:cNvPr>
          <p:cNvSpPr>
            <a:spLocks noGrp="1"/>
          </p:cNvSpPr>
          <p:nvPr/>
        </p:nvSpPr>
        <p:spPr>
          <a:xfrm>
            <a:off x="914400" y="3963560"/>
            <a:ext cx="2724150" cy="704850"/>
          </a:xfrm>
          <a:prstGeom prst="rect">
            <a:avLst/>
          </a:prstGeom>
          <a:noFill/>
          <a:ln w="0">
            <a:noFill/>
          </a:ln>
        </p:spPr>
        <p:txBody>
          <a:bodyPr lIns="0" tIns="0" rIns="0" bIns="0" anchor="t">
            <a:normAutofit fontScale="88978" lnSpcReduction="20000"/>
          </a:bodyPr>
          <a:lstStyle/>
          <a:p>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JS/TS Express parsing; BOLA, sensitive business-flow, injection and credential hypotheses; decision ledger; review workflow</a:t>
            </a:r>
          </a:p>
        </p:txBody>
      </p:sp>
      <p:sp>
        <p:nvSpPr>
          <p:cNvPr id="14" name="Rectangle: Rounded Corners 13">
            <a:extLst>
              <a:ext uri="{FF2B5EF4-FFF2-40B4-BE49-F238E27FC236}">
                <a16:creationId xmlns:a16="http://schemas.microsoft.com/office/drawing/2014/main" id="{3FF205FA-C4A8-475B-AE04-CBB9661D2501}"/>
              </a:ext>
            </a:extLst>
          </p:cNvPr>
          <p:cNvSpPr>
            <a:spLocks noGrp="1"/>
          </p:cNvSpPr>
          <p:nvPr/>
        </p:nvSpPr>
        <p:spPr>
          <a:xfrm>
            <a:off x="4324350" y="2839610"/>
            <a:ext cx="3238500" cy="2181225"/>
          </a:xfrm>
          <a:prstGeom prst="roundRect">
            <a:avLst>
              <a:gd name="adj" fmla="val 6987"/>
            </a:avLst>
          </a:prstGeom>
          <a:solidFill>
            <a:srgbClr val="FFF3E4"/>
          </a:solidFill>
          <a:ln w="9525">
            <a:solidFill>
              <a:srgbClr val="DEE1EC"/>
            </a:solidFill>
            <a:prstDash val="solid"/>
          </a:ln>
        </p:spPr>
      </p:sp>
      <p:sp>
        <p:nvSpPr>
          <p:cNvPr id="15" name="Rectangle: Rounded Corners 14">
            <a:extLst>
              <a:ext uri="{FF2B5EF4-FFF2-40B4-BE49-F238E27FC236}">
                <a16:creationId xmlns:a16="http://schemas.microsoft.com/office/drawing/2014/main" id="{717FBC47-26E9-4A50-99D2-486CFD51EA80}"/>
              </a:ext>
            </a:extLst>
          </p:cNvPr>
          <p:cNvSpPr>
            <a:spLocks noGrp="1"/>
          </p:cNvSpPr>
          <p:nvPr/>
        </p:nvSpPr>
        <p:spPr>
          <a:xfrm>
            <a:off x="4552950" y="3068210"/>
            <a:ext cx="723900" cy="266700"/>
          </a:xfrm>
          <a:prstGeom prst="roundRect">
            <a:avLst>
              <a:gd name="adj" fmla="val 50000"/>
            </a:avLst>
          </a:prstGeom>
          <a:solidFill>
            <a:srgbClr val="FFF3E4"/>
          </a:solidFill>
          <a:ln w="0">
            <a:noFill/>
          </a:ln>
        </p:spPr>
      </p:sp>
      <p:sp>
        <p:nvSpPr>
          <p:cNvPr id="16" name="Rectangle 15">
            <a:extLst>
              <a:ext uri="{FF2B5EF4-FFF2-40B4-BE49-F238E27FC236}">
                <a16:creationId xmlns:a16="http://schemas.microsoft.com/office/drawing/2014/main" id="{36087DCF-3D4F-47CA-A2C1-FEB32CD279BB}"/>
              </a:ext>
            </a:extLst>
          </p:cNvPr>
          <p:cNvSpPr>
            <a:spLocks noGrp="1"/>
          </p:cNvSpPr>
          <p:nvPr/>
        </p:nvSpPr>
        <p:spPr>
          <a:xfrm>
            <a:off x="4648200" y="3125360"/>
            <a:ext cx="533400" cy="152400"/>
          </a:xfrm>
          <a:prstGeom prst="rect">
            <a:avLst/>
          </a:prstGeom>
          <a:noFill/>
          <a:ln w="0">
            <a:noFill/>
          </a:ln>
        </p:spPr>
        <p:txBody>
          <a:bodyPr lIns="0" tIns="0" rIns="0" bIns="0" anchor="t">
            <a:normAutofit/>
          </a:bodyPr>
          <a:lstStyle/>
          <a:p>
            <a:pPr algn="ctr">
              <a:lnSpc>
                <a:spcPct val="112000"/>
              </a:lnSpc>
              <a:buNone/>
              <a:defRPr sz="825" b="1" i="0">
                <a:solidFill>
                  <a:srgbClr val="C36A12"/>
                </a:solidFill>
                <a:latin typeface="Arial"/>
                <a:ea typeface="Arial"/>
                <a:cs typeface="Arial"/>
              </a:defRPr>
            </a:pPr>
            <a:r>
              <a:rPr sz="825" b="1" i="0">
                <a:solidFill>
                  <a:srgbClr val="C36A12"/>
                </a:solidFill>
                <a:latin typeface="Arial"/>
                <a:ea typeface="Arial"/>
                <a:cs typeface="Arial"/>
              </a:rPr>
              <a:t>NEXT</a:t>
            </a:r>
          </a:p>
        </p:txBody>
      </p:sp>
      <p:sp>
        <p:nvSpPr>
          <p:cNvPr id="17" name="Rectangle 16">
            <a:extLst>
              <a:ext uri="{FF2B5EF4-FFF2-40B4-BE49-F238E27FC236}">
                <a16:creationId xmlns:a16="http://schemas.microsoft.com/office/drawing/2014/main" id="{F180BE74-CFCB-4A97-ACDA-736FE2659103}"/>
              </a:ext>
            </a:extLst>
          </p:cNvPr>
          <p:cNvSpPr>
            <a:spLocks noGrp="1"/>
          </p:cNvSpPr>
          <p:nvPr/>
        </p:nvSpPr>
        <p:spPr>
          <a:xfrm>
            <a:off x="4552950" y="3525410"/>
            <a:ext cx="2724150" cy="266700"/>
          </a:xfrm>
          <a:prstGeom prst="rect">
            <a:avLst/>
          </a:prstGeom>
          <a:noFill/>
          <a:ln w="0">
            <a:noFill/>
          </a:ln>
        </p:spPr>
        <p:txBody>
          <a:bodyPr lIns="0" tIns="0" rIns="0" bIns="0" anchor="t">
            <a:normAutofit fontScale="94697"/>
          </a:bodyPr>
          <a:lstStyle/>
          <a:p>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Stronger policy verification</a:t>
            </a:r>
          </a:p>
        </p:txBody>
      </p:sp>
      <p:sp>
        <p:nvSpPr>
          <p:cNvPr id="18" name="Rectangle 17">
            <a:extLst>
              <a:ext uri="{FF2B5EF4-FFF2-40B4-BE49-F238E27FC236}">
                <a16:creationId xmlns:a16="http://schemas.microsoft.com/office/drawing/2014/main" id="{C90106F5-4DDE-47A1-A9AD-9A5CB33067AA}"/>
              </a:ext>
            </a:extLst>
          </p:cNvPr>
          <p:cNvSpPr>
            <a:spLocks noGrp="1"/>
          </p:cNvSpPr>
          <p:nvPr/>
        </p:nvSpPr>
        <p:spPr>
          <a:xfrm>
            <a:off x="4552950" y="3963560"/>
            <a:ext cx="2724150" cy="704850"/>
          </a:xfrm>
          <a:prstGeom prst="rect">
            <a:avLst/>
          </a:prstGeom>
          <a:noFill/>
          <a:ln w="0">
            <a:noFill/>
          </a:ln>
        </p:spPr>
        <p:txBody>
          <a:bodyPr lIns="0" tIns="0" rIns="0" bIns="0" anchor="t">
            <a:normAutofit fontScale="92684"/>
          </a:bodyPr>
          <a:lstStyle/>
          <a:p>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Typed actor and tenant policies; framework and ORM adapters; call/return propagation; dominance-aware authorization</a:t>
            </a:r>
          </a:p>
        </p:txBody>
      </p:sp>
      <p:sp>
        <p:nvSpPr>
          <p:cNvPr id="19" name="Rectangle: Rounded Corners 18">
            <a:extLst>
              <a:ext uri="{FF2B5EF4-FFF2-40B4-BE49-F238E27FC236}">
                <a16:creationId xmlns:a16="http://schemas.microsoft.com/office/drawing/2014/main" id="{E68D6377-7AEF-4B93-A8C7-0C512601297F}"/>
              </a:ext>
            </a:extLst>
          </p:cNvPr>
          <p:cNvSpPr>
            <a:spLocks noGrp="1"/>
          </p:cNvSpPr>
          <p:nvPr/>
        </p:nvSpPr>
        <p:spPr>
          <a:xfrm>
            <a:off x="7962900" y="2839610"/>
            <a:ext cx="3238500" cy="2181225"/>
          </a:xfrm>
          <a:prstGeom prst="roundRect">
            <a:avLst>
              <a:gd name="adj" fmla="val 6987"/>
            </a:avLst>
          </a:prstGeom>
          <a:solidFill>
            <a:srgbClr val="E7F7F4"/>
          </a:solidFill>
          <a:ln w="9525">
            <a:solidFill>
              <a:srgbClr val="DEE1EC"/>
            </a:solidFill>
            <a:prstDash val="solid"/>
          </a:ln>
        </p:spPr>
      </p:sp>
      <p:sp>
        <p:nvSpPr>
          <p:cNvPr id="20" name="Rectangle: Rounded Corners 19">
            <a:extLst>
              <a:ext uri="{FF2B5EF4-FFF2-40B4-BE49-F238E27FC236}">
                <a16:creationId xmlns:a16="http://schemas.microsoft.com/office/drawing/2014/main" id="{FFAD5E54-BEF8-4A6A-B6F5-16F971C8E616}"/>
              </a:ext>
            </a:extLst>
          </p:cNvPr>
          <p:cNvSpPr>
            <a:spLocks noGrp="1"/>
          </p:cNvSpPr>
          <p:nvPr/>
        </p:nvSpPr>
        <p:spPr>
          <a:xfrm>
            <a:off x="8191500" y="3068210"/>
            <a:ext cx="723900" cy="266700"/>
          </a:xfrm>
          <a:prstGeom prst="roundRect">
            <a:avLst>
              <a:gd name="adj" fmla="val 50000"/>
            </a:avLst>
          </a:prstGeom>
          <a:solidFill>
            <a:srgbClr val="E7F7F4"/>
          </a:solidFill>
          <a:ln w="0">
            <a:noFill/>
          </a:ln>
        </p:spPr>
      </p:sp>
      <p:sp>
        <p:nvSpPr>
          <p:cNvPr id="21" name="Rectangle 20">
            <a:extLst>
              <a:ext uri="{FF2B5EF4-FFF2-40B4-BE49-F238E27FC236}">
                <a16:creationId xmlns:a16="http://schemas.microsoft.com/office/drawing/2014/main" id="{4920FE9B-15FE-45F5-8966-20186C16FD98}"/>
              </a:ext>
            </a:extLst>
          </p:cNvPr>
          <p:cNvSpPr>
            <a:spLocks noGrp="1"/>
          </p:cNvSpPr>
          <p:nvPr/>
        </p:nvSpPr>
        <p:spPr>
          <a:xfrm>
            <a:off x="8286750" y="3125360"/>
            <a:ext cx="533400" cy="152400"/>
          </a:xfrm>
          <a:prstGeom prst="rect">
            <a:avLst/>
          </a:prstGeom>
          <a:noFill/>
          <a:ln w="0">
            <a:noFill/>
          </a:ln>
        </p:spPr>
        <p:txBody>
          <a:bodyPr lIns="0" tIns="0" rIns="0" bIns="0" anchor="t">
            <a:normAutofit/>
          </a:bodyPr>
          <a:lstStyle/>
          <a:p>
            <a:pPr algn="ctr">
              <a:lnSpc>
                <a:spcPct val="112000"/>
              </a:lnSpc>
              <a:buNone/>
              <a:defRPr sz="825" b="1" i="0">
                <a:solidFill>
                  <a:srgbClr val="087A71"/>
                </a:solidFill>
                <a:latin typeface="Arial"/>
                <a:ea typeface="Arial"/>
                <a:cs typeface="Arial"/>
              </a:defRPr>
            </a:pPr>
            <a:r>
              <a:rPr sz="825" b="1" i="0">
                <a:solidFill>
                  <a:srgbClr val="087A71"/>
                </a:solidFill>
                <a:latin typeface="Arial"/>
                <a:ea typeface="Arial"/>
                <a:cs typeface="Arial"/>
              </a:rPr>
              <a:t>THEN</a:t>
            </a:r>
          </a:p>
        </p:txBody>
      </p:sp>
      <p:sp>
        <p:nvSpPr>
          <p:cNvPr id="22" name="Rectangle 21">
            <a:extLst>
              <a:ext uri="{FF2B5EF4-FFF2-40B4-BE49-F238E27FC236}">
                <a16:creationId xmlns:a16="http://schemas.microsoft.com/office/drawing/2014/main" id="{481399A3-6C18-4D01-A211-03FF53A2D035}"/>
              </a:ext>
            </a:extLst>
          </p:cNvPr>
          <p:cNvSpPr>
            <a:spLocks noGrp="1"/>
          </p:cNvSpPr>
          <p:nvPr/>
        </p:nvSpPr>
        <p:spPr>
          <a:xfrm>
            <a:off x="8191500" y="3525410"/>
            <a:ext cx="2724150" cy="266700"/>
          </a:xfrm>
          <a:prstGeom prst="rect">
            <a:avLst/>
          </a:prstGeom>
          <a:noFill/>
          <a:ln w="0">
            <a:noFill/>
          </a:ln>
        </p:spPr>
        <p:txBody>
          <a:bodyPr lIns="0" tIns="0" rIns="0" bIns="0" anchor="t">
            <a:normAutofit fontScale="94697"/>
          </a:bodyPr>
          <a:lstStyle/>
          <a:p>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Workflow and validation</a:t>
            </a:r>
          </a:p>
        </p:txBody>
      </p:sp>
      <p:sp>
        <p:nvSpPr>
          <p:cNvPr id="23" name="Rectangle 22">
            <a:extLst>
              <a:ext uri="{FF2B5EF4-FFF2-40B4-BE49-F238E27FC236}">
                <a16:creationId xmlns:a16="http://schemas.microsoft.com/office/drawing/2014/main" id="{380FF3CF-33EB-42EB-BC1D-96F4FD5271CE}"/>
              </a:ext>
            </a:extLst>
          </p:cNvPr>
          <p:cNvSpPr>
            <a:spLocks noGrp="1"/>
          </p:cNvSpPr>
          <p:nvPr/>
        </p:nvSpPr>
        <p:spPr>
          <a:xfrm>
            <a:off x="8191500" y="3963560"/>
            <a:ext cx="2724150" cy="704850"/>
          </a:xfrm>
          <a:prstGeom prst="rect">
            <a:avLst/>
          </a:prstGeom>
          <a:noFill/>
          <a:ln w="0">
            <a:noFill/>
          </a:ln>
        </p:spPr>
        <p:txBody>
          <a:bodyPr lIns="0" tIns="0" rIns="0" bIns="0" anchor="t">
            <a:normAutofit fontScale="88916" lnSpcReduction="20000"/>
          </a:bodyPr>
          <a:lstStyle/>
          <a:p>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Multi-step state transitions; held-out evaluation; approved sandbox validation; remediation proposals and incremental scans</a:t>
            </a:r>
          </a:p>
        </p:txBody>
      </p:sp>
      <p:cxnSp>
        <p:nvCxnSpPr>
          <p:cNvPr id="52" name="Straight Arrow Connector 51"/>
          <p:cNvCxnSpPr>
            <a:stCxn id="9" idx="3"/>
            <a:endCxn id="14" idx="1"/>
          </p:cNvCxnSpPr>
          <p:nvPr/>
        </p:nvCxnSpPr>
        <p:spPr>
          <a:xfrm>
            <a:off x="3924300" y="3930223"/>
            <a:ext cx="400050" cy="0"/>
          </a:xfrm>
          <a:prstGeom prst="straightConnector1">
            <a:avLst/>
          </a:prstGeom>
          <a:ln w="19050">
            <a:solidFill>
              <a:srgbClr val="7C71FF"/>
            </a:solidFill>
            <a:prstDash val="solid"/>
            <a:tailEnd type="triangle" w="sm" len="sm"/>
          </a:ln>
        </p:spPr>
      </p:cxnSp>
      <p:cxnSp>
        <p:nvCxnSpPr>
          <p:cNvPr id="53" name="Straight Arrow Connector 52"/>
          <p:cNvCxnSpPr>
            <a:stCxn id="14" idx="3"/>
            <a:endCxn id="19" idx="1"/>
          </p:cNvCxnSpPr>
          <p:nvPr/>
        </p:nvCxnSpPr>
        <p:spPr>
          <a:xfrm>
            <a:off x="7562850" y="3930223"/>
            <a:ext cx="400050" cy="0"/>
          </a:xfrm>
          <a:prstGeom prst="straightConnector1">
            <a:avLst/>
          </a:prstGeom>
          <a:ln w="19050">
            <a:solidFill>
              <a:srgbClr val="7C71FF"/>
            </a:solidFill>
            <a:prstDash val="solid"/>
            <a:tailEnd type="triangle" w="sm" len="sm"/>
          </a:ln>
        </p:spPr>
      </p:cxnSp>
      <p:sp>
        <p:nvSpPr>
          <p:cNvPr id="26" name="Rectangle 25">
            <a:extLst>
              <a:ext uri="{FF2B5EF4-FFF2-40B4-BE49-F238E27FC236}">
                <a16:creationId xmlns:a16="http://schemas.microsoft.com/office/drawing/2014/main" id="{EDDDEFC9-A0EE-4C76-B371-E2217BE5A90E}"/>
              </a:ext>
            </a:extLst>
          </p:cNvPr>
          <p:cNvSpPr>
            <a:spLocks noGrp="1"/>
          </p:cNvSpPr>
          <p:nvPr/>
        </p:nvSpPr>
        <p:spPr>
          <a:xfrm>
            <a:off x="685800" y="5619750"/>
            <a:ext cx="9505950" cy="295275"/>
          </a:xfrm>
          <a:prstGeom prst="rect">
            <a:avLst/>
          </a:prstGeom>
          <a:noFill/>
          <a:ln w="0">
            <a:noFill/>
          </a:ln>
        </p:spPr>
        <p:txBody>
          <a:bodyPr lIns="0" tIns="0" rIns="0" bIns="0" anchor="t">
            <a:normAutofit fontScale="74925"/>
          </a:bodyPr>
          <a:lstStyle/>
          <a:p>
            <a:pPr algn="l">
              <a:lnSpc>
                <a:spcPct val="118000"/>
              </a:lnSpc>
              <a:buNone/>
              <a:defRPr sz="1350" b="1" i="0">
                <a:solidFill>
                  <a:srgbClr val="121522"/>
                </a:solidFill>
                <a:latin typeface="Arial"/>
                <a:ea typeface="Arial"/>
                <a:cs typeface="Arial"/>
              </a:defRPr>
            </a:pPr>
            <a:r>
              <a:rPr sz="1350" b="1" i="0">
                <a:solidFill>
                  <a:srgbClr val="121522"/>
                </a:solidFill>
                <a:latin typeface="Arial"/>
                <a:ea typeface="Arial"/>
                <a:cs typeface="Arial"/>
              </a:rPr>
              <a:t>Review focus: the next proof point is a frozen evaluation set showing where the engine reports correctly, where it does not, and what remains unsupported.</a:t>
            </a:r>
          </a:p>
        </p:txBody>
      </p:sp>
      <p:sp>
        <p:nvSpPr>
          <p:cNvPr id="27" name="Rectangle 26">
            <a:extLst>
              <a:ext uri="{FF2B5EF4-FFF2-40B4-BE49-F238E27FC236}">
                <a16:creationId xmlns:a16="http://schemas.microsoft.com/office/drawing/2014/main" id="{914197E2-8A97-45F3-9975-483BA87EC166}"/>
              </a:ext>
            </a:extLst>
          </p:cNvPr>
          <p:cNvSpPr>
            <a:spLocks noGrp="1"/>
          </p:cNvSpPr>
          <p:nvPr/>
        </p:nvSpPr>
        <p:spPr>
          <a:xfrm>
            <a:off x="685800" y="6076950"/>
            <a:ext cx="1104900" cy="200025"/>
          </a:xfrm>
          <a:prstGeom prst="rect">
            <a:avLst/>
          </a:prstGeom>
          <a:noFill/>
          <a:ln w="0">
            <a:noFill/>
          </a:ln>
        </p:spPr>
        <p:txBody>
          <a:bodyPr lIns="0" tIns="0" rIns="0" bIns="0" anchor="t">
            <a:normAutofit fontScale="82237"/>
          </a:bodyPr>
          <a:lstStyle/>
          <a:p>
            <a:pPr algn="l">
              <a:lnSpc>
                <a:spcPct val="112000"/>
              </a:lnSpc>
              <a:buNone/>
              <a:defRPr sz="1425" b="1" i="0">
                <a:solidFill>
                  <a:srgbClr val="5646E8"/>
                </a:solidFill>
                <a:latin typeface="Arial"/>
                <a:ea typeface="Arial"/>
                <a:cs typeface="Arial"/>
              </a:defRPr>
            </a:pPr>
            <a:r>
              <a:rPr sz="1425" b="1" i="0">
                <a:solidFill>
                  <a:srgbClr val="5646E8"/>
                </a:solidFill>
                <a:latin typeface="Arial"/>
                <a:ea typeface="Arial"/>
                <a:cs typeface="Arial"/>
              </a:rPr>
              <a:t>INVARIA</a:t>
            </a:r>
          </a:p>
        </p:txBody>
      </p:sp>
      <p:sp>
        <p:nvSpPr>
          <p:cNvPr id="28" name="Rectangle 27">
            <a:extLst>
              <a:ext uri="{FF2B5EF4-FFF2-40B4-BE49-F238E27FC236}">
                <a16:creationId xmlns:a16="http://schemas.microsoft.com/office/drawing/2014/main" id="{092B74F4-F903-4F79-96CF-85BF838C7AA3}"/>
              </a:ext>
            </a:extLst>
          </p:cNvPr>
          <p:cNvSpPr>
            <a:spLocks noGrp="1"/>
          </p:cNvSpPr>
          <p:nvPr/>
        </p:nvSpPr>
        <p:spPr>
          <a:xfrm>
            <a:off x="1952625" y="6086475"/>
            <a:ext cx="3810000" cy="190500"/>
          </a:xfrm>
          <a:prstGeom prst="rect">
            <a:avLst/>
          </a:prstGeom>
          <a:noFill/>
          <a:ln w="0">
            <a:noFill/>
          </a:ln>
        </p:spPr>
        <p:txBody>
          <a:bodyPr lIns="0" tIns="0" rIns="0" bIns="0" anchor="t">
            <a:normAutofit fontScale="93006"/>
          </a:bodyPr>
          <a:lstStyle/>
          <a:p>
            <a:pPr algn="l">
              <a:lnSpc>
                <a:spcPct val="112000"/>
              </a:lnSpc>
              <a:buNone/>
              <a:defRPr sz="1200" b="0" i="0">
                <a:solidFill>
                  <a:srgbClr val="626A7C"/>
                </a:solidFill>
                <a:latin typeface="Arial"/>
                <a:ea typeface="Arial"/>
                <a:cs typeface="Arial"/>
              </a:defRPr>
            </a:pPr>
            <a:r>
              <a:rPr sz="1200" b="0" i="0">
                <a:solidFill>
                  <a:srgbClr val="626A7C"/>
                </a:solidFill>
                <a:latin typeface="Arial"/>
                <a:ea typeface="Arial"/>
                <a:cs typeface="Arial"/>
              </a:rPr>
              <a:t>Evidence first. Human judgment retained.</a:t>
            </a:r>
          </a:p>
        </p:txBody>
      </p:sp>
    </p:spTree>
    <p:extLst>
      <p:ext uri="{BB962C8B-B14F-4D97-AF65-F5344CB8AC3E}">
        <p14:creationId xmlns:p14="http://schemas.microsoft.com/office/powerpoint/2010/main" val="15850380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1799</Words>
  <Application>Microsoft Office PowerPoint</Application>
  <DocSecurity>0</DocSecurity>
  <PresentationFormat>Widescreen</PresentationFormat>
  <Paragraphs>192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Shashank Kakad</cp:lastModifiedBy>
  <cp:revision>1</cp:revision>
  <dcterms:created xsi:type="dcterms:W3CDTF">2026-09-23T20:19:54Z</dcterms:created>
  <dcterms:modified xsi:type="dcterms:W3CDTF">2026-09-24T02:19:53Z</dcterms:modified>
</cp:coreProperties>
</file>