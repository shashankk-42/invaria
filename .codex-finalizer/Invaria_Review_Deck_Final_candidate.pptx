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defd03007e14a42" /><Relationship Type="http://schemas.openxmlformats.org/officeDocument/2006/relationships/extended-properties" Target="/docProps/app.xml" Id="Re08159913bf84d8b" /><Relationship Type="http://schemas.openxmlformats.org/officeDocument/2006/relationships/officeDocument" Target="/ppt/presentation.xml" Id="Rc782e730515c4708" /></Relationships>
</file>

<file path=ppt/presentation.xml><?xml version="1.0" encoding="utf-8"?>
<p:presentation xmlns:p="http://schemas.openxmlformats.org/presentationml/2006/main">
  <p:sldMasterIdLst>
    <p:sldMasterId xmlns:r="http://schemas.openxmlformats.org/officeDocument/2006/relationships" id="2147483648" r:id="R9feb91e16a52484f"/>
  </p:sldMasterIdLst>
  <p:notesMasterIdLst>
    <p:notesMasterId xmlns:r="http://schemas.openxmlformats.org/officeDocument/2006/relationships" r:id="Re5a995fae4db47d2"/>
  </p:notesMasterIdLst>
  <p:sldIdLst>
    <p:sldId xmlns:r="http://schemas.openxmlformats.org/officeDocument/2006/relationships" id="256" r:id="R1e60823714364414"/>
    <p:sldId xmlns:r="http://schemas.openxmlformats.org/officeDocument/2006/relationships" id="257" r:id="R69d99a5cbb9e4697"/>
    <p:sldId xmlns:r="http://schemas.openxmlformats.org/officeDocument/2006/relationships" id="258" r:id="R880790e7982e4ab6"/>
    <p:sldId xmlns:r="http://schemas.openxmlformats.org/officeDocument/2006/relationships" id="259" r:id="R98e1f0e1f2cd407e"/>
    <p:sldId xmlns:r="http://schemas.openxmlformats.org/officeDocument/2006/relationships" id="260" r:id="R93ab63fc23714f38"/>
    <p:sldId xmlns:r="http://schemas.openxmlformats.org/officeDocument/2006/relationships" id="261" r:id="Ra2bf6bf972634630"/>
    <p:sldId xmlns:r="http://schemas.openxmlformats.org/officeDocument/2006/relationships" id="262" r:id="Rf805e04a5f23415b"/>
    <p:sldId xmlns:r="http://schemas.openxmlformats.org/officeDocument/2006/relationships" id="263" r:id="Re95154969f6c4e4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d79666b952c44f4" /><Relationship Type="http://schemas.openxmlformats.org/officeDocument/2006/relationships/slideMaster" Target="/ppt/slideMasters/slideMaster1.xml" Id="R9feb91e16a52484f" /><Relationship Type="http://schemas.openxmlformats.org/officeDocument/2006/relationships/notesMaster" Target="/ppt/notesMasters/notesMaster1.xml" Id="Re5a995fae4db47d2" /><Relationship Type="http://schemas.openxmlformats.org/officeDocument/2006/relationships/presProps" Target="/ppt/presProps.xml" Id="R0d3baa00ba404ef5" /><Relationship Type="http://schemas.openxmlformats.org/officeDocument/2006/relationships/tableStyles" Target="/ppt/tableStyles.xml" Id="Rfc37b2bef2624a3b" /><Relationship Type="http://schemas.openxmlformats.org/officeDocument/2006/relationships/slide" Target="/ppt/slides/slide1.xml" Id="R1e60823714364414" /><Relationship Type="http://schemas.openxmlformats.org/officeDocument/2006/relationships/slide" Target="/ppt/slides/slide2.xml" Id="R69d99a5cbb9e4697" /><Relationship Type="http://schemas.openxmlformats.org/officeDocument/2006/relationships/slide" Target="/ppt/slides/slide3.xml" Id="R880790e7982e4ab6" /><Relationship Type="http://schemas.openxmlformats.org/officeDocument/2006/relationships/slide" Target="/ppt/slides/slide4.xml" Id="R98e1f0e1f2cd407e" /><Relationship Type="http://schemas.openxmlformats.org/officeDocument/2006/relationships/slide" Target="/ppt/slides/slide5.xml" Id="R93ab63fc23714f38" /><Relationship Type="http://schemas.openxmlformats.org/officeDocument/2006/relationships/slide" Target="/ppt/slides/slide6.xml" Id="Ra2bf6bf972634630" /><Relationship Type="http://schemas.openxmlformats.org/officeDocument/2006/relationships/slide" Target="/ppt/slides/slide7.xml" Id="Rf805e04a5f23415b" /><Relationship Type="http://schemas.openxmlformats.org/officeDocument/2006/relationships/slide" Target="/ppt/slides/slide8.xml" Id="Re95154969f6c4e4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d54f0db60994f0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01d554c94134703" /><Relationship Type="http://schemas.openxmlformats.org/officeDocument/2006/relationships/notesMaster" Target="/ppt/notesMasters/notesMaster1.xml" Id="R3f7809827eaf46ee" /></Relationships>
</file>

<file path=ppt/notesSlides/_rels/notesSlide2.xml.rels>&#65279;<?xml version="1.0" encoding="utf-8"?><Relationships xmlns="http://schemas.openxmlformats.org/package/2006/relationships"><Relationship Type="http://schemas.openxmlformats.org/officeDocument/2006/relationships/slide" Target="/ppt/slides/slide2.xml" Id="Rc5e1307f0f2049eb" /><Relationship Type="http://schemas.openxmlformats.org/officeDocument/2006/relationships/notesMaster" Target="/ppt/notesMasters/notesMaster1.xml" Id="Rb63fa5119a764855" /></Relationships>
</file>

<file path=ppt/notesSlides/_rels/notesSlide3.xml.rels>&#65279;<?xml version="1.0" encoding="utf-8"?><Relationships xmlns="http://schemas.openxmlformats.org/package/2006/relationships"><Relationship Type="http://schemas.openxmlformats.org/officeDocument/2006/relationships/slide" Target="/ppt/slides/slide3.xml" Id="Rf2084d01e5104100" /><Relationship Type="http://schemas.openxmlformats.org/officeDocument/2006/relationships/notesMaster" Target="/ppt/notesMasters/notesMaster1.xml" Id="R09764fbdf7d04d28" /></Relationships>
</file>

<file path=ppt/notesSlides/_rels/notesSlide4.xml.rels>&#65279;<?xml version="1.0" encoding="utf-8"?><Relationships xmlns="http://schemas.openxmlformats.org/package/2006/relationships"><Relationship Type="http://schemas.openxmlformats.org/officeDocument/2006/relationships/slide" Target="/ppt/slides/slide4.xml" Id="R05b1225f2be04843" /><Relationship Type="http://schemas.openxmlformats.org/officeDocument/2006/relationships/notesMaster" Target="/ppt/notesMasters/notesMaster1.xml" Id="R040dcde350134833" /></Relationships>
</file>

<file path=ppt/notesSlides/_rels/notesSlide5.xml.rels>&#65279;<?xml version="1.0" encoding="utf-8"?><Relationships xmlns="http://schemas.openxmlformats.org/package/2006/relationships"><Relationship Type="http://schemas.openxmlformats.org/officeDocument/2006/relationships/slide" Target="/ppt/slides/slide5.xml" Id="Rad2523d0901e4a4f" /><Relationship Type="http://schemas.openxmlformats.org/officeDocument/2006/relationships/notesMaster" Target="/ppt/notesMasters/notesMaster1.xml" Id="Rf983f3e402ff405a" /></Relationships>
</file>

<file path=ppt/notesSlides/_rels/notesSlide6.xml.rels>&#65279;<?xml version="1.0" encoding="utf-8"?><Relationships xmlns="http://schemas.openxmlformats.org/package/2006/relationships"><Relationship Type="http://schemas.openxmlformats.org/officeDocument/2006/relationships/slide" Target="/ppt/slides/slide6.xml" Id="Rbb5638c211e44ce2" /><Relationship Type="http://schemas.openxmlformats.org/officeDocument/2006/relationships/notesMaster" Target="/ppt/notesMasters/notesMaster1.xml" Id="R3ace1d8af70540d6" /></Relationships>
</file>

<file path=ppt/notesSlides/_rels/notesSlide7.xml.rels>&#65279;<?xml version="1.0" encoding="utf-8"?><Relationships xmlns="http://schemas.openxmlformats.org/package/2006/relationships"><Relationship Type="http://schemas.openxmlformats.org/officeDocument/2006/relationships/slide" Target="/ppt/slides/slide7.xml" Id="R0771e43a166c490e" /><Relationship Type="http://schemas.openxmlformats.org/officeDocument/2006/relationships/notesMaster" Target="/ppt/notesMasters/notesMaster1.xml" Id="R88de93617dda4326" /></Relationships>
</file>

<file path=ppt/notesSlides/_rels/notesSlide8.xml.rels>&#65279;<?xml version="1.0" encoding="utf-8"?><Relationships xmlns="http://schemas.openxmlformats.org/package/2006/relationships"><Relationship Type="http://schemas.openxmlformats.org/officeDocument/2006/relationships/slide" Target="/ppt/slides/slide8.xml" Id="R303c0e1a016142e3" /><Relationship Type="http://schemas.openxmlformats.org/officeDocument/2006/relationships/notesMaster" Target="/ppt/notesMasters/notesMaster1.xml" Id="Rb6fcf7c66ad8416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Invaria Engineering &amp; Product Blueprint; docs/INVARIANT_ENGINE.md.</a:t>
            </a:r>
          </a:p>
          <a:p xmlns:a="http://schemas.openxmlformats.org/drawingml/2006/main">
            <a:r>
              <a:t/>
            </a:r>
          </a:p>
          <a:p xmlns:a="http://schemas.openxmlformats.org/drawingml/2006/main">
            <a:r>
              <a:t>Talking points: The core problem is not only finding suspicious code. A reviewer needs to see what business rule might be broken, how the source path supports the concern, and what remains unknown. Invaria is built around that security case.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Grand View Research, ‘Application Security Market (2026–2033)’, accessed 24 September 2026: https://www.grandviewresearch.com/industry-analysis/application-security-market.</a:t>
            </a:r>
          </a:p>
          <a:p xmlns:a="http://schemas.openxmlformats.org/drawingml/2006/main">
            <a:r>
              <a:t/>
            </a:r>
          </a:p>
          <a:p xmlns:a="http://schemas.openxmlformats.org/drawingml/2006/main">
            <a:r>
              <a:t>Data: Global application security market $10.6B in 2025, $12.6B estimate in 2026, $42.1B projected in 2033, CAGR 18.8% (2026–2033).</a:t>
            </a:r>
          </a:p>
          <a:p xmlns:a="http://schemas.openxmlformats.org/drawingml/2006/main">
            <a:r>
              <a:t/>
            </a:r>
          </a:p>
          <a:p xmlns:a="http://schemas.openxmlformats.org/drawingml/2006/main">
            <a:r>
              <a:t>Talking points: The market number gives category context. Our initial addressable use case is narrower: API-driven, multi-tenant applications with sensitive data or sensitive business 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live local Invaria workspace captured 24 September 2026.</a:t>
            </a:r>
          </a:p>
          <a:p xmlns:a="http://schemas.openxmlformats.org/drawingml/2006/main">
            <a:r>
              <a:t/>
            </a:r>
          </a:p>
          <a:p xmlns:a="http://schemas.openxmlformats.org/drawingml/2006/main">
            <a:r>
              <a:t>Sources for competitive boundary: OpenAI, ‘Codex Security: now in research preview’, https://openai.com/index/codex-security-now-in-research-preview/; Anthropic, ‘Making frontier cybersecurity capabilities available to defenders’, https://www.anthropic.com/news/claude-code-security.</a:t>
            </a:r>
          </a:p>
          <a:p xmlns:a="http://schemas.openxmlformats.org/drawingml/2006/main">
            <a:r>
              <a:t/>
            </a:r>
          </a:p>
          <a:p xmlns:a="http://schemas.openxmlformats.org/drawingml/2006/main">
            <a:r>
              <a:t>Talking points: Codex Security and Claude Code Security now offer serious security analysis. Invaria should not claim an unproven performance advantage. Its product differentiation is the versioned, inspectable policy and decision ledger that do not depend on one model provider.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docs/INVARIANT_ENGINE.md; backend/invaria/algorithm.py; backend/invaria/pipeline.py.</a:t>
            </a:r>
          </a:p>
          <a:p xmlns:a="http://schemas.openxmlformats.org/drawingml/2006/main">
            <a:r>
              <a:t/>
            </a:r>
          </a:p>
          <a:p xmlns:a="http://schemas.openxmlformats.org/drawingml/2006/main">
            <a:r>
              <a:t>Talking points: An invariant describes what must stay true in the application. The algorithm creates a question from a rule and the application structure, collects source evidence, then applies a gate. The gate makes it impossible for model prose or RAG content to fill an evidence gap. The decision ledger retains why we reported or discarded the candidate.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live Invaria decision ledger captured 24 September 2026. Source: docs/INVARIANT_ENGINE.md; backend/invaria/algorithm.py.</a:t>
            </a:r>
          </a:p>
          <a:p xmlns:a="http://schemas.openxmlformats.org/drawingml/2006/main">
            <a:r>
              <a:t/>
            </a:r>
          </a:p>
          <a:p xmlns:a="http://schemas.openxmlformats.org/drawingml/2006/main">
            <a:r>
              <a:t>Talking points: BOLA is broken object-level authorization. In this candidate the record selection depends on request-controlled input. The tool identifies the route, the helper flow, and the lookup. It checks for a recognized server-side owner or tenant constraint. The evidence gate passes only when route and lookup evidence are both present. Passing the gate produces a source-backed candidate, not confirmation of exploitation.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live scan of the public TaskForge repository captured 24 September 2026.</a:t>
            </a:r>
          </a:p>
          <a:p xmlns:a="http://schemas.openxmlformats.org/drawingml/2006/main">
            <a:r>
              <a:t/>
            </a:r>
          </a:p>
          <a:p xmlns:a="http://schemas.openxmlformats.org/drawingml/2006/main">
            <a:r>
              <a:t>Talking points: This is an example of a real repository scan, but it is not an allegation of a confirmed vulnerability or breach. The graph shows the route, request input, handler, query, and data model. Invaria turns the graph into an explicit authorization question that a human can validate against intended policy and controls.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Invaria Engineering &amp; Product Blueprint.</a:t>
            </a:r>
          </a:p>
          <a:p xmlns:a="http://schemas.openxmlformats.org/drawingml/2006/main">
            <a:r>
              <a:t/>
            </a:r>
          </a:p>
          <a:p xmlns:a="http://schemas.openxmlformats.org/drawingml/2006/main">
            <a:r>
              <a:t>Talking points: These are target segments, not named customers or current contracts. We start where the consequences of a policy failure are tangible and teams have limited application-security bandwidth. The wedge is API-driven, multi-tenant SaaS because ownership and authorization flows are common and inspectable.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docs/ROADMAP.md; docs/INVARIANT_ENGINE.md.</a:t>
            </a:r>
          </a:p>
          <a:p xmlns:a="http://schemas.openxmlformats.org/drawingml/2006/main">
            <a:r>
              <a:t/>
            </a:r>
          </a:p>
          <a:p xmlns:a="http://schemas.openxmlformats.org/drawingml/2006/main">
            <a:r>
              <a:t>Talking points: The implementation today is intentionally bounded. Future work should expand only behind measured regression gates. The priority is not a larger model or more agents; it is better policy verification, stronger data-flow evidence, evaluations on held-out cases, and safe validation in approved environments.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a20484036dd472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51e67e23c70448e" /><Relationship Type="http://schemas.openxmlformats.org/officeDocument/2006/relationships/slideLayout" Target="/ppt/slideLayouts/slideLayout1.xml" Id="Raf3e4721445c415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f3e4721445c415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618e2a4481546e2" /><Relationship Type="http://schemas.openxmlformats.org/officeDocument/2006/relationships/notesSlide" Target="/ppt/notesSlides/notesSlide1.xml" Id="Raeed59641550444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e25ac9a30424044" /><Relationship Type="http://schemas.openxmlformats.org/officeDocument/2006/relationships/chart" Target="/ppt/slides/charts/chart1.xml" Id="Rf07b29cd182c4b4a" /><Relationship Type="http://schemas.openxmlformats.org/officeDocument/2006/relationships/notesSlide" Target="/ppt/notesSlides/notesSlide2.xml" Id="R604885105e23455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487fc5aa52443d8" /><Relationship Type="http://schemas.openxmlformats.org/officeDocument/2006/relationships/image" Target="/ppt/media/image.jpeg" Id="R396610d350274952" /><Relationship Type="http://schemas.openxmlformats.org/officeDocument/2006/relationships/notesSlide" Target="/ppt/notesSlides/notesSlide3.xml" Id="Ra0e8d27b3b5744a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509d5d500fe48e6" /><Relationship Type="http://schemas.openxmlformats.org/officeDocument/2006/relationships/notesSlide" Target="/ppt/notesSlides/notesSlide4.xml" Id="Ra6053f8ac1b8466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39615935ce94574" /><Relationship Type="http://schemas.openxmlformats.org/officeDocument/2006/relationships/image" Target="/ppt/media/image2.jpeg" Id="R5a0da138a6be48a0" /><Relationship Type="http://schemas.openxmlformats.org/officeDocument/2006/relationships/notesSlide" Target="/ppt/notesSlides/notesSlide5.xml" Id="Rce255995d1bb4f3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6957178b4dd4b3a" /><Relationship Type="http://schemas.openxmlformats.org/officeDocument/2006/relationships/image" Target="/ppt/media/image3.jpeg" Id="R2ec8b1f6957e4887" /><Relationship Type="http://schemas.openxmlformats.org/officeDocument/2006/relationships/notesSlide" Target="/ppt/notesSlides/notesSlide6.xml" Id="R51501314e2f7478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7223031df814a50" /><Relationship Type="http://schemas.openxmlformats.org/officeDocument/2006/relationships/notesSlide" Target="/ppt/notesSlides/notesSlide7.xml" Id="R58b026926411490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447928d61ec4b95" /><Relationship Type="http://schemas.openxmlformats.org/officeDocument/2006/relationships/notesSlide" Target="/ppt/notesSlides/notesSlide8.xml" Id="Rc20ed12c0d5b4363" /></Relationships>
</file>

<file path=ppt/slides/charts/chart1.xml><?xml version="1.0" encoding="utf-8"?>
<c:chartSpace xmlns:c="http://schemas.openxmlformats.org/drawingml/2006/chart">
  <c:lang val="en-US"/>
  <c:chart>
    <c:plotArea>
      <c:barChart>
        <c:barDir val="col"/>
        <c:grouping val="clustered"/>
        <c:varyColors val="0"/>
        <c:ser>
          <c:idx val="0"/>
          <c:order val="0"/>
          <c:tx>
            <c:v>USD billions</c:v>
          </c:tx>
          <c:spPr>
            <a:solidFill xmlns:a="http://schemas.openxmlformats.org/drawingml/2006/main">
              <a:srgbClr val="5646E8"/>
            </a:solidFill>
          </c:spPr>
          <c:cat>
            <c:numLit>
              <c:formatCode>General</c:formatCode>
              <c:ptCount val="3"/>
              <c:pt idx="0">
                <c:v>2025</c:v>
              </c:pt>
              <c:pt idx="1">
                <c:v>2026</c:v>
              </c:pt>
              <c:pt idx="2">
                <c:v>2033</c:v>
              </c:pt>
            </c:numLit>
          </c:cat>
          <c:val>
            <c:numLit>
              <c:formatCode>General</c:formatCode>
              <c:ptCount val="3"/>
              <c:pt idx="0">
                <c:v>10.6</c:v>
              </c:pt>
              <c:pt idx="1">
                <c:v>12.6</c:v>
              </c:pt>
              <c:pt idx="2">
                <c:v>42.1</c:v>
              </c:pt>
            </c:numLit>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7FFF1B67-0434-46CF-A861-C79CC64F2DDF}"/>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 name="">
            <a:extLst xmlns:a="http://schemas.openxmlformats.org/drawingml/2006/main">
              <a:ext uri="{FF2B5EF4-FFF2-40B4-BE49-F238E27FC236}">
                <a16:creationId xmlns:a16="http://schemas.microsoft.com/office/drawing/2014/main" id="{AA21DE23-5D1E-43B4-B721-6222470968A4}"/>
              </a:ext>
            </a:extLst>
          </p:cNvPr>
          <p:cNvSpPr>
            <a:spLocks xmlns:a="http://schemas.openxmlformats.org/drawingml/2006/main" noGrp="1"/>
          </p:cNvSpPr>
          <p:nvPr/>
        </p:nvSpPr>
        <p:spPr>
          <a:xfrm xmlns:a="http://schemas.openxmlformats.org/drawingml/2006/main">
            <a:off x="685800" y="6534150"/>
            <a:ext cx="4286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750" b="1" i="0">
                <a:solidFill>
                  <a:srgbClr val="626A7C"/>
                </a:solidFill>
                <a:latin typeface="Arial"/>
                <a:ea typeface="Arial"/>
                <a:cs typeface="Arial"/>
              </a:defRPr>
            </a:pPr>
            <a:r>
              <a:rPr sz="750" b="1" i="0">
                <a:solidFill>
                  <a:srgbClr val="626A7C"/>
                </a:solidFill>
                <a:latin typeface="Arial"/>
                <a:ea typeface="Arial"/>
                <a:cs typeface="Arial"/>
              </a:rPr>
              <a:t>INVARIA  |  REVIEW PRESENTATION</a:t>
            </a:r>
          </a:p>
        </p:txBody>
      </p:sp>
      <p:sp>
        <p:nvSpPr>
          <p:cNvPr id="3" name="">
            <a:extLst xmlns:a="http://schemas.openxmlformats.org/drawingml/2006/main">
              <a:ext uri="{FF2B5EF4-FFF2-40B4-BE49-F238E27FC236}">
                <a16:creationId xmlns:a16="http://schemas.microsoft.com/office/drawing/2014/main" id="{87AEFD23-DD4B-48BB-9A83-983F42472FE3}"/>
              </a:ext>
            </a:extLst>
          </p:cNvPr>
          <p:cNvSpPr>
            <a:spLocks xmlns:a="http://schemas.openxmlformats.org/drawingml/2006/main" noGrp="1"/>
          </p:cNvSpPr>
          <p:nvPr/>
        </p:nvSpPr>
        <p:spPr>
          <a:xfrm xmlns:a="http://schemas.openxmlformats.org/drawingml/2006/main">
            <a:off x="4286250" y="6534150"/>
            <a:ext cx="6191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675" b="0" i="0">
                <a:solidFill>
                  <a:srgbClr val="626A7C"/>
                </a:solidFill>
                <a:latin typeface="Arial"/>
                <a:ea typeface="Arial"/>
                <a:cs typeface="Arial"/>
              </a:defRPr>
            </a:pPr>
            <a:r>
              <a:rPr sz="675" b="0" i="0">
                <a:solidFill>
                  <a:srgbClr val="626A7C"/>
                </a:solidFill>
                <a:latin typeface="Arial"/>
                <a:ea typeface="Arial"/>
                <a:cs typeface="Arial"/>
              </a:rPr>
              <a:t>Sources: Invaria blueprint and INVARIANT engine design</a:t>
            </a:r>
          </a:p>
        </p:txBody>
      </p:sp>
      <p:sp>
        <p:nvSpPr>
          <p:cNvPr id="4" name="">
            <a:extLst xmlns:a="http://schemas.openxmlformats.org/drawingml/2006/main">
              <a:ext uri="{FF2B5EF4-FFF2-40B4-BE49-F238E27FC236}">
                <a16:creationId xmlns:a16="http://schemas.microsoft.com/office/drawing/2014/main" id="{6AACB987-D5D9-499D-8F3E-D57EA5CF650F}"/>
              </a:ext>
            </a:extLst>
          </p:cNvPr>
          <p:cNvSpPr>
            <a:spLocks xmlns:a="http://schemas.openxmlformats.org/drawingml/2006/main" noGrp="1"/>
          </p:cNvSpPr>
          <p:nvPr/>
        </p:nvSpPr>
        <p:spPr>
          <a:xfrm xmlns:a="http://schemas.openxmlformats.org/drawingml/2006/main">
            <a:off x="10858500" y="6515100"/>
            <a:ext cx="647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AA0A39C7-69B7-4149-9422-F2176197D528}"/>
              </a:ext>
            </a:extLst>
          </p:cNvPr>
          <p:cNvSpPr>
            <a:spLocks xmlns:a="http://schemas.openxmlformats.org/drawingml/2006/main" noGrp="1"/>
          </p:cNvSpPr>
          <p:nvPr/>
        </p:nvSpPr>
        <p:spPr>
          <a:xfrm xmlns:a="http://schemas.openxmlformats.org/drawingml/2006/main">
            <a:off x="685800" y="514350"/>
            <a:ext cx="2857500" cy="266700"/>
          </a:xfrm>
          <a:prstGeom xmlns:a="http://schemas.openxmlformats.org/drawingml/2006/main" prst="roundRect">
            <a:avLst>
              <a:gd name="adj" fmla="val 50000"/>
            </a:avLst>
          </a:prstGeom>
          <a:solidFill xmlns:a="http://schemas.openxmlformats.org/drawingml/2006/main">
            <a:srgbClr val="F1F0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69C0327-C5F5-4CC0-8329-10C8B4759172}"/>
              </a:ext>
            </a:extLst>
          </p:cNvPr>
          <p:cNvSpPr>
            <a:spLocks xmlns:a="http://schemas.openxmlformats.org/drawingml/2006/main" noGrp="1"/>
          </p:cNvSpPr>
          <p:nvPr/>
        </p:nvSpPr>
        <p:spPr>
          <a:xfrm xmlns:a="http://schemas.openxmlformats.org/drawingml/2006/main">
            <a:off x="781050" y="571500"/>
            <a:ext cx="2667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PROBLEM STATEMENT &amp; MARKET GAP</a:t>
            </a:r>
          </a:p>
        </p:txBody>
      </p:sp>
      <p:sp>
        <p:nvSpPr>
          <p:cNvPr id="7" name="">
            <a:extLst xmlns:a="http://schemas.openxmlformats.org/drawingml/2006/main">
              <a:ext uri="{FF2B5EF4-FFF2-40B4-BE49-F238E27FC236}">
                <a16:creationId xmlns:a16="http://schemas.microsoft.com/office/drawing/2014/main" id="{4B05A694-76E1-4E5D-BD7B-06C9D101D2AE}"/>
              </a:ext>
            </a:extLst>
          </p:cNvPr>
          <p:cNvSpPr>
            <a:spLocks xmlns:a="http://schemas.openxmlformats.org/drawingml/2006/main" noGrp="1"/>
          </p:cNvSpPr>
          <p:nvPr/>
        </p:nvSpPr>
        <p:spPr>
          <a:xfrm xmlns:a="http://schemas.openxmlformats.org/drawingml/2006/main">
            <a:off x="685800" y="981075"/>
            <a:ext cx="6048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1115"/>
          </a:bodyPr>
          <a:lstStyle xmlns:a="http://schemas.openxmlformats.org/drawingml/2006/main"/>
          <a:p xmlns:a="http://schemas.openxmlformats.org/drawingml/2006/main">
            <a:pPr algn="l">
              <a:lnSpc>
                <a:spcPct val="98000"/>
              </a:lnSpc>
              <a:buNone/>
              <a:defRPr sz="3675" b="1" i="0">
                <a:solidFill>
                  <a:srgbClr val="121522"/>
                </a:solidFill>
                <a:latin typeface="Arial"/>
                <a:ea typeface="Arial"/>
                <a:cs typeface="Arial"/>
              </a:defRPr>
            </a:pPr>
            <a:r>
              <a:rPr sz="3675" b="1" i="0">
                <a:solidFill>
                  <a:srgbClr val="121522"/>
                </a:solidFill>
                <a:latin typeface="Arial"/>
                <a:ea typeface="Arial"/>
                <a:cs typeface="Arial"/>
              </a:rPr>
              <a:t>Security failures happen</a:t>
            </a:r>
          </a:p>
          <a:p xmlns:a="http://schemas.openxmlformats.org/drawingml/2006/main">
            <a:pPr algn="l">
              <a:lnSpc>
                <a:spcPct val="98000"/>
              </a:lnSpc>
              <a:buNone/>
              <a:defRPr sz="3675" b="1" i="0">
                <a:solidFill>
                  <a:srgbClr val="121522"/>
                </a:solidFill>
                <a:latin typeface="Arial"/>
                <a:ea typeface="Arial"/>
                <a:cs typeface="Arial"/>
              </a:defRPr>
            </a:pPr>
            <a:r>
              <a:rPr sz="3675" b="1" i="0">
                <a:solidFill>
                  <a:srgbClr val="121522"/>
                </a:solidFill>
                <a:latin typeface="Arial"/>
                <a:ea typeface="Arial"/>
                <a:cs typeface="Arial"/>
              </a:rPr>
              <a:t>when code breaks business rules</a:t>
            </a:r>
          </a:p>
        </p:txBody>
      </p:sp>
      <p:sp>
        <p:nvSpPr>
          <p:cNvPr id="8" name="">
            <a:extLst xmlns:a="http://schemas.openxmlformats.org/drawingml/2006/main">
              <a:ext uri="{FF2B5EF4-FFF2-40B4-BE49-F238E27FC236}">
                <a16:creationId xmlns:a16="http://schemas.microsoft.com/office/drawing/2014/main" id="{E58BA7B8-EC6E-43D9-ACBD-9FA77808212E}"/>
              </a:ext>
            </a:extLst>
          </p:cNvPr>
          <p:cNvSpPr>
            <a:spLocks xmlns:a="http://schemas.openxmlformats.org/drawingml/2006/main" noGrp="1"/>
          </p:cNvSpPr>
          <p:nvPr/>
        </p:nvSpPr>
        <p:spPr>
          <a:xfrm xmlns:a="http://schemas.openxmlformats.org/drawingml/2006/main">
            <a:off x="685800" y="2400300"/>
            <a:ext cx="5953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8798"/>
          </a:bodyPr>
          <a:lstStyle xmlns:a="http://schemas.openxmlformats.org/drawingml/2006/main"/>
          <a:p xmlns:a="http://schemas.openxmlformats.org/drawingml/2006/main">
            <a:pPr algn="l">
              <a:lnSpc>
                <a:spcPct val="122000"/>
              </a:lnSpc>
              <a:buNone/>
              <a:defRPr sz="1500" b="0" i="0">
                <a:solidFill>
                  <a:srgbClr val="626A7C"/>
                </a:solidFill>
                <a:latin typeface="Arial"/>
                <a:ea typeface="Arial"/>
                <a:cs typeface="Arial"/>
              </a:defRPr>
            </a:pPr>
            <a:r>
              <a:rPr sz="1500" b="0" i="0">
                <a:solidFill>
                  <a:srgbClr val="626A7C"/>
                </a:solidFill>
                <a:latin typeface="Arial"/>
                <a:ea typeface="Arial"/>
                <a:cs typeface="Arial"/>
              </a:rPr>
              <a:t>Modern applications often authenticate users correctly yet fail to keep authorization, ownership, and workflow constraints consistent across routes, services, and data stores.</a:t>
            </a:r>
          </a:p>
        </p:txBody>
      </p:sp>
      <p:sp>
        <p:nvSpPr>
          <p:cNvPr id="9" name="">
            <a:extLst xmlns:a="http://schemas.openxmlformats.org/drawingml/2006/main">
              <a:ext uri="{FF2B5EF4-FFF2-40B4-BE49-F238E27FC236}">
                <a16:creationId xmlns:a16="http://schemas.microsoft.com/office/drawing/2014/main" id="{08B31505-B1A6-450F-ABFA-E483457859FF}"/>
              </a:ext>
            </a:extLst>
          </p:cNvPr>
          <p:cNvSpPr>
            <a:spLocks xmlns:a="http://schemas.openxmlformats.org/drawingml/2006/main" noGrp="1"/>
          </p:cNvSpPr>
          <p:nvPr/>
        </p:nvSpPr>
        <p:spPr>
          <a:xfrm xmlns:a="http://schemas.openxmlformats.org/drawingml/2006/main">
            <a:off x="685800" y="3448050"/>
            <a:ext cx="5619750" cy="0"/>
          </a:xfrm>
          <a:prstGeom xmlns:a="http://schemas.openxmlformats.org/drawingml/2006/main" prst="line">
            <a:avLst/>
          </a:prstGeom>
          <a:noFill xmlns:a="http://schemas.openxmlformats.org/drawingml/2006/main"/>
          <a:ln xmlns:a="http://schemas.openxmlformats.org/drawingml/2006/main" w="28575">
            <a:solidFill>
              <a:srgbClr val="5646E8"/>
            </a:solidFill>
            <a:prstDash val="solid"/>
          </a:ln>
        </p:spPr>
      </p:sp>
      <p:sp>
        <p:nvSpPr>
          <p:cNvPr id="10" name="">
            <a:extLst xmlns:a="http://schemas.openxmlformats.org/drawingml/2006/main">
              <a:ext uri="{FF2B5EF4-FFF2-40B4-BE49-F238E27FC236}">
                <a16:creationId xmlns:a16="http://schemas.microsoft.com/office/drawing/2014/main" id="{6CCF209F-DDEC-41AF-83F4-7CBD8E0062A3}"/>
              </a:ext>
            </a:extLst>
          </p:cNvPr>
          <p:cNvSpPr>
            <a:spLocks xmlns:a="http://schemas.openxmlformats.org/drawingml/2006/main" noGrp="1"/>
          </p:cNvSpPr>
          <p:nvPr/>
        </p:nvSpPr>
        <p:spPr>
          <a:xfrm xmlns:a="http://schemas.openxmlformats.org/drawingml/2006/main">
            <a:off x="685800" y="3762375"/>
            <a:ext cx="22383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5646E8"/>
                </a:solidFill>
                <a:latin typeface="Arial"/>
                <a:ea typeface="Arial"/>
                <a:cs typeface="Arial"/>
              </a:defRPr>
            </a:pPr>
            <a:r>
              <a:rPr sz="900" b="1" i="0">
                <a:solidFill>
                  <a:srgbClr val="5646E8"/>
                </a:solidFill>
                <a:latin typeface="Arial"/>
                <a:ea typeface="Arial"/>
                <a:cs typeface="Arial"/>
              </a:rPr>
              <a:t>THE REVIEW GAP</a:t>
            </a:r>
          </a:p>
        </p:txBody>
      </p:sp>
      <p:sp>
        <p:nvSpPr>
          <p:cNvPr id="11" name="">
            <a:extLst xmlns:a="http://schemas.openxmlformats.org/drawingml/2006/main">
              <a:ext uri="{FF2B5EF4-FFF2-40B4-BE49-F238E27FC236}">
                <a16:creationId xmlns:a16="http://schemas.microsoft.com/office/drawing/2014/main" id="{81078C81-2325-41C3-B4BF-21D75E4F9461}"/>
              </a:ext>
            </a:extLst>
          </p:cNvPr>
          <p:cNvSpPr>
            <a:spLocks xmlns:a="http://schemas.openxmlformats.org/drawingml/2006/main" noGrp="1"/>
          </p:cNvSpPr>
          <p:nvPr/>
        </p:nvSpPr>
        <p:spPr>
          <a:xfrm xmlns:a="http://schemas.openxmlformats.org/drawingml/2006/main">
            <a:off x="685800" y="4048125"/>
            <a:ext cx="5524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71691"/>
          </a:bodyPr>
          <a:lstStyle xmlns:a="http://schemas.openxmlformats.org/drawingml/2006/main"/>
          <a:p xmlns:a="http://schemas.openxmlformats.org/drawingml/2006/main">
            <a:pPr algn="l">
              <a:lnSpc>
                <a:spcPct val="118000"/>
              </a:lnSpc>
              <a:buNone/>
              <a:defRPr sz="1650" b="1" i="0">
                <a:solidFill>
                  <a:srgbClr val="121522"/>
                </a:solidFill>
                <a:latin typeface="Arial"/>
                <a:ea typeface="Arial"/>
                <a:cs typeface="Arial"/>
              </a:defRPr>
            </a:pPr>
            <a:r>
              <a:rPr sz="1650" b="1" i="0">
                <a:solidFill>
                  <a:srgbClr val="121522"/>
                </a:solidFill>
                <a:latin typeface="Arial"/>
                <a:ea typeface="Arial"/>
                <a:cs typeface="Arial"/>
              </a:rPr>
              <a:t>A line-level alert or a general coding-model answer rarely preserves the application policy, the inspected evidence, and the remaining uncertainty in one place.</a:t>
            </a:r>
          </a:p>
        </p:txBody>
      </p:sp>
      <p:sp>
        <p:nvSpPr>
          <p:cNvPr id="12" name="">
            <a:extLst xmlns:a="http://schemas.openxmlformats.org/drawingml/2006/main">
              <a:ext uri="{FF2B5EF4-FFF2-40B4-BE49-F238E27FC236}">
                <a16:creationId xmlns:a16="http://schemas.microsoft.com/office/drawing/2014/main" id="{D9B4861C-DDDD-4F98-B6FD-FEA98833B359}"/>
              </a:ext>
            </a:extLst>
          </p:cNvPr>
          <p:cNvSpPr>
            <a:spLocks xmlns:a="http://schemas.openxmlformats.org/drawingml/2006/main" noGrp="1"/>
          </p:cNvSpPr>
          <p:nvPr/>
        </p:nvSpPr>
        <p:spPr>
          <a:xfrm xmlns:a="http://schemas.openxmlformats.org/drawingml/2006/main">
            <a:off x="685800" y="4953000"/>
            <a:ext cx="571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8000"/>
              </a:lnSpc>
              <a:buNone/>
              <a:defRPr sz="1350" b="0" i="0">
                <a:solidFill>
                  <a:srgbClr val="626A7C"/>
                </a:solidFill>
                <a:latin typeface="Arial"/>
                <a:ea typeface="Arial"/>
                <a:cs typeface="Arial"/>
              </a:defRPr>
            </a:pPr>
            <a:r>
              <a:rPr sz="1350" b="0" i="0">
                <a:solidFill>
                  <a:srgbClr val="626A7C"/>
                </a:solidFill>
                <a:latin typeface="Arial"/>
                <a:ea typeface="Arial"/>
                <a:cs typeface="Arial"/>
              </a:rPr>
              <a:t>Invaria treats a security finding as a structured case: expected invariant, source-backed path, evidence gate, and a human review decision.</a:t>
            </a:r>
          </a:p>
        </p:txBody>
      </p:sp>
      <p:sp>
        <p:nvSpPr>
          <p:cNvPr id="13" name="">
            <a:extLst xmlns:a="http://schemas.openxmlformats.org/drawingml/2006/main">
              <a:ext uri="{FF2B5EF4-FFF2-40B4-BE49-F238E27FC236}">
                <a16:creationId xmlns:a16="http://schemas.microsoft.com/office/drawing/2014/main" id="{7597D1AC-37C9-4259-A808-85DCFA8BD0FB}"/>
              </a:ext>
            </a:extLst>
          </p:cNvPr>
          <p:cNvSpPr>
            <a:spLocks xmlns:a="http://schemas.openxmlformats.org/drawingml/2006/main" noGrp="1"/>
          </p:cNvSpPr>
          <p:nvPr/>
        </p:nvSpPr>
        <p:spPr>
          <a:xfrm xmlns:a="http://schemas.openxmlformats.org/drawingml/2006/main">
            <a:off x="7162800" y="771525"/>
            <a:ext cx="4343400" cy="4762500"/>
          </a:xfrm>
          <a:prstGeom xmlns:a="http://schemas.openxmlformats.org/drawingml/2006/main" prst="roundRect">
            <a:avLst>
              <a:gd name="adj" fmla="val 5263"/>
            </a:avLst>
          </a:prstGeom>
          <a:solidFill xmlns:a="http://schemas.openxmlformats.org/drawingml/2006/main">
            <a:srgbClr val="12131E"/>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55EC83C-1409-4BF2-8D8D-E570B8741B52}"/>
              </a:ext>
            </a:extLst>
          </p:cNvPr>
          <p:cNvSpPr>
            <a:spLocks xmlns:a="http://schemas.openxmlformats.org/drawingml/2006/main" noGrp="1"/>
          </p:cNvSpPr>
          <p:nvPr/>
        </p:nvSpPr>
        <p:spPr>
          <a:xfrm xmlns:a="http://schemas.openxmlformats.org/drawingml/2006/main">
            <a:off x="7524750" y="114300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7C71FF"/>
                </a:solidFill>
                <a:latin typeface="Arial"/>
                <a:ea typeface="Arial"/>
                <a:cs typeface="Arial"/>
              </a:defRPr>
            </a:pPr>
            <a:r>
              <a:rPr sz="900" b="1" i="0">
                <a:solidFill>
                  <a:srgbClr val="7C71FF"/>
                </a:solidFill>
                <a:latin typeface="Arial"/>
                <a:ea typeface="Arial"/>
                <a:cs typeface="Arial"/>
              </a:rPr>
              <a:t>INVARIA'S UNIT OF WORK</a:t>
            </a:r>
          </a:p>
        </p:txBody>
      </p:sp>
      <p:sp>
        <p:nvSpPr>
          <p:cNvPr id="15" name="">
            <a:extLst xmlns:a="http://schemas.openxmlformats.org/drawingml/2006/main">
              <a:ext uri="{FF2B5EF4-FFF2-40B4-BE49-F238E27FC236}">
                <a16:creationId xmlns:a16="http://schemas.microsoft.com/office/drawing/2014/main" id="{ED868CC3-4F83-4059-AD96-04E1EF2FD3CD}"/>
              </a:ext>
            </a:extLst>
          </p:cNvPr>
          <p:cNvSpPr>
            <a:spLocks xmlns:a="http://schemas.openxmlformats.org/drawingml/2006/main" noGrp="1"/>
          </p:cNvSpPr>
          <p:nvPr/>
        </p:nvSpPr>
        <p:spPr>
          <a:xfrm xmlns:a="http://schemas.openxmlformats.org/drawingml/2006/main">
            <a:off x="7524750" y="1495425"/>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2250" b="1" i="0">
                <a:solidFill>
                  <a:srgbClr val="FFFFFF"/>
                </a:solidFill>
                <a:latin typeface="Arial"/>
                <a:ea typeface="Arial"/>
                <a:cs typeface="Arial"/>
              </a:defRPr>
            </a:pPr>
            <a:r>
              <a:rPr sz="2250" b="1" i="0">
                <a:solidFill>
                  <a:srgbClr val="FFFFFF"/>
                </a:solidFill>
                <a:latin typeface="Arial"/>
                <a:ea typeface="Arial"/>
                <a:cs typeface="Arial"/>
              </a:rPr>
              <a:t>The security case</a:t>
            </a:r>
          </a:p>
        </p:txBody>
      </p:sp>
      <p:sp>
        <p:nvSpPr>
          <p:cNvPr id="16" name="">
            <a:extLst xmlns:a="http://schemas.openxmlformats.org/drawingml/2006/main">
              <a:ext uri="{FF2B5EF4-FFF2-40B4-BE49-F238E27FC236}">
                <a16:creationId xmlns:a16="http://schemas.microsoft.com/office/drawing/2014/main" id="{CB28EB64-965A-42CB-89EC-47C14D01C78F}"/>
              </a:ext>
            </a:extLst>
          </p:cNvPr>
          <p:cNvSpPr>
            <a:spLocks xmlns:a="http://schemas.openxmlformats.org/drawingml/2006/main" noGrp="1"/>
          </p:cNvSpPr>
          <p:nvPr/>
        </p:nvSpPr>
        <p:spPr>
          <a:xfrm xmlns:a="http://schemas.openxmlformats.org/drawingml/2006/main">
            <a:off x="7524750" y="2238375"/>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1" i="0">
                <a:solidFill>
                  <a:srgbClr val="7C71FF"/>
                </a:solidFill>
                <a:latin typeface="Arial"/>
                <a:ea typeface="Arial"/>
                <a:cs typeface="Arial"/>
              </a:defRPr>
            </a:pPr>
            <a:r>
              <a:rPr sz="975" b="1" i="0">
                <a:solidFill>
                  <a:srgbClr val="7C71FF"/>
                </a:solidFill>
                <a:latin typeface="Arial"/>
                <a:ea typeface="Arial"/>
                <a:cs typeface="Arial"/>
              </a:rPr>
              <a:t>01</a:t>
            </a:r>
          </a:p>
        </p:txBody>
      </p:sp>
      <p:sp>
        <p:nvSpPr>
          <p:cNvPr id="17" name="">
            <a:extLst xmlns:a="http://schemas.openxmlformats.org/drawingml/2006/main">
              <a:ext uri="{FF2B5EF4-FFF2-40B4-BE49-F238E27FC236}">
                <a16:creationId xmlns:a16="http://schemas.microsoft.com/office/drawing/2014/main" id="{04FF358A-19BF-4DD8-BA4F-AB98100EA4C5}"/>
              </a:ext>
            </a:extLst>
          </p:cNvPr>
          <p:cNvSpPr>
            <a:spLocks xmlns:a="http://schemas.openxmlformats.org/drawingml/2006/main" noGrp="1"/>
          </p:cNvSpPr>
          <p:nvPr/>
        </p:nvSpPr>
        <p:spPr>
          <a:xfrm xmlns:a="http://schemas.openxmlformats.org/drawingml/2006/main">
            <a:off x="7943850" y="2209800"/>
            <a:ext cx="952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1912"/>
          </a:bodyPr>
          <a:lstStyle xmlns:a="http://schemas.openxmlformats.org/drawingml/2006/main"/>
          <a:p xmlns:a="http://schemas.openxmlformats.org/drawingml/2006/main">
            <a:pPr algn="l">
              <a:lnSpc>
                <a:spcPct val="112000"/>
              </a:lnSpc>
              <a:buNone/>
              <a:defRPr sz="1275" b="1" i="0">
                <a:solidFill>
                  <a:srgbClr val="FFFFFF"/>
                </a:solidFill>
                <a:latin typeface="Arial"/>
                <a:ea typeface="Arial"/>
                <a:cs typeface="Arial"/>
              </a:defRPr>
            </a:pPr>
            <a:r>
              <a:rPr sz="1275" b="1" i="0">
                <a:solidFill>
                  <a:srgbClr val="FFFFFF"/>
                </a:solidFill>
                <a:latin typeface="Arial"/>
                <a:ea typeface="Arial"/>
                <a:cs typeface="Arial"/>
              </a:rPr>
              <a:t>Policy</a:t>
            </a:r>
          </a:p>
        </p:txBody>
      </p:sp>
      <p:sp>
        <p:nvSpPr>
          <p:cNvPr id="18" name="">
            <a:extLst xmlns:a="http://schemas.openxmlformats.org/drawingml/2006/main">
              <a:ext uri="{FF2B5EF4-FFF2-40B4-BE49-F238E27FC236}">
                <a16:creationId xmlns:a16="http://schemas.microsoft.com/office/drawing/2014/main" id="{08FC87C5-60E2-45DC-91FF-0DD6472E7847}"/>
              </a:ext>
            </a:extLst>
          </p:cNvPr>
          <p:cNvSpPr>
            <a:spLocks xmlns:a="http://schemas.openxmlformats.org/drawingml/2006/main" noGrp="1"/>
          </p:cNvSpPr>
          <p:nvPr/>
        </p:nvSpPr>
        <p:spPr>
          <a:xfrm xmlns:a="http://schemas.openxmlformats.org/drawingml/2006/main">
            <a:off x="7943850" y="2457450"/>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i="0">
                <a:solidFill>
                  <a:srgbClr val="BEC4D5"/>
                </a:solidFill>
                <a:latin typeface="Arial"/>
                <a:ea typeface="Arial"/>
                <a:cs typeface="Arial"/>
              </a:defRPr>
            </a:pPr>
            <a:r>
              <a:rPr sz="1050" b="0" i="0">
                <a:solidFill>
                  <a:srgbClr val="BEC4D5"/>
                </a:solidFill>
                <a:latin typeface="Arial"/>
                <a:ea typeface="Arial"/>
                <a:cs typeface="Arial"/>
              </a:rPr>
              <a:t>What must always be true</a:t>
            </a:r>
          </a:p>
        </p:txBody>
      </p:sp>
      <p:sp>
        <p:nvSpPr>
          <p:cNvPr id="19" name="">
            <a:extLst xmlns:a="http://schemas.openxmlformats.org/drawingml/2006/main">
              <a:ext uri="{FF2B5EF4-FFF2-40B4-BE49-F238E27FC236}">
                <a16:creationId xmlns:a16="http://schemas.microsoft.com/office/drawing/2014/main" id="{352B953C-4AE6-4CC1-B3B1-51E402A38522}"/>
              </a:ext>
            </a:extLst>
          </p:cNvPr>
          <p:cNvSpPr>
            <a:spLocks xmlns:a="http://schemas.openxmlformats.org/drawingml/2006/main" noGrp="1"/>
          </p:cNvSpPr>
          <p:nvPr/>
        </p:nvSpPr>
        <p:spPr>
          <a:xfrm xmlns:a="http://schemas.openxmlformats.org/drawingml/2006/main">
            <a:off x="7524750" y="2743200"/>
            <a:ext cx="3238500" cy="0"/>
          </a:xfrm>
          <a:prstGeom xmlns:a="http://schemas.openxmlformats.org/drawingml/2006/main" prst="line">
            <a:avLst/>
          </a:prstGeom>
          <a:noFill xmlns:a="http://schemas.openxmlformats.org/drawingml/2006/main"/>
          <a:ln xmlns:a="http://schemas.openxmlformats.org/drawingml/2006/main" w="9525">
            <a:solidFill>
              <a:srgbClr val="303347"/>
            </a:solidFill>
            <a:prstDash val="solid"/>
          </a:ln>
        </p:spPr>
      </p:sp>
      <p:sp>
        <p:nvSpPr>
          <p:cNvPr id="20" name="">
            <a:extLst xmlns:a="http://schemas.openxmlformats.org/drawingml/2006/main">
              <a:ext uri="{FF2B5EF4-FFF2-40B4-BE49-F238E27FC236}">
                <a16:creationId xmlns:a16="http://schemas.microsoft.com/office/drawing/2014/main" id="{FFE2755A-47B4-4062-B475-4E005DAFD42A}"/>
              </a:ext>
            </a:extLst>
          </p:cNvPr>
          <p:cNvSpPr>
            <a:spLocks xmlns:a="http://schemas.openxmlformats.org/drawingml/2006/main" noGrp="1"/>
          </p:cNvSpPr>
          <p:nvPr/>
        </p:nvSpPr>
        <p:spPr>
          <a:xfrm xmlns:a="http://schemas.openxmlformats.org/drawingml/2006/main">
            <a:off x="7524750" y="2876550"/>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1" i="0">
                <a:solidFill>
                  <a:srgbClr val="7C71FF"/>
                </a:solidFill>
                <a:latin typeface="Arial"/>
                <a:ea typeface="Arial"/>
                <a:cs typeface="Arial"/>
              </a:defRPr>
            </a:pPr>
            <a:r>
              <a:rPr sz="975" b="1" i="0">
                <a:solidFill>
                  <a:srgbClr val="7C71FF"/>
                </a:solidFill>
                <a:latin typeface="Arial"/>
                <a:ea typeface="Arial"/>
                <a:cs typeface="Arial"/>
              </a:rPr>
              <a:t>02</a:t>
            </a:r>
          </a:p>
        </p:txBody>
      </p:sp>
      <p:sp>
        <p:nvSpPr>
          <p:cNvPr id="21" name="">
            <a:extLst xmlns:a="http://schemas.openxmlformats.org/drawingml/2006/main">
              <a:ext uri="{FF2B5EF4-FFF2-40B4-BE49-F238E27FC236}">
                <a16:creationId xmlns:a16="http://schemas.microsoft.com/office/drawing/2014/main" id="{975DEB5F-7753-4112-90E1-EDA31FA7E292}"/>
              </a:ext>
            </a:extLst>
          </p:cNvPr>
          <p:cNvSpPr>
            <a:spLocks xmlns:a="http://schemas.openxmlformats.org/drawingml/2006/main" noGrp="1"/>
          </p:cNvSpPr>
          <p:nvPr/>
        </p:nvSpPr>
        <p:spPr>
          <a:xfrm xmlns:a="http://schemas.openxmlformats.org/drawingml/2006/main">
            <a:off x="7943850" y="2847975"/>
            <a:ext cx="952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1912"/>
          </a:bodyPr>
          <a:lstStyle xmlns:a="http://schemas.openxmlformats.org/drawingml/2006/main"/>
          <a:p xmlns:a="http://schemas.openxmlformats.org/drawingml/2006/main">
            <a:pPr algn="l">
              <a:lnSpc>
                <a:spcPct val="112000"/>
              </a:lnSpc>
              <a:buNone/>
              <a:defRPr sz="1275" b="1" i="0">
                <a:solidFill>
                  <a:srgbClr val="FFFFFF"/>
                </a:solidFill>
                <a:latin typeface="Arial"/>
                <a:ea typeface="Arial"/>
                <a:cs typeface="Arial"/>
              </a:defRPr>
            </a:pPr>
            <a:r>
              <a:rPr sz="1275" b="1" i="0">
                <a:solidFill>
                  <a:srgbClr val="FFFFFF"/>
                </a:solidFill>
                <a:latin typeface="Arial"/>
                <a:ea typeface="Arial"/>
                <a:cs typeface="Arial"/>
              </a:rPr>
              <a:t>Path</a:t>
            </a:r>
          </a:p>
        </p:txBody>
      </p:sp>
      <p:sp>
        <p:nvSpPr>
          <p:cNvPr id="22" name="">
            <a:extLst xmlns:a="http://schemas.openxmlformats.org/drawingml/2006/main">
              <a:ext uri="{FF2B5EF4-FFF2-40B4-BE49-F238E27FC236}">
                <a16:creationId xmlns:a16="http://schemas.microsoft.com/office/drawing/2014/main" id="{1400A792-8098-4EB5-B8D3-CA9C1DE23D4E}"/>
              </a:ext>
            </a:extLst>
          </p:cNvPr>
          <p:cNvSpPr>
            <a:spLocks xmlns:a="http://schemas.openxmlformats.org/drawingml/2006/main" noGrp="1"/>
          </p:cNvSpPr>
          <p:nvPr/>
        </p:nvSpPr>
        <p:spPr>
          <a:xfrm xmlns:a="http://schemas.openxmlformats.org/drawingml/2006/main">
            <a:off x="7943850" y="309562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i="0">
                <a:solidFill>
                  <a:srgbClr val="BEC4D5"/>
                </a:solidFill>
                <a:latin typeface="Arial"/>
                <a:ea typeface="Arial"/>
                <a:cs typeface="Arial"/>
              </a:defRPr>
            </a:pPr>
            <a:r>
              <a:rPr sz="1050" b="0" i="0">
                <a:solidFill>
                  <a:srgbClr val="BEC4D5"/>
                </a:solidFill>
                <a:latin typeface="Arial"/>
                <a:ea typeface="Arial"/>
                <a:cs typeface="Arial"/>
              </a:rPr>
              <a:t>How a request reaches sensitive data or action</a:t>
            </a:r>
          </a:p>
        </p:txBody>
      </p:sp>
      <p:sp>
        <p:nvSpPr>
          <p:cNvPr id="23" name="">
            <a:extLst xmlns:a="http://schemas.openxmlformats.org/drawingml/2006/main">
              <a:ext uri="{FF2B5EF4-FFF2-40B4-BE49-F238E27FC236}">
                <a16:creationId xmlns:a16="http://schemas.microsoft.com/office/drawing/2014/main" id="{77435213-E6C1-49F9-B0AC-BDC8B7E0A80E}"/>
              </a:ext>
            </a:extLst>
          </p:cNvPr>
          <p:cNvSpPr>
            <a:spLocks xmlns:a="http://schemas.openxmlformats.org/drawingml/2006/main" noGrp="1"/>
          </p:cNvSpPr>
          <p:nvPr/>
        </p:nvSpPr>
        <p:spPr>
          <a:xfrm xmlns:a="http://schemas.openxmlformats.org/drawingml/2006/main">
            <a:off x="7524750" y="3381375"/>
            <a:ext cx="3238500" cy="0"/>
          </a:xfrm>
          <a:prstGeom xmlns:a="http://schemas.openxmlformats.org/drawingml/2006/main" prst="line">
            <a:avLst/>
          </a:prstGeom>
          <a:noFill xmlns:a="http://schemas.openxmlformats.org/drawingml/2006/main"/>
          <a:ln xmlns:a="http://schemas.openxmlformats.org/drawingml/2006/main" w="9525">
            <a:solidFill>
              <a:srgbClr val="303347"/>
            </a:solidFill>
            <a:prstDash val="solid"/>
          </a:ln>
        </p:spPr>
      </p:sp>
      <p:sp>
        <p:nvSpPr>
          <p:cNvPr id="24" name="">
            <a:extLst xmlns:a="http://schemas.openxmlformats.org/drawingml/2006/main">
              <a:ext uri="{FF2B5EF4-FFF2-40B4-BE49-F238E27FC236}">
                <a16:creationId xmlns:a16="http://schemas.microsoft.com/office/drawing/2014/main" id="{89BF9403-3C07-466D-9B44-7741F49CE7AA}"/>
              </a:ext>
            </a:extLst>
          </p:cNvPr>
          <p:cNvSpPr>
            <a:spLocks xmlns:a="http://schemas.openxmlformats.org/drawingml/2006/main" noGrp="1"/>
          </p:cNvSpPr>
          <p:nvPr/>
        </p:nvSpPr>
        <p:spPr>
          <a:xfrm xmlns:a="http://schemas.openxmlformats.org/drawingml/2006/main">
            <a:off x="7524750" y="3514725"/>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1" i="0">
                <a:solidFill>
                  <a:srgbClr val="7C71FF"/>
                </a:solidFill>
                <a:latin typeface="Arial"/>
                <a:ea typeface="Arial"/>
                <a:cs typeface="Arial"/>
              </a:defRPr>
            </a:pPr>
            <a:r>
              <a:rPr sz="975" b="1" i="0">
                <a:solidFill>
                  <a:srgbClr val="7C71FF"/>
                </a:solidFill>
                <a:latin typeface="Arial"/>
                <a:ea typeface="Arial"/>
                <a:cs typeface="Arial"/>
              </a:rPr>
              <a:t>03</a:t>
            </a:r>
          </a:p>
        </p:txBody>
      </p:sp>
      <p:sp>
        <p:nvSpPr>
          <p:cNvPr id="25" name="">
            <a:extLst xmlns:a="http://schemas.openxmlformats.org/drawingml/2006/main">
              <a:ext uri="{FF2B5EF4-FFF2-40B4-BE49-F238E27FC236}">
                <a16:creationId xmlns:a16="http://schemas.microsoft.com/office/drawing/2014/main" id="{DCD230ED-D7AA-4DBC-8F9B-594E88669B62}"/>
              </a:ext>
            </a:extLst>
          </p:cNvPr>
          <p:cNvSpPr>
            <a:spLocks xmlns:a="http://schemas.openxmlformats.org/drawingml/2006/main" noGrp="1"/>
          </p:cNvSpPr>
          <p:nvPr/>
        </p:nvSpPr>
        <p:spPr>
          <a:xfrm xmlns:a="http://schemas.openxmlformats.org/drawingml/2006/main">
            <a:off x="7943850" y="3486150"/>
            <a:ext cx="952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1912"/>
          </a:bodyPr>
          <a:lstStyle xmlns:a="http://schemas.openxmlformats.org/drawingml/2006/main"/>
          <a:p xmlns:a="http://schemas.openxmlformats.org/drawingml/2006/main">
            <a:pPr algn="l">
              <a:lnSpc>
                <a:spcPct val="112000"/>
              </a:lnSpc>
              <a:buNone/>
              <a:defRPr sz="1275" b="1" i="0">
                <a:solidFill>
                  <a:srgbClr val="FFFFFF"/>
                </a:solidFill>
                <a:latin typeface="Arial"/>
                <a:ea typeface="Arial"/>
                <a:cs typeface="Arial"/>
              </a:defRPr>
            </a:pPr>
            <a:r>
              <a:rPr sz="1275" b="1" i="0">
                <a:solidFill>
                  <a:srgbClr val="FFFFFF"/>
                </a:solidFill>
                <a:latin typeface="Arial"/>
                <a:ea typeface="Arial"/>
                <a:cs typeface="Arial"/>
              </a:rPr>
              <a:t>Proof</a:t>
            </a:r>
          </a:p>
        </p:txBody>
      </p:sp>
      <p:sp>
        <p:nvSpPr>
          <p:cNvPr id="26" name="">
            <a:extLst xmlns:a="http://schemas.openxmlformats.org/drawingml/2006/main">
              <a:ext uri="{FF2B5EF4-FFF2-40B4-BE49-F238E27FC236}">
                <a16:creationId xmlns:a16="http://schemas.microsoft.com/office/drawing/2014/main" id="{4F0AF7BA-C026-482B-9821-4F221E1C3060}"/>
              </a:ext>
            </a:extLst>
          </p:cNvPr>
          <p:cNvSpPr>
            <a:spLocks xmlns:a="http://schemas.openxmlformats.org/drawingml/2006/main" noGrp="1"/>
          </p:cNvSpPr>
          <p:nvPr/>
        </p:nvSpPr>
        <p:spPr>
          <a:xfrm xmlns:a="http://schemas.openxmlformats.org/drawingml/2006/main">
            <a:off x="7943850" y="3733800"/>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i="0">
                <a:solidFill>
                  <a:srgbClr val="BEC4D5"/>
                </a:solidFill>
                <a:latin typeface="Arial"/>
                <a:ea typeface="Arial"/>
                <a:cs typeface="Arial"/>
              </a:defRPr>
            </a:pPr>
            <a:r>
              <a:rPr sz="1050" b="0" i="0">
                <a:solidFill>
                  <a:srgbClr val="BEC4D5"/>
                </a:solidFill>
                <a:latin typeface="Arial"/>
                <a:ea typeface="Arial"/>
                <a:cs typeface="Arial"/>
              </a:rPr>
              <a:t>Which source evidence supports the hypothesis</a:t>
            </a:r>
          </a:p>
        </p:txBody>
      </p:sp>
      <p:sp>
        <p:nvSpPr>
          <p:cNvPr id="27" name="">
            <a:extLst xmlns:a="http://schemas.openxmlformats.org/drawingml/2006/main">
              <a:ext uri="{FF2B5EF4-FFF2-40B4-BE49-F238E27FC236}">
                <a16:creationId xmlns:a16="http://schemas.microsoft.com/office/drawing/2014/main" id="{083F3197-4BA9-4667-AEB2-4E83FC67403D}"/>
              </a:ext>
            </a:extLst>
          </p:cNvPr>
          <p:cNvSpPr>
            <a:spLocks xmlns:a="http://schemas.openxmlformats.org/drawingml/2006/main" noGrp="1"/>
          </p:cNvSpPr>
          <p:nvPr/>
        </p:nvSpPr>
        <p:spPr>
          <a:xfrm xmlns:a="http://schemas.openxmlformats.org/drawingml/2006/main">
            <a:off x="7524750" y="4019550"/>
            <a:ext cx="3238500" cy="0"/>
          </a:xfrm>
          <a:prstGeom xmlns:a="http://schemas.openxmlformats.org/drawingml/2006/main" prst="line">
            <a:avLst/>
          </a:prstGeom>
          <a:noFill xmlns:a="http://schemas.openxmlformats.org/drawingml/2006/main"/>
          <a:ln xmlns:a="http://schemas.openxmlformats.org/drawingml/2006/main" w="9525">
            <a:solidFill>
              <a:srgbClr val="303347"/>
            </a:solidFill>
            <a:prstDash val="solid"/>
          </a:ln>
        </p:spPr>
      </p:sp>
      <p:sp>
        <p:nvSpPr>
          <p:cNvPr id="28" name="">
            <a:extLst xmlns:a="http://schemas.openxmlformats.org/drawingml/2006/main">
              <a:ext uri="{FF2B5EF4-FFF2-40B4-BE49-F238E27FC236}">
                <a16:creationId xmlns:a16="http://schemas.microsoft.com/office/drawing/2014/main" id="{1E543694-E488-4B5D-95BA-EC1E9A80B786}"/>
              </a:ext>
            </a:extLst>
          </p:cNvPr>
          <p:cNvSpPr>
            <a:spLocks xmlns:a="http://schemas.openxmlformats.org/drawingml/2006/main" noGrp="1"/>
          </p:cNvSpPr>
          <p:nvPr/>
        </p:nvSpPr>
        <p:spPr>
          <a:xfrm xmlns:a="http://schemas.openxmlformats.org/drawingml/2006/main">
            <a:off x="7524750" y="4152900"/>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1" i="0">
                <a:solidFill>
                  <a:srgbClr val="7C71FF"/>
                </a:solidFill>
                <a:latin typeface="Arial"/>
                <a:ea typeface="Arial"/>
                <a:cs typeface="Arial"/>
              </a:defRPr>
            </a:pPr>
            <a:r>
              <a:rPr sz="975" b="1" i="0">
                <a:solidFill>
                  <a:srgbClr val="7C71FF"/>
                </a:solidFill>
                <a:latin typeface="Arial"/>
                <a:ea typeface="Arial"/>
                <a:cs typeface="Arial"/>
              </a:rPr>
              <a:t>04</a:t>
            </a:r>
          </a:p>
        </p:txBody>
      </p:sp>
      <p:sp>
        <p:nvSpPr>
          <p:cNvPr id="29" name="">
            <a:extLst xmlns:a="http://schemas.openxmlformats.org/drawingml/2006/main">
              <a:ext uri="{FF2B5EF4-FFF2-40B4-BE49-F238E27FC236}">
                <a16:creationId xmlns:a16="http://schemas.microsoft.com/office/drawing/2014/main" id="{4D43C537-AE4D-4FF1-A767-F3EA87F77102}"/>
              </a:ext>
            </a:extLst>
          </p:cNvPr>
          <p:cNvSpPr>
            <a:spLocks xmlns:a="http://schemas.openxmlformats.org/drawingml/2006/main" noGrp="1"/>
          </p:cNvSpPr>
          <p:nvPr/>
        </p:nvSpPr>
        <p:spPr>
          <a:xfrm xmlns:a="http://schemas.openxmlformats.org/drawingml/2006/main">
            <a:off x="7943850" y="4124325"/>
            <a:ext cx="952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1912"/>
          </a:bodyPr>
          <a:lstStyle xmlns:a="http://schemas.openxmlformats.org/drawingml/2006/main"/>
          <a:p xmlns:a="http://schemas.openxmlformats.org/drawingml/2006/main">
            <a:pPr algn="l">
              <a:lnSpc>
                <a:spcPct val="112000"/>
              </a:lnSpc>
              <a:buNone/>
              <a:defRPr sz="1275" b="1" i="0">
                <a:solidFill>
                  <a:srgbClr val="FFFFFF"/>
                </a:solidFill>
                <a:latin typeface="Arial"/>
                <a:ea typeface="Arial"/>
                <a:cs typeface="Arial"/>
              </a:defRPr>
            </a:pPr>
            <a:r>
              <a:rPr sz="1275" b="1" i="0">
                <a:solidFill>
                  <a:srgbClr val="FFFFFF"/>
                </a:solidFill>
                <a:latin typeface="Arial"/>
                <a:ea typeface="Arial"/>
                <a:cs typeface="Arial"/>
              </a:rPr>
              <a:t>Decision</a:t>
            </a:r>
          </a:p>
        </p:txBody>
      </p:sp>
      <p:sp>
        <p:nvSpPr>
          <p:cNvPr id="30" name="">
            <a:extLst xmlns:a="http://schemas.openxmlformats.org/drawingml/2006/main">
              <a:ext uri="{FF2B5EF4-FFF2-40B4-BE49-F238E27FC236}">
                <a16:creationId xmlns:a16="http://schemas.microsoft.com/office/drawing/2014/main" id="{0B045C47-3F0E-4A0E-8DC5-3DC14B0E9047}"/>
              </a:ext>
            </a:extLst>
          </p:cNvPr>
          <p:cNvSpPr>
            <a:spLocks xmlns:a="http://schemas.openxmlformats.org/drawingml/2006/main" noGrp="1"/>
          </p:cNvSpPr>
          <p:nvPr/>
        </p:nvSpPr>
        <p:spPr>
          <a:xfrm xmlns:a="http://schemas.openxmlformats.org/drawingml/2006/main">
            <a:off x="7943850" y="437197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i="0">
                <a:solidFill>
                  <a:srgbClr val="BEC4D5"/>
                </a:solidFill>
                <a:latin typeface="Arial"/>
                <a:ea typeface="Arial"/>
                <a:cs typeface="Arial"/>
              </a:defRPr>
            </a:pPr>
            <a:r>
              <a:rPr sz="1050" b="0" i="0">
                <a:solidFill>
                  <a:srgbClr val="BEC4D5"/>
                </a:solidFill>
                <a:latin typeface="Arial"/>
                <a:ea typeface="Arial"/>
                <a:cs typeface="Arial"/>
              </a:rPr>
              <a:t>What remains for a reviewer to validate</a:t>
            </a:r>
          </a:p>
        </p:txBody>
      </p:sp>
      <p:sp>
        <p:nvSpPr>
          <p:cNvPr id="31" name="">
            <a:extLst xmlns:a="http://schemas.openxmlformats.org/drawingml/2006/main">
              <a:ext uri="{FF2B5EF4-FFF2-40B4-BE49-F238E27FC236}">
                <a16:creationId xmlns:a16="http://schemas.microsoft.com/office/drawing/2014/main" id="{57F48BEA-779E-407A-AB73-69A1FFBA8771}"/>
              </a:ext>
            </a:extLst>
          </p:cNvPr>
          <p:cNvSpPr>
            <a:spLocks xmlns:a="http://schemas.openxmlformats.org/drawingml/2006/main" noGrp="1"/>
          </p:cNvSpPr>
          <p:nvPr/>
        </p:nvSpPr>
        <p:spPr>
          <a:xfrm xmlns:a="http://schemas.openxmlformats.org/drawingml/2006/main">
            <a:off x="7524750" y="5048250"/>
            <a:ext cx="338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i="1">
                <a:solidFill>
                  <a:srgbClr val="BEC4D5"/>
                </a:solidFill>
                <a:latin typeface="Arial"/>
                <a:ea typeface="Arial"/>
                <a:cs typeface="Arial"/>
              </a:defRPr>
            </a:pPr>
            <a:r>
              <a:rPr sz="1050" b="0" i="1">
                <a:solidFill>
                  <a:srgbClr val="BEC4D5"/>
                </a:solidFill>
                <a:latin typeface="Arial"/>
                <a:ea typeface="Arial"/>
                <a:cs typeface="Arial"/>
              </a:rPr>
              <a:t>Not a claim of a breach. A traceable basis for review.</a:t>
            </a:r>
          </a:p>
        </p:txBody>
      </p:sp>
    </p:spTree>
    <p:extLst>
      <p:ext uri="{BB962C8B-B14F-4D97-AF65-F5344CB8AC3E}">
        <p14:creationId xmlns:p14="http://schemas.microsoft.com/office/powerpoint/2010/main" val="91450652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9F71709-131F-4C0B-A14E-DD77C1490C08}"/>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 name="">
            <a:extLst xmlns:a="http://schemas.openxmlformats.org/drawingml/2006/main">
              <a:ext uri="{FF2B5EF4-FFF2-40B4-BE49-F238E27FC236}">
                <a16:creationId xmlns:a16="http://schemas.microsoft.com/office/drawing/2014/main" id="{1CFF7AED-35C5-49CD-8E85-811BAFB508FE}"/>
              </a:ext>
            </a:extLst>
          </p:cNvPr>
          <p:cNvSpPr>
            <a:spLocks xmlns:a="http://schemas.openxmlformats.org/drawingml/2006/main" noGrp="1"/>
          </p:cNvSpPr>
          <p:nvPr/>
        </p:nvSpPr>
        <p:spPr>
          <a:xfrm xmlns:a="http://schemas.openxmlformats.org/drawingml/2006/main">
            <a:off x="685800" y="6534150"/>
            <a:ext cx="4286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750" b="1" i="0">
                <a:solidFill>
                  <a:srgbClr val="626A7C"/>
                </a:solidFill>
                <a:latin typeface="Arial"/>
                <a:ea typeface="Arial"/>
                <a:cs typeface="Arial"/>
              </a:defRPr>
            </a:pPr>
            <a:r>
              <a:rPr sz="750" b="1" i="0">
                <a:solidFill>
                  <a:srgbClr val="626A7C"/>
                </a:solidFill>
                <a:latin typeface="Arial"/>
                <a:ea typeface="Arial"/>
                <a:cs typeface="Arial"/>
              </a:rPr>
              <a:t>INVARIA  |  REVIEW PRESENTATION</a:t>
            </a:r>
          </a:p>
        </p:txBody>
      </p:sp>
      <p:sp>
        <p:nvSpPr>
          <p:cNvPr id="3" name="">
            <a:extLst xmlns:a="http://schemas.openxmlformats.org/drawingml/2006/main">
              <a:ext uri="{FF2B5EF4-FFF2-40B4-BE49-F238E27FC236}">
                <a16:creationId xmlns:a16="http://schemas.microsoft.com/office/drawing/2014/main" id="{4395824C-0783-4648-B7BB-43E3300D2640}"/>
              </a:ext>
            </a:extLst>
          </p:cNvPr>
          <p:cNvSpPr>
            <a:spLocks xmlns:a="http://schemas.openxmlformats.org/drawingml/2006/main" noGrp="1"/>
          </p:cNvSpPr>
          <p:nvPr/>
        </p:nvSpPr>
        <p:spPr>
          <a:xfrm xmlns:a="http://schemas.openxmlformats.org/drawingml/2006/main">
            <a:off x="4286250" y="6534150"/>
            <a:ext cx="6191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675" b="0" i="0">
                <a:solidFill>
                  <a:srgbClr val="626A7C"/>
                </a:solidFill>
                <a:latin typeface="Arial"/>
                <a:ea typeface="Arial"/>
                <a:cs typeface="Arial"/>
              </a:defRPr>
            </a:pPr>
            <a:r>
              <a:rPr sz="675" b="0" i="0">
                <a:solidFill>
                  <a:srgbClr val="626A7C"/>
                </a:solidFill>
                <a:latin typeface="Arial"/>
                <a:ea typeface="Arial"/>
                <a:cs typeface="Arial"/>
              </a:rPr>
              <a:t>Source: Grand View Research, Application Security Market, 2026–2033</a:t>
            </a:r>
          </a:p>
        </p:txBody>
      </p:sp>
      <p:sp>
        <p:nvSpPr>
          <p:cNvPr id="4" name="">
            <a:extLst xmlns:a="http://schemas.openxmlformats.org/drawingml/2006/main">
              <a:ext uri="{FF2B5EF4-FFF2-40B4-BE49-F238E27FC236}">
                <a16:creationId xmlns:a16="http://schemas.microsoft.com/office/drawing/2014/main" id="{C11B1596-E471-4BF0-AD34-C1C7EE13BD20}"/>
              </a:ext>
            </a:extLst>
          </p:cNvPr>
          <p:cNvSpPr>
            <a:spLocks xmlns:a="http://schemas.openxmlformats.org/drawingml/2006/main" noGrp="1"/>
          </p:cNvSpPr>
          <p:nvPr/>
        </p:nvSpPr>
        <p:spPr>
          <a:xfrm xmlns:a="http://schemas.openxmlformats.org/drawingml/2006/main">
            <a:off x="10858500" y="6515100"/>
            <a:ext cx="647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FD8942EC-8A91-40E6-9EAA-8240A8004A06}"/>
              </a:ext>
            </a:extLst>
          </p:cNvPr>
          <p:cNvSpPr>
            <a:spLocks xmlns:a="http://schemas.openxmlformats.org/drawingml/2006/main" noGrp="1"/>
          </p:cNvSpPr>
          <p:nvPr/>
        </p:nvSpPr>
        <p:spPr>
          <a:xfrm xmlns:a="http://schemas.openxmlformats.org/drawingml/2006/main">
            <a:off x="685800" y="514350"/>
            <a:ext cx="1714500" cy="266700"/>
          </a:xfrm>
          <a:prstGeom xmlns:a="http://schemas.openxmlformats.org/drawingml/2006/main" prst="roundRect">
            <a:avLst>
              <a:gd name="adj" fmla="val 50000"/>
            </a:avLst>
          </a:prstGeom>
          <a:solidFill xmlns:a="http://schemas.openxmlformats.org/drawingml/2006/main">
            <a:srgbClr val="F1F0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FBB54F0-C5AD-4ADA-AD0F-29CD1FFBB391}"/>
              </a:ext>
            </a:extLst>
          </p:cNvPr>
          <p:cNvSpPr>
            <a:spLocks xmlns:a="http://schemas.openxmlformats.org/drawingml/2006/main" noGrp="1"/>
          </p:cNvSpPr>
          <p:nvPr/>
        </p:nvSpPr>
        <p:spPr>
          <a:xfrm xmlns:a="http://schemas.openxmlformats.org/drawingml/2006/main">
            <a:off x="781050" y="57150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MARKET OPPORTUNITY</a:t>
            </a:r>
          </a:p>
        </p:txBody>
      </p:sp>
      <p:sp>
        <p:nvSpPr>
          <p:cNvPr id="7" name="">
            <a:extLst xmlns:a="http://schemas.openxmlformats.org/drawingml/2006/main">
              <a:ext uri="{FF2B5EF4-FFF2-40B4-BE49-F238E27FC236}">
                <a16:creationId xmlns:a16="http://schemas.microsoft.com/office/drawing/2014/main" id="{09EB8370-FE06-4BA4-9B36-3C989F11D1E1}"/>
              </a:ext>
            </a:extLst>
          </p:cNvPr>
          <p:cNvSpPr>
            <a:spLocks xmlns:a="http://schemas.openxmlformats.org/drawingml/2006/main" noGrp="1"/>
          </p:cNvSpPr>
          <p:nvPr/>
        </p:nvSpPr>
        <p:spPr>
          <a:xfrm xmlns:a="http://schemas.openxmlformats.org/drawingml/2006/main">
            <a:off x="685800" y="971550"/>
            <a:ext cx="638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9343"/>
          </a:bodyPr>
          <a:lstStyle xmlns:a="http://schemas.openxmlformats.org/drawingml/2006/main"/>
          <a:p xmlns:a="http://schemas.openxmlformats.org/drawingml/2006/main">
            <a:pPr algn="l">
              <a:lnSpc>
                <a:spcPct val="100000"/>
              </a:lnSpc>
              <a:buNone/>
              <a:defRPr sz="3225" b="1" i="0">
                <a:solidFill>
                  <a:srgbClr val="121522"/>
                </a:solidFill>
                <a:latin typeface="Arial"/>
                <a:ea typeface="Arial"/>
                <a:cs typeface="Arial"/>
              </a:defRPr>
            </a:pPr>
            <a:r>
              <a:rPr sz="3225" b="1" i="0">
                <a:solidFill>
                  <a:srgbClr val="121522"/>
                </a:solidFill>
                <a:latin typeface="Arial"/>
                <a:ea typeface="Arial"/>
                <a:cs typeface="Arial"/>
              </a:rPr>
              <a:t>Application security is a growing</a:t>
            </a:r>
          </a:p>
          <a:p xmlns:a="http://schemas.openxmlformats.org/drawingml/2006/main">
            <a:pPr algn="l">
              <a:lnSpc>
                <a:spcPct val="100000"/>
              </a:lnSpc>
              <a:buNone/>
              <a:defRPr sz="3225" b="1" i="0">
                <a:solidFill>
                  <a:srgbClr val="121522"/>
                </a:solidFill>
                <a:latin typeface="Arial"/>
                <a:ea typeface="Arial"/>
                <a:cs typeface="Arial"/>
              </a:defRPr>
            </a:pPr>
            <a:r>
              <a:rPr sz="3225" b="1" i="0">
                <a:solidFill>
                  <a:srgbClr val="121522"/>
                </a:solidFill>
                <a:latin typeface="Arial"/>
                <a:ea typeface="Arial"/>
                <a:cs typeface="Arial"/>
              </a:rPr>
              <a:t>category with a clear entry point</a:t>
            </a:r>
          </a:p>
        </p:txBody>
      </p:sp>
      <p:sp>
        <p:nvSpPr>
          <p:cNvPr id="8" name="">
            <a:extLst xmlns:a="http://schemas.openxmlformats.org/drawingml/2006/main">
              <a:ext uri="{FF2B5EF4-FFF2-40B4-BE49-F238E27FC236}">
                <a16:creationId xmlns:a16="http://schemas.microsoft.com/office/drawing/2014/main" id="{FA5944DA-DFCA-4516-9A8B-14C3AFA11060}"/>
              </a:ext>
            </a:extLst>
          </p:cNvPr>
          <p:cNvSpPr>
            <a:spLocks xmlns:a="http://schemas.openxmlformats.org/drawingml/2006/main" noGrp="1"/>
          </p:cNvSpPr>
          <p:nvPr/>
        </p:nvSpPr>
        <p:spPr>
          <a:xfrm xmlns:a="http://schemas.openxmlformats.org/drawingml/2006/main">
            <a:off x="685800" y="2171700"/>
            <a:ext cx="590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3855"/>
          </a:bodyPr>
          <a:lstStyle xmlns:a="http://schemas.openxmlformats.org/drawingml/2006/main"/>
          <a:p xmlns:a="http://schemas.openxmlformats.org/drawingml/2006/main">
            <a:pPr algn="l">
              <a:lnSpc>
                <a:spcPct val="120000"/>
              </a:lnSpc>
              <a:buNone/>
              <a:defRPr sz="1425" b="0" i="0">
                <a:solidFill>
                  <a:srgbClr val="626A7C"/>
                </a:solidFill>
                <a:latin typeface="Arial"/>
                <a:ea typeface="Arial"/>
                <a:cs typeface="Arial"/>
              </a:defRPr>
            </a:pPr>
            <a:r>
              <a:rPr sz="1425" b="0" i="0">
                <a:solidFill>
                  <a:srgbClr val="626A7C"/>
                </a:solidFill>
                <a:latin typeface="Arial"/>
                <a:ea typeface="Arial"/>
                <a:cs typeface="Arial"/>
              </a:rPr>
              <a:t>Invaria begins with API-driven products where a broken ownership or business-flow rule can directly affect money, tenant data, or regulated records.</a:t>
            </a:r>
          </a:p>
        </p:txBody>
      </p:sp>
      <p:graphicFrame>
        <p:nvGraphicFramePr>
          <p:cNvPr id="30" name="Chart"/>
          <p:cNvGraphicFramePr/>
          <p:nvPr/>
        </p:nvGraphicFramePr>
        <p:xfrm>
          <a:off xmlns:a="http://schemas.openxmlformats.org/drawingml/2006/main" x="685800" y="3067050"/>
          <a:ext xmlns:a="http://schemas.openxmlformats.org/drawingml/2006/main" cx="5524500" cy="2724150"/>
        </p:xfrm>
        <a:graphic xmlns:a="http://schemas.openxmlformats.org/drawingml/2006/main">
          <a:graphicData uri="http://schemas.openxmlformats.org/drawingml/2006/chart">
            <c:chart xmlns:r="http://schemas.openxmlformats.org/officeDocument/2006/relationships" xmlns:c="http://schemas.openxmlformats.org/drawingml/2006/chart" r:id="Rf07b29cd182c4b4a"/>
          </a:graphicData>
        </a:graphic>
      </p:graphicFrame>
      <p:sp>
        <p:nvSpPr>
          <p:cNvPr id="10" name="">
            <a:extLst xmlns:a="http://schemas.openxmlformats.org/drawingml/2006/main">
              <a:ext uri="{FF2B5EF4-FFF2-40B4-BE49-F238E27FC236}">
                <a16:creationId xmlns:a16="http://schemas.microsoft.com/office/drawing/2014/main" id="{87D47AA2-5E31-410E-BFFB-6CBFB822B8E9}"/>
              </a:ext>
            </a:extLst>
          </p:cNvPr>
          <p:cNvSpPr>
            <a:spLocks xmlns:a="http://schemas.openxmlformats.org/drawingml/2006/main" noGrp="1"/>
          </p:cNvSpPr>
          <p:nvPr/>
        </p:nvSpPr>
        <p:spPr>
          <a:xfrm xmlns:a="http://schemas.openxmlformats.org/drawingml/2006/main">
            <a:off x="685800" y="285750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1" i="0">
                <a:solidFill>
                  <a:srgbClr val="626A7C"/>
                </a:solidFill>
                <a:latin typeface="Arial"/>
                <a:ea typeface="Arial"/>
                <a:cs typeface="Arial"/>
              </a:defRPr>
            </a:pPr>
            <a:r>
              <a:rPr sz="975" b="1" i="0">
                <a:solidFill>
                  <a:srgbClr val="626A7C"/>
                </a:solidFill>
                <a:latin typeface="Arial"/>
                <a:ea typeface="Arial"/>
                <a:cs typeface="Arial"/>
              </a:rPr>
              <a:t>Global application security market, USD billions</a:t>
            </a:r>
          </a:p>
        </p:txBody>
      </p:sp>
      <p:sp>
        <p:nvSpPr>
          <p:cNvPr id="11" name="">
            <a:extLst xmlns:a="http://schemas.openxmlformats.org/drawingml/2006/main">
              <a:ext uri="{FF2B5EF4-FFF2-40B4-BE49-F238E27FC236}">
                <a16:creationId xmlns:a16="http://schemas.microsoft.com/office/drawing/2014/main" id="{CC612B0E-1ACA-40A5-8824-0CB83DFA2D30}"/>
              </a:ext>
            </a:extLst>
          </p:cNvPr>
          <p:cNvSpPr>
            <a:spLocks xmlns:a="http://schemas.openxmlformats.org/drawingml/2006/main" noGrp="1"/>
          </p:cNvSpPr>
          <p:nvPr/>
        </p:nvSpPr>
        <p:spPr>
          <a:xfrm xmlns:a="http://schemas.openxmlformats.org/drawingml/2006/main">
            <a:off x="7010400" y="990600"/>
            <a:ext cx="4495800" cy="4419600"/>
          </a:xfrm>
          <a:prstGeom xmlns:a="http://schemas.openxmlformats.org/drawingml/2006/main" prst="roundRect">
            <a:avLst>
              <a:gd name="adj" fmla="val 5172"/>
            </a:avLst>
          </a:prstGeom>
          <a:solidFill xmlns:a="http://schemas.openxmlformats.org/drawingml/2006/main">
            <a:srgbClr val="F7F8F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FCD8B13-FA1F-4025-AB03-A4ABC4197EAD}"/>
              </a:ext>
            </a:extLst>
          </p:cNvPr>
          <p:cNvSpPr>
            <a:spLocks xmlns:a="http://schemas.openxmlformats.org/drawingml/2006/main" noGrp="1"/>
          </p:cNvSpPr>
          <p:nvPr/>
        </p:nvSpPr>
        <p:spPr>
          <a:xfrm xmlns:a="http://schemas.openxmlformats.org/drawingml/2006/main">
            <a:off x="7391400" y="135255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5646E8"/>
                </a:solidFill>
                <a:latin typeface="Arial"/>
                <a:ea typeface="Arial"/>
                <a:cs typeface="Arial"/>
              </a:defRPr>
            </a:pPr>
            <a:r>
              <a:rPr sz="900" b="1" i="0">
                <a:solidFill>
                  <a:srgbClr val="5646E8"/>
                </a:solidFill>
                <a:latin typeface="Arial"/>
                <a:ea typeface="Arial"/>
                <a:cs typeface="Arial"/>
              </a:rPr>
              <a:t>WHERE INVARIA FITS</a:t>
            </a:r>
          </a:p>
        </p:txBody>
      </p:sp>
      <p:sp>
        <p:nvSpPr>
          <p:cNvPr id="13" name="">
            <a:extLst xmlns:a="http://schemas.openxmlformats.org/drawingml/2006/main">
              <a:ext uri="{FF2B5EF4-FFF2-40B4-BE49-F238E27FC236}">
                <a16:creationId xmlns:a16="http://schemas.microsoft.com/office/drawing/2014/main" id="{EF2D680E-978D-46D8-BF6E-DE434CF0F8EC}"/>
              </a:ext>
            </a:extLst>
          </p:cNvPr>
          <p:cNvSpPr>
            <a:spLocks xmlns:a="http://schemas.openxmlformats.org/drawingml/2006/main" noGrp="1"/>
          </p:cNvSpPr>
          <p:nvPr/>
        </p:nvSpPr>
        <p:spPr>
          <a:xfrm xmlns:a="http://schemas.openxmlformats.org/drawingml/2006/main">
            <a:off x="7391400" y="171450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0580"/>
          </a:bodyPr>
          <a:lstStyle xmlns:a="http://schemas.openxmlformats.org/drawingml/2006/main"/>
          <a:p xmlns:a="http://schemas.openxmlformats.org/drawingml/2006/main">
            <a:pPr algn="l">
              <a:lnSpc>
                <a:spcPct val="112000"/>
              </a:lnSpc>
              <a:buNone/>
              <a:defRPr sz="1725" b="1" i="0">
                <a:solidFill>
                  <a:srgbClr val="121522"/>
                </a:solidFill>
                <a:latin typeface="Arial"/>
                <a:ea typeface="Arial"/>
                <a:cs typeface="Arial"/>
              </a:defRPr>
            </a:pPr>
            <a:r>
              <a:rPr sz="1725" b="1" i="0">
                <a:solidFill>
                  <a:srgbClr val="121522"/>
                </a:solidFill>
                <a:latin typeface="Arial"/>
                <a:ea typeface="Arial"/>
                <a:cs typeface="Arial"/>
              </a:rPr>
              <a:t>Initial wedge</a:t>
            </a:r>
          </a:p>
        </p:txBody>
      </p:sp>
      <p:sp>
        <p:nvSpPr>
          <p:cNvPr id="14" name="">
            <a:extLst xmlns:a="http://schemas.openxmlformats.org/drawingml/2006/main">
              <a:ext uri="{FF2B5EF4-FFF2-40B4-BE49-F238E27FC236}">
                <a16:creationId xmlns:a16="http://schemas.microsoft.com/office/drawing/2014/main" id="{2D2C8B97-4E43-4E12-8C05-0140A88BC65D}"/>
              </a:ext>
            </a:extLst>
          </p:cNvPr>
          <p:cNvSpPr>
            <a:spLocks xmlns:a="http://schemas.openxmlformats.org/drawingml/2006/main" noGrp="1"/>
          </p:cNvSpPr>
          <p:nvPr/>
        </p:nvSpPr>
        <p:spPr>
          <a:xfrm xmlns:a="http://schemas.openxmlformats.org/drawingml/2006/main">
            <a:off x="7391400" y="2095500"/>
            <a:ext cx="342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4903"/>
          </a:bodyPr>
          <a:lstStyle xmlns:a="http://schemas.openxmlformats.org/drawingml/2006/main"/>
          <a:p xmlns:a="http://schemas.openxmlformats.org/drawingml/2006/main">
            <a:pPr algn="l">
              <a:lnSpc>
                <a:spcPct val="120000"/>
              </a:lnSpc>
              <a:buNone/>
              <a:defRPr sz="1350" b="0" i="0">
                <a:solidFill>
                  <a:srgbClr val="626A7C"/>
                </a:solidFill>
                <a:latin typeface="Arial"/>
                <a:ea typeface="Arial"/>
                <a:cs typeface="Arial"/>
              </a:defRPr>
            </a:pPr>
            <a:r>
              <a:rPr sz="1350" b="0" i="0">
                <a:solidFill>
                  <a:srgbClr val="626A7C"/>
                </a:solidFill>
                <a:latin typeface="Arial"/>
                <a:ea typeface="Arial"/>
                <a:cs typeface="Arial"/>
              </a:rPr>
              <a:t>JavaScript and TypeScript teams building multi-tenant SaaS and API products, especially when a dedicated application-security team is unavailable.</a:t>
            </a:r>
          </a:p>
        </p:txBody>
      </p:sp>
      <p:sp>
        <p:nvSpPr>
          <p:cNvPr id="15" name="">
            <a:extLst xmlns:a="http://schemas.openxmlformats.org/drawingml/2006/main">
              <a:ext uri="{FF2B5EF4-FFF2-40B4-BE49-F238E27FC236}">
                <a16:creationId xmlns:a16="http://schemas.microsoft.com/office/drawing/2014/main" id="{C0E1AD3C-E751-44B2-83C3-92CC9E1EA7C2}"/>
              </a:ext>
            </a:extLst>
          </p:cNvPr>
          <p:cNvSpPr>
            <a:spLocks xmlns:a="http://schemas.openxmlformats.org/drawingml/2006/main" noGrp="1"/>
          </p:cNvSpPr>
          <p:nvPr/>
        </p:nvSpPr>
        <p:spPr>
          <a:xfrm xmlns:a="http://schemas.openxmlformats.org/drawingml/2006/main">
            <a:off x="7391400" y="3124200"/>
            <a:ext cx="333375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16" name="">
            <a:extLst xmlns:a="http://schemas.openxmlformats.org/drawingml/2006/main">
              <a:ext uri="{FF2B5EF4-FFF2-40B4-BE49-F238E27FC236}">
                <a16:creationId xmlns:a16="http://schemas.microsoft.com/office/drawing/2014/main" id="{AB9D6BE8-8708-461B-A368-A5B2115BB2A1}"/>
              </a:ext>
            </a:extLst>
          </p:cNvPr>
          <p:cNvSpPr>
            <a:spLocks xmlns:a="http://schemas.openxmlformats.org/drawingml/2006/main" noGrp="1"/>
          </p:cNvSpPr>
          <p:nvPr/>
        </p:nvSpPr>
        <p:spPr>
          <a:xfrm xmlns:a="http://schemas.openxmlformats.org/drawingml/2006/main">
            <a:off x="7391400" y="3400425"/>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0580"/>
          </a:bodyPr>
          <a:lstStyle xmlns:a="http://schemas.openxmlformats.org/drawingml/2006/main"/>
          <a:p xmlns:a="http://schemas.openxmlformats.org/drawingml/2006/main">
            <a:pPr algn="l">
              <a:lnSpc>
                <a:spcPct val="112000"/>
              </a:lnSpc>
              <a:buNone/>
              <a:defRPr sz="1725" b="1" i="0">
                <a:solidFill>
                  <a:srgbClr val="121522"/>
                </a:solidFill>
                <a:latin typeface="Arial"/>
                <a:ea typeface="Arial"/>
                <a:cs typeface="Arial"/>
              </a:defRPr>
            </a:pPr>
            <a:r>
              <a:rPr sz="1725" b="1" i="0">
                <a:solidFill>
                  <a:srgbClr val="121522"/>
                </a:solidFill>
                <a:latin typeface="Arial"/>
                <a:ea typeface="Arial"/>
                <a:cs typeface="Arial"/>
              </a:rPr>
              <a:t>Why now</a:t>
            </a:r>
          </a:p>
        </p:txBody>
      </p:sp>
      <p:sp>
        <p:nvSpPr>
          <p:cNvPr id="17" name="">
            <a:extLst xmlns:a="http://schemas.openxmlformats.org/drawingml/2006/main">
              <a:ext uri="{FF2B5EF4-FFF2-40B4-BE49-F238E27FC236}">
                <a16:creationId xmlns:a16="http://schemas.microsoft.com/office/drawing/2014/main" id="{750A2FA3-E177-46E0-BFE0-C51A102CB60E}"/>
              </a:ext>
            </a:extLst>
          </p:cNvPr>
          <p:cNvSpPr>
            <a:spLocks xmlns:a="http://schemas.openxmlformats.org/drawingml/2006/main" noGrp="1"/>
          </p:cNvSpPr>
          <p:nvPr/>
        </p:nvSpPr>
        <p:spPr>
          <a:xfrm xmlns:a="http://schemas.openxmlformats.org/drawingml/2006/main">
            <a:off x="7391400" y="3781425"/>
            <a:ext cx="342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2304"/>
          </a:bodyPr>
          <a:lstStyle xmlns:a="http://schemas.openxmlformats.org/drawingml/2006/main"/>
          <a:p xmlns:a="http://schemas.openxmlformats.org/drawingml/2006/main">
            <a:pPr algn="l">
              <a:lnSpc>
                <a:spcPct val="120000"/>
              </a:lnSpc>
              <a:buNone/>
              <a:defRPr sz="1350" b="0" i="0">
                <a:solidFill>
                  <a:srgbClr val="626A7C"/>
                </a:solidFill>
                <a:latin typeface="Arial"/>
                <a:ea typeface="Arial"/>
                <a:cs typeface="Arial"/>
              </a:defRPr>
            </a:pPr>
            <a:r>
              <a:rPr sz="1350" b="0" i="0">
                <a:solidFill>
                  <a:srgbClr val="626A7C"/>
                </a:solidFill>
                <a:latin typeface="Arial"/>
                <a:ea typeface="Arial"/>
                <a:cs typeface="Arial"/>
              </a:rPr>
              <a:t>AI-assisted delivery speeds up code creation. Security review still needs evidence that a system preserves its access and workflow rules.</a:t>
            </a:r>
          </a:p>
        </p:txBody>
      </p:sp>
      <p:sp>
        <p:nvSpPr>
          <p:cNvPr id="18" name="">
            <a:extLst xmlns:a="http://schemas.openxmlformats.org/drawingml/2006/main">
              <a:ext uri="{FF2B5EF4-FFF2-40B4-BE49-F238E27FC236}">
                <a16:creationId xmlns:a16="http://schemas.microsoft.com/office/drawing/2014/main" id="{BAB59533-0F95-497A-BF94-242284005917}"/>
              </a:ext>
            </a:extLst>
          </p:cNvPr>
          <p:cNvSpPr>
            <a:spLocks xmlns:a="http://schemas.openxmlformats.org/drawingml/2006/main" noGrp="1"/>
          </p:cNvSpPr>
          <p:nvPr/>
        </p:nvSpPr>
        <p:spPr>
          <a:xfrm xmlns:a="http://schemas.openxmlformats.org/drawingml/2006/main">
            <a:off x="7391400" y="4667250"/>
            <a:ext cx="333375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19" name="">
            <a:extLst xmlns:a="http://schemas.openxmlformats.org/drawingml/2006/main">
              <a:ext uri="{FF2B5EF4-FFF2-40B4-BE49-F238E27FC236}">
                <a16:creationId xmlns:a16="http://schemas.microsoft.com/office/drawing/2014/main" id="{BDB69314-5C0E-40FB-B69A-9A024849564D}"/>
              </a:ext>
            </a:extLst>
          </p:cNvPr>
          <p:cNvSpPr>
            <a:spLocks xmlns:a="http://schemas.openxmlformats.org/drawingml/2006/main" noGrp="1"/>
          </p:cNvSpPr>
          <p:nvPr/>
        </p:nvSpPr>
        <p:spPr>
          <a:xfrm xmlns:a="http://schemas.openxmlformats.org/drawingml/2006/main">
            <a:off x="7391400" y="4943475"/>
            <a:ext cx="17145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4246"/>
          </a:bodyPr>
          <a:lstStyle xmlns:a="http://schemas.openxmlformats.org/drawingml/2006/main"/>
          <a:p xmlns:a="http://schemas.openxmlformats.org/drawingml/2006/main">
            <a:pPr algn="l">
              <a:lnSpc>
                <a:spcPct val="112000"/>
              </a:lnSpc>
              <a:buNone/>
              <a:defRPr sz="1125" b="1" i="0">
                <a:solidFill>
                  <a:srgbClr val="121522"/>
                </a:solidFill>
                <a:latin typeface="Arial"/>
                <a:ea typeface="Arial"/>
                <a:cs typeface="Arial"/>
              </a:defRPr>
            </a:pPr>
            <a:r>
              <a:rPr sz="1125" b="1" i="0">
                <a:solidFill>
                  <a:srgbClr val="121522"/>
                </a:solidFill>
                <a:latin typeface="Arial"/>
                <a:ea typeface="Arial"/>
                <a:cs typeface="Arial"/>
              </a:rPr>
              <a:t>Market context</a:t>
            </a:r>
          </a:p>
        </p:txBody>
      </p:sp>
      <p:sp>
        <p:nvSpPr>
          <p:cNvPr id="20" name="">
            <a:extLst xmlns:a="http://schemas.openxmlformats.org/drawingml/2006/main">
              <a:ext uri="{FF2B5EF4-FFF2-40B4-BE49-F238E27FC236}">
                <a16:creationId xmlns:a16="http://schemas.microsoft.com/office/drawing/2014/main" id="{E7194626-8D29-41D5-8081-840949ABA09A}"/>
              </a:ext>
            </a:extLst>
          </p:cNvPr>
          <p:cNvSpPr>
            <a:spLocks xmlns:a="http://schemas.openxmlformats.org/drawingml/2006/main" noGrp="1"/>
          </p:cNvSpPr>
          <p:nvPr/>
        </p:nvSpPr>
        <p:spPr>
          <a:xfrm xmlns:a="http://schemas.openxmlformats.org/drawingml/2006/main">
            <a:off x="7391400" y="5219700"/>
            <a:ext cx="361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0610"/>
          </a:bodyPr>
          <a:lstStyle xmlns:a="http://schemas.openxmlformats.org/drawingml/2006/main"/>
          <a:p xmlns:a="http://schemas.openxmlformats.org/drawingml/2006/main">
            <a:pPr algn="l">
              <a:lnSpc>
                <a:spcPct val="112000"/>
              </a:lnSpc>
              <a:buNone/>
              <a:defRPr sz="1125" b="1" i="0">
                <a:solidFill>
                  <a:srgbClr val="5646E8"/>
                </a:solidFill>
                <a:latin typeface="Arial"/>
                <a:ea typeface="Arial"/>
                <a:cs typeface="Arial"/>
              </a:defRPr>
            </a:pPr>
            <a:r>
              <a:rPr sz="1125" b="1" i="0">
                <a:solidFill>
                  <a:srgbClr val="5646E8"/>
                </a:solidFill>
                <a:latin typeface="Arial"/>
                <a:ea typeface="Arial"/>
                <a:cs typeface="Arial"/>
              </a:rPr>
              <a:t>$10.6B in 2025  ·  $42.1B projected for 2033  ·  18.8% CAGR</a:t>
            </a:r>
          </a:p>
        </p:txBody>
      </p:sp>
      <p:sp>
        <p:nvSpPr>
          <p:cNvPr id="21" name="">
            <a:extLst xmlns:a="http://schemas.openxmlformats.org/drawingml/2006/main">
              <a:ext uri="{FF2B5EF4-FFF2-40B4-BE49-F238E27FC236}">
                <a16:creationId xmlns:a16="http://schemas.microsoft.com/office/drawing/2014/main" id="{78345F5F-AB71-4166-8228-66A213C559A1}"/>
              </a:ext>
            </a:extLst>
          </p:cNvPr>
          <p:cNvSpPr>
            <a:spLocks xmlns:a="http://schemas.openxmlformats.org/drawingml/2006/main" noGrp="1"/>
          </p:cNvSpPr>
          <p:nvPr/>
        </p:nvSpPr>
        <p:spPr>
          <a:xfrm xmlns:a="http://schemas.openxmlformats.org/drawingml/2006/main">
            <a:off x="685800" y="5943600"/>
            <a:ext cx="90011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0" i="1">
                <a:solidFill>
                  <a:srgbClr val="626A7C"/>
                </a:solidFill>
                <a:latin typeface="Arial"/>
                <a:ea typeface="Arial"/>
                <a:cs typeface="Arial"/>
              </a:defRPr>
            </a:pPr>
            <a:r>
              <a:rPr sz="900" b="0" i="1">
                <a:solidFill>
                  <a:srgbClr val="626A7C"/>
                </a:solidFill>
                <a:latin typeface="Arial"/>
                <a:ea typeface="Arial"/>
                <a:cs typeface="Arial"/>
              </a:rPr>
              <a:t>Category sizing is market context, not a revenue forecast for Invaria.</a:t>
            </a:r>
          </a:p>
        </p:txBody>
      </p:sp>
    </p:spTree>
    <p:extLst>
      <p:ext uri="{BB962C8B-B14F-4D97-AF65-F5344CB8AC3E}">
        <p14:creationId xmlns:p14="http://schemas.microsoft.com/office/powerpoint/2010/main" val="189885378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4A6FEB5A-3641-434D-A554-B76DA35B3170}"/>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 name="">
            <a:extLst xmlns:a="http://schemas.openxmlformats.org/drawingml/2006/main">
              <a:ext uri="{FF2B5EF4-FFF2-40B4-BE49-F238E27FC236}">
                <a16:creationId xmlns:a16="http://schemas.microsoft.com/office/drawing/2014/main" id="{C48B7E38-6DF4-4149-A7C7-7F207729B1B1}"/>
              </a:ext>
            </a:extLst>
          </p:cNvPr>
          <p:cNvSpPr>
            <a:spLocks xmlns:a="http://schemas.openxmlformats.org/drawingml/2006/main" noGrp="1"/>
          </p:cNvSpPr>
          <p:nvPr/>
        </p:nvSpPr>
        <p:spPr>
          <a:xfrm xmlns:a="http://schemas.openxmlformats.org/drawingml/2006/main">
            <a:off x="685800" y="6534150"/>
            <a:ext cx="4286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750" b="1" i="0">
                <a:solidFill>
                  <a:srgbClr val="626A7C"/>
                </a:solidFill>
                <a:latin typeface="Arial"/>
                <a:ea typeface="Arial"/>
                <a:cs typeface="Arial"/>
              </a:defRPr>
            </a:pPr>
            <a:r>
              <a:rPr sz="750" b="1" i="0">
                <a:solidFill>
                  <a:srgbClr val="626A7C"/>
                </a:solidFill>
                <a:latin typeface="Arial"/>
                <a:ea typeface="Arial"/>
                <a:cs typeface="Arial"/>
              </a:rPr>
              <a:t>INVARIA  |  REVIEW PRESENTATION</a:t>
            </a:r>
          </a:p>
        </p:txBody>
      </p:sp>
      <p:sp>
        <p:nvSpPr>
          <p:cNvPr id="3" name="">
            <a:extLst xmlns:a="http://schemas.openxmlformats.org/drawingml/2006/main">
              <a:ext uri="{FF2B5EF4-FFF2-40B4-BE49-F238E27FC236}">
                <a16:creationId xmlns:a16="http://schemas.microsoft.com/office/drawing/2014/main" id="{A61B8E42-A105-4737-B7FE-712547BDC2BB}"/>
              </a:ext>
            </a:extLst>
          </p:cNvPr>
          <p:cNvSpPr>
            <a:spLocks xmlns:a="http://schemas.openxmlformats.org/drawingml/2006/main" noGrp="1"/>
          </p:cNvSpPr>
          <p:nvPr/>
        </p:nvSpPr>
        <p:spPr>
          <a:xfrm xmlns:a="http://schemas.openxmlformats.org/drawingml/2006/main">
            <a:off x="4286250" y="6534150"/>
            <a:ext cx="6191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675" b="0" i="0">
                <a:solidFill>
                  <a:srgbClr val="626A7C"/>
                </a:solidFill>
                <a:latin typeface="Arial"/>
                <a:ea typeface="Arial"/>
                <a:cs typeface="Arial"/>
              </a:defRPr>
            </a:pPr>
            <a:r>
              <a:rPr sz="675" b="0" i="0">
                <a:solidFill>
                  <a:srgbClr val="626A7C"/>
                </a:solidFill>
                <a:latin typeface="Arial"/>
                <a:ea typeface="Arial"/>
                <a:cs typeface="Arial"/>
              </a:rPr>
              <a:t>Screenshot: live local Invaria workspace, captured 24 Sep 2026</a:t>
            </a:r>
          </a:p>
        </p:txBody>
      </p:sp>
      <p:sp>
        <p:nvSpPr>
          <p:cNvPr id="4" name="">
            <a:extLst xmlns:a="http://schemas.openxmlformats.org/drawingml/2006/main">
              <a:ext uri="{FF2B5EF4-FFF2-40B4-BE49-F238E27FC236}">
                <a16:creationId xmlns:a16="http://schemas.microsoft.com/office/drawing/2014/main" id="{0502B58F-D2B9-46F5-B434-32C7B321E6F5}"/>
              </a:ext>
            </a:extLst>
          </p:cNvPr>
          <p:cNvSpPr>
            <a:spLocks xmlns:a="http://schemas.openxmlformats.org/drawingml/2006/main" noGrp="1"/>
          </p:cNvSpPr>
          <p:nvPr/>
        </p:nvSpPr>
        <p:spPr>
          <a:xfrm xmlns:a="http://schemas.openxmlformats.org/drawingml/2006/main">
            <a:off x="10858500" y="6515100"/>
            <a:ext cx="647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2B283D61-7C50-48EB-9F49-5899121B806F}"/>
              </a:ext>
            </a:extLst>
          </p:cNvPr>
          <p:cNvSpPr>
            <a:spLocks xmlns:a="http://schemas.openxmlformats.org/drawingml/2006/main" noGrp="1"/>
          </p:cNvSpPr>
          <p:nvPr/>
        </p:nvSpPr>
        <p:spPr>
          <a:xfrm xmlns:a="http://schemas.openxmlformats.org/drawingml/2006/main">
            <a:off x="685800" y="514350"/>
            <a:ext cx="1219200" cy="266700"/>
          </a:xfrm>
          <a:prstGeom xmlns:a="http://schemas.openxmlformats.org/drawingml/2006/main" prst="roundRect">
            <a:avLst>
              <a:gd name="adj" fmla="val 50000"/>
            </a:avLst>
          </a:prstGeom>
          <a:solidFill xmlns:a="http://schemas.openxmlformats.org/drawingml/2006/main">
            <a:srgbClr val="F1F0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28A1F05-503A-45AD-BF77-5DE335E1FB8F}"/>
              </a:ext>
            </a:extLst>
          </p:cNvPr>
          <p:cNvSpPr>
            <a:spLocks xmlns:a="http://schemas.openxmlformats.org/drawingml/2006/main" noGrp="1"/>
          </p:cNvSpPr>
          <p:nvPr/>
        </p:nvSpPr>
        <p:spPr>
          <a:xfrm xmlns:a="http://schemas.openxmlformats.org/drawingml/2006/main">
            <a:off x="781050" y="571500"/>
            <a:ext cx="1028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THE PLATFORM</a:t>
            </a:r>
          </a:p>
        </p:txBody>
      </p:sp>
      <p:sp>
        <p:nvSpPr>
          <p:cNvPr id="7" name="">
            <a:extLst xmlns:a="http://schemas.openxmlformats.org/drawingml/2006/main">
              <a:ext uri="{FF2B5EF4-FFF2-40B4-BE49-F238E27FC236}">
                <a16:creationId xmlns:a16="http://schemas.microsoft.com/office/drawing/2014/main" id="{1CA0F0FC-425C-4613-A9C5-F0281726E16D}"/>
              </a:ext>
            </a:extLst>
          </p:cNvPr>
          <p:cNvSpPr>
            <a:spLocks xmlns:a="http://schemas.openxmlformats.org/drawingml/2006/main" noGrp="1"/>
          </p:cNvSpPr>
          <p:nvPr/>
        </p:nvSpPr>
        <p:spPr>
          <a:xfrm xmlns:a="http://schemas.openxmlformats.org/drawingml/2006/main">
            <a:off x="685800" y="971550"/>
            <a:ext cx="5905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7222"/>
          </a:bodyPr>
          <a:lstStyle xmlns:a="http://schemas.openxmlformats.org/drawingml/2006/main"/>
          <a:p xmlns:a="http://schemas.openxmlformats.org/drawingml/2006/main">
            <a:pPr algn="l">
              <a:lnSpc>
                <a:spcPct val="100000"/>
              </a:lnSpc>
              <a:buNone/>
              <a:defRPr sz="3150" b="1" i="0">
                <a:solidFill>
                  <a:srgbClr val="121522"/>
                </a:solidFill>
                <a:latin typeface="Arial"/>
                <a:ea typeface="Arial"/>
                <a:cs typeface="Arial"/>
              </a:defRPr>
            </a:pPr>
            <a:r>
              <a:rPr sz="3150" b="1" i="0">
                <a:solidFill>
                  <a:srgbClr val="121522"/>
                </a:solidFill>
                <a:latin typeface="Arial"/>
                <a:ea typeface="Arial"/>
                <a:cs typeface="Arial"/>
              </a:rPr>
              <a:t>Invaria turns a repository into</a:t>
            </a:r>
          </a:p>
          <a:p xmlns:a="http://schemas.openxmlformats.org/drawingml/2006/main">
            <a:pPr algn="l">
              <a:lnSpc>
                <a:spcPct val="100000"/>
              </a:lnSpc>
              <a:buNone/>
              <a:defRPr sz="3150" b="1" i="0">
                <a:solidFill>
                  <a:srgbClr val="121522"/>
                </a:solidFill>
                <a:latin typeface="Arial"/>
                <a:ea typeface="Arial"/>
                <a:cs typeface="Arial"/>
              </a:defRPr>
            </a:pPr>
            <a:r>
              <a:rPr sz="3150" b="1" i="0">
                <a:solidFill>
                  <a:srgbClr val="121522"/>
                </a:solidFill>
                <a:latin typeface="Arial"/>
                <a:ea typeface="Arial"/>
                <a:cs typeface="Arial"/>
              </a:rPr>
              <a:t>an inspectable security case</a:t>
            </a:r>
          </a:p>
        </p:txBody>
      </p:sp>
      <p:sp>
        <p:nvSpPr>
          <p:cNvPr id="8" name="">
            <a:extLst xmlns:a="http://schemas.openxmlformats.org/drawingml/2006/main">
              <a:ext uri="{FF2B5EF4-FFF2-40B4-BE49-F238E27FC236}">
                <a16:creationId xmlns:a16="http://schemas.microsoft.com/office/drawing/2014/main" id="{8296A73C-A6B8-4985-9848-E2001838A50A}"/>
              </a:ext>
            </a:extLst>
          </p:cNvPr>
          <p:cNvSpPr>
            <a:spLocks xmlns:a="http://schemas.openxmlformats.org/drawingml/2006/main" noGrp="1"/>
          </p:cNvSpPr>
          <p:nvPr/>
        </p:nvSpPr>
        <p:spPr>
          <a:xfrm xmlns:a="http://schemas.openxmlformats.org/drawingml/2006/main">
            <a:off x="685800" y="2124075"/>
            <a:ext cx="5638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79660"/>
          </a:bodyPr>
          <a:lstStyle xmlns:a="http://schemas.openxmlformats.org/drawingml/2006/main"/>
          <a:p xmlns:a="http://schemas.openxmlformats.org/drawingml/2006/main">
            <a:pPr algn="l">
              <a:lnSpc>
                <a:spcPct val="120000"/>
              </a:lnSpc>
              <a:buNone/>
              <a:defRPr sz="1425" b="0" i="0">
                <a:solidFill>
                  <a:srgbClr val="626A7C"/>
                </a:solidFill>
                <a:latin typeface="Arial"/>
                <a:ea typeface="Arial"/>
                <a:cs typeface="Arial"/>
              </a:defRPr>
            </a:pPr>
            <a:r>
              <a:rPr sz="1425" b="0" i="0">
                <a:solidFill>
                  <a:srgbClr val="626A7C"/>
                </a:solidFill>
                <a:latin typeface="Arial"/>
                <a:ea typeface="Arial"/>
                <a:cs typeface="Arial"/>
              </a:rPr>
              <a:t>The product connects a repository snapshot to application structure, evidence-backed security hypotheses, and a review workflow that speaks in technical and business terms.</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396610d350274952"/>
          <a:srcRect xmlns:a="http://schemas.openxmlformats.org/drawingml/2006/main" l="11682" t="0" r="11682" b="0"/>
          <a:stretch xmlns:a="http://schemas.openxmlformats.org/drawingml/2006/main">
            <a:fillRect l="0" t="0" r="0" b="0"/>
          </a:stretch>
        </p:blipFill>
        <p:spPr>
          <a:xfrm xmlns:a="http://schemas.openxmlformats.org/drawingml/2006/main">
            <a:off x="6629400" y="847725"/>
            <a:ext cx="4876800" cy="3381375"/>
          </a:xfrm>
          <a:prstGeom xmlns:a="http://schemas.openxmlformats.org/drawingml/2006/main" prst="roundRect">
            <a:avLst>
              <a:gd name="adj" fmla="val 3380"/>
            </a:avLst>
          </a:prstGeom>
        </p:spPr>
      </p:pic>
      <p:sp>
        <p:nvSpPr>
          <p:cNvPr id="10" name="">
            <a:extLst xmlns:a="http://schemas.openxmlformats.org/drawingml/2006/main">
              <a:ext uri="{FF2B5EF4-FFF2-40B4-BE49-F238E27FC236}">
                <a16:creationId xmlns:a16="http://schemas.microsoft.com/office/drawing/2014/main" id="{39E2FC8F-C241-47DF-BE65-1934EBC7D3CA}"/>
              </a:ext>
            </a:extLst>
          </p:cNvPr>
          <p:cNvSpPr>
            <a:spLocks xmlns:a="http://schemas.openxmlformats.org/drawingml/2006/main" noGrp="1"/>
          </p:cNvSpPr>
          <p:nvPr/>
        </p:nvSpPr>
        <p:spPr>
          <a:xfrm xmlns:a="http://schemas.openxmlformats.org/drawingml/2006/main">
            <a:off x="6705600" y="4324350"/>
            <a:ext cx="1809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LIVE PRODUCT VIEW</a:t>
            </a:r>
          </a:p>
        </p:txBody>
      </p:sp>
      <p:sp>
        <p:nvSpPr>
          <p:cNvPr id="11" name="">
            <a:extLst xmlns:a="http://schemas.openxmlformats.org/drawingml/2006/main">
              <a:ext uri="{FF2B5EF4-FFF2-40B4-BE49-F238E27FC236}">
                <a16:creationId xmlns:a16="http://schemas.microsoft.com/office/drawing/2014/main" id="{A28A06E1-BF68-428A-9DA4-85B3EAC40834}"/>
              </a:ext>
            </a:extLst>
          </p:cNvPr>
          <p:cNvSpPr>
            <a:spLocks xmlns:a="http://schemas.openxmlformats.org/drawingml/2006/main" noGrp="1"/>
          </p:cNvSpPr>
          <p:nvPr/>
        </p:nvSpPr>
        <p:spPr>
          <a:xfrm xmlns:a="http://schemas.openxmlformats.org/drawingml/2006/main">
            <a:off x="6705600" y="4572000"/>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4246"/>
          </a:bodyPr>
          <a:lstStyle xmlns:a="http://schemas.openxmlformats.org/drawingml/2006/main"/>
          <a:p xmlns:a="http://schemas.openxmlformats.org/drawingml/2006/main">
            <a:pPr algn="l">
              <a:lnSpc>
                <a:spcPct val="112000"/>
              </a:lnSpc>
              <a:buNone/>
              <a:defRPr sz="1125" b="0" i="0">
                <a:solidFill>
                  <a:srgbClr val="626A7C"/>
                </a:solidFill>
                <a:latin typeface="Arial"/>
                <a:ea typeface="Arial"/>
                <a:cs typeface="Arial"/>
              </a:defRPr>
            </a:pPr>
            <a:r>
              <a:rPr sz="1125" b="0" i="0">
                <a:solidFill>
                  <a:srgbClr val="626A7C"/>
                </a:solidFill>
                <a:latin typeface="Arial"/>
                <a:ea typeface="Arial"/>
                <a:cs typeface="Arial"/>
              </a:rPr>
              <a:t>A reviewer can start from business impact, then open the decision ledger and exact source evidence.</a:t>
            </a:r>
          </a:p>
        </p:txBody>
      </p:sp>
      <p:sp>
        <p:nvSpPr>
          <p:cNvPr id="12" name="">
            <a:extLst xmlns:a="http://schemas.openxmlformats.org/drawingml/2006/main">
              <a:ext uri="{FF2B5EF4-FFF2-40B4-BE49-F238E27FC236}">
                <a16:creationId xmlns:a16="http://schemas.microsoft.com/office/drawing/2014/main" id="{1A2267FF-F14B-4194-A345-49B0963BB15E}"/>
              </a:ext>
            </a:extLst>
          </p:cNvPr>
          <p:cNvSpPr>
            <a:spLocks xmlns:a="http://schemas.openxmlformats.org/drawingml/2006/main" noGrp="1"/>
          </p:cNvSpPr>
          <p:nvPr/>
        </p:nvSpPr>
        <p:spPr>
          <a:xfrm xmlns:a="http://schemas.openxmlformats.org/drawingml/2006/main">
            <a:off x="685800" y="3429000"/>
            <a:ext cx="247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1" i="0">
                <a:solidFill>
                  <a:srgbClr val="5646E8"/>
                </a:solidFill>
                <a:latin typeface="Arial"/>
                <a:ea typeface="Arial"/>
                <a:cs typeface="Arial"/>
              </a:defRPr>
            </a:pPr>
            <a:r>
              <a:rPr sz="975" b="1" i="0">
                <a:solidFill>
                  <a:srgbClr val="5646E8"/>
                </a:solidFill>
                <a:latin typeface="Arial"/>
                <a:ea typeface="Arial"/>
                <a:cs typeface="Arial"/>
              </a:rPr>
              <a:t>1</a:t>
            </a:r>
          </a:p>
        </p:txBody>
      </p:sp>
      <p:sp>
        <p:nvSpPr>
          <p:cNvPr id="13" name="">
            <a:extLst xmlns:a="http://schemas.openxmlformats.org/drawingml/2006/main">
              <a:ext uri="{FF2B5EF4-FFF2-40B4-BE49-F238E27FC236}">
                <a16:creationId xmlns:a16="http://schemas.microsoft.com/office/drawing/2014/main" id="{EC2D66E9-7A8B-45BE-9BF9-D717CE826600}"/>
              </a:ext>
            </a:extLst>
          </p:cNvPr>
          <p:cNvSpPr>
            <a:spLocks xmlns:a="http://schemas.openxmlformats.org/drawingml/2006/main" noGrp="1"/>
          </p:cNvSpPr>
          <p:nvPr/>
        </p:nvSpPr>
        <p:spPr>
          <a:xfrm xmlns:a="http://schemas.openxmlformats.org/drawingml/2006/main">
            <a:off x="685800" y="3695700"/>
            <a:ext cx="12954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1" i="0">
                <a:solidFill>
                  <a:srgbClr val="121522"/>
                </a:solidFill>
                <a:latin typeface="Arial"/>
                <a:ea typeface="Arial"/>
                <a:cs typeface="Arial"/>
              </a:defRPr>
            </a:pPr>
            <a:r>
              <a:rPr sz="1275" b="1" i="0">
                <a:solidFill>
                  <a:srgbClr val="121522"/>
                </a:solidFill>
                <a:latin typeface="Arial"/>
                <a:ea typeface="Arial"/>
                <a:cs typeface="Arial"/>
              </a:rPr>
              <a:t>Snapshot</a:t>
            </a:r>
          </a:p>
        </p:txBody>
      </p:sp>
      <p:sp>
        <p:nvSpPr>
          <p:cNvPr id="14" name="">
            <a:extLst xmlns:a="http://schemas.openxmlformats.org/drawingml/2006/main">
              <a:ext uri="{FF2B5EF4-FFF2-40B4-BE49-F238E27FC236}">
                <a16:creationId xmlns:a16="http://schemas.microsoft.com/office/drawing/2014/main" id="{B14B7197-DCBA-4211-B7BD-1D9DAC7C60B0}"/>
              </a:ext>
            </a:extLst>
          </p:cNvPr>
          <p:cNvSpPr>
            <a:spLocks xmlns:a="http://schemas.openxmlformats.org/drawingml/2006/main" noGrp="1"/>
          </p:cNvSpPr>
          <p:nvPr/>
        </p:nvSpPr>
        <p:spPr>
          <a:xfrm xmlns:a="http://schemas.openxmlformats.org/drawingml/2006/main">
            <a:off x="685800" y="3971925"/>
            <a:ext cx="1285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0" i="0">
                <a:solidFill>
                  <a:srgbClr val="626A7C"/>
                </a:solidFill>
                <a:latin typeface="Arial"/>
                <a:ea typeface="Arial"/>
                <a:cs typeface="Arial"/>
              </a:defRPr>
            </a:pPr>
            <a:r>
              <a:rPr sz="975" b="0" i="0">
                <a:solidFill>
                  <a:srgbClr val="626A7C"/>
                </a:solidFill>
                <a:latin typeface="Arial"/>
                <a:ea typeface="Arial"/>
                <a:cs typeface="Arial"/>
              </a:rPr>
              <a:t>Immutable code input</a:t>
            </a:r>
          </a:p>
        </p:txBody>
      </p:sp>
      <p:sp>
        <p:nvSpPr>
          <p:cNvPr id="15" name="">
            <a:extLst xmlns:a="http://schemas.openxmlformats.org/drawingml/2006/main">
              <a:ext uri="{FF2B5EF4-FFF2-40B4-BE49-F238E27FC236}">
                <a16:creationId xmlns:a16="http://schemas.microsoft.com/office/drawing/2014/main" id="{503FA11E-444F-4C58-8238-AFEA93FB1D81}"/>
              </a:ext>
            </a:extLst>
          </p:cNvPr>
          <p:cNvSpPr>
            <a:spLocks xmlns:a="http://schemas.openxmlformats.org/drawingml/2006/main" noGrp="1"/>
          </p:cNvSpPr>
          <p:nvPr/>
        </p:nvSpPr>
        <p:spPr>
          <a:xfrm xmlns:a="http://schemas.openxmlformats.org/drawingml/2006/main">
            <a:off x="1743075" y="3543300"/>
            <a:ext cx="333375" cy="0"/>
          </a:xfrm>
          <a:prstGeom xmlns:a="http://schemas.openxmlformats.org/drawingml/2006/main" prst="line">
            <a:avLst/>
          </a:prstGeom>
          <a:noFill xmlns:a="http://schemas.openxmlformats.org/drawingml/2006/main"/>
          <a:ln xmlns:a="http://schemas.openxmlformats.org/drawingml/2006/main" w="19050">
            <a:solidFill>
              <a:srgbClr val="7C71FF"/>
            </a:solidFill>
            <a:prstDash val="solid"/>
          </a:ln>
        </p:spPr>
      </p:sp>
      <p:sp>
        <p:nvSpPr>
          <p:cNvPr id="16" name="">
            <a:extLst xmlns:a="http://schemas.openxmlformats.org/drawingml/2006/main">
              <a:ext uri="{FF2B5EF4-FFF2-40B4-BE49-F238E27FC236}">
                <a16:creationId xmlns:a16="http://schemas.microsoft.com/office/drawing/2014/main" id="{101D88DB-7CA2-47D6-B883-3DC198368ACE}"/>
              </a:ext>
            </a:extLst>
          </p:cNvPr>
          <p:cNvSpPr>
            <a:spLocks xmlns:a="http://schemas.openxmlformats.org/drawingml/2006/main" noGrp="1"/>
          </p:cNvSpPr>
          <p:nvPr/>
        </p:nvSpPr>
        <p:spPr>
          <a:xfrm xmlns:a="http://schemas.openxmlformats.org/drawingml/2006/main">
            <a:off x="2152650" y="3429000"/>
            <a:ext cx="247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1" i="0">
                <a:solidFill>
                  <a:srgbClr val="5646E8"/>
                </a:solidFill>
                <a:latin typeface="Arial"/>
                <a:ea typeface="Arial"/>
                <a:cs typeface="Arial"/>
              </a:defRPr>
            </a:pPr>
            <a:r>
              <a:rPr sz="975" b="1" i="0">
                <a:solidFill>
                  <a:srgbClr val="5646E8"/>
                </a:solidFill>
                <a:latin typeface="Arial"/>
                <a:ea typeface="Arial"/>
                <a:cs typeface="Arial"/>
              </a:rPr>
              <a:t>2</a:t>
            </a:r>
          </a:p>
        </p:txBody>
      </p:sp>
      <p:sp>
        <p:nvSpPr>
          <p:cNvPr id="17" name="">
            <a:extLst xmlns:a="http://schemas.openxmlformats.org/drawingml/2006/main">
              <a:ext uri="{FF2B5EF4-FFF2-40B4-BE49-F238E27FC236}">
                <a16:creationId xmlns:a16="http://schemas.microsoft.com/office/drawing/2014/main" id="{C4D73BE7-1C95-4393-A567-2F45DFA15C7A}"/>
              </a:ext>
            </a:extLst>
          </p:cNvPr>
          <p:cNvSpPr>
            <a:spLocks xmlns:a="http://schemas.openxmlformats.org/drawingml/2006/main" noGrp="1"/>
          </p:cNvSpPr>
          <p:nvPr/>
        </p:nvSpPr>
        <p:spPr>
          <a:xfrm xmlns:a="http://schemas.openxmlformats.org/drawingml/2006/main">
            <a:off x="2152650" y="3695700"/>
            <a:ext cx="12954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1" i="0">
                <a:solidFill>
                  <a:srgbClr val="121522"/>
                </a:solidFill>
                <a:latin typeface="Arial"/>
                <a:ea typeface="Arial"/>
                <a:cs typeface="Arial"/>
              </a:defRPr>
            </a:pPr>
            <a:r>
              <a:rPr sz="1275" b="1" i="0">
                <a:solidFill>
                  <a:srgbClr val="121522"/>
                </a:solidFill>
                <a:latin typeface="Arial"/>
                <a:ea typeface="Arial"/>
                <a:cs typeface="Arial"/>
              </a:rPr>
              <a:t>Model</a:t>
            </a:r>
          </a:p>
        </p:txBody>
      </p:sp>
      <p:sp>
        <p:nvSpPr>
          <p:cNvPr id="18" name="">
            <a:extLst xmlns:a="http://schemas.openxmlformats.org/drawingml/2006/main">
              <a:ext uri="{FF2B5EF4-FFF2-40B4-BE49-F238E27FC236}">
                <a16:creationId xmlns:a16="http://schemas.microsoft.com/office/drawing/2014/main" id="{82EB2A1C-9883-4A9C-B1EC-64BAB8386232}"/>
              </a:ext>
            </a:extLst>
          </p:cNvPr>
          <p:cNvSpPr>
            <a:spLocks xmlns:a="http://schemas.openxmlformats.org/drawingml/2006/main" noGrp="1"/>
          </p:cNvSpPr>
          <p:nvPr/>
        </p:nvSpPr>
        <p:spPr>
          <a:xfrm xmlns:a="http://schemas.openxmlformats.org/drawingml/2006/main">
            <a:off x="2152650" y="3971925"/>
            <a:ext cx="1285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0" i="0">
                <a:solidFill>
                  <a:srgbClr val="626A7C"/>
                </a:solidFill>
                <a:latin typeface="Arial"/>
                <a:ea typeface="Arial"/>
                <a:cs typeface="Arial"/>
              </a:defRPr>
            </a:pPr>
            <a:r>
              <a:rPr sz="975" b="0" i="0">
                <a:solidFill>
                  <a:srgbClr val="626A7C"/>
                </a:solidFill>
                <a:latin typeface="Arial"/>
                <a:ea typeface="Arial"/>
                <a:cs typeface="Arial"/>
              </a:rPr>
              <a:t>Routes, handlers, data paths</a:t>
            </a:r>
          </a:p>
        </p:txBody>
      </p:sp>
      <p:sp>
        <p:nvSpPr>
          <p:cNvPr id="19" name="">
            <a:extLst xmlns:a="http://schemas.openxmlformats.org/drawingml/2006/main">
              <a:ext uri="{FF2B5EF4-FFF2-40B4-BE49-F238E27FC236}">
                <a16:creationId xmlns:a16="http://schemas.microsoft.com/office/drawing/2014/main" id="{915F4BDB-6B7B-4026-8324-98A28DE5BD15}"/>
              </a:ext>
            </a:extLst>
          </p:cNvPr>
          <p:cNvSpPr>
            <a:spLocks xmlns:a="http://schemas.openxmlformats.org/drawingml/2006/main" noGrp="1"/>
          </p:cNvSpPr>
          <p:nvPr/>
        </p:nvSpPr>
        <p:spPr>
          <a:xfrm xmlns:a="http://schemas.openxmlformats.org/drawingml/2006/main">
            <a:off x="3209925" y="3543300"/>
            <a:ext cx="333375" cy="0"/>
          </a:xfrm>
          <a:prstGeom xmlns:a="http://schemas.openxmlformats.org/drawingml/2006/main" prst="line">
            <a:avLst/>
          </a:prstGeom>
          <a:noFill xmlns:a="http://schemas.openxmlformats.org/drawingml/2006/main"/>
          <a:ln xmlns:a="http://schemas.openxmlformats.org/drawingml/2006/main" w="19050">
            <a:solidFill>
              <a:srgbClr val="7C71FF"/>
            </a:solidFill>
            <a:prstDash val="solid"/>
          </a:ln>
        </p:spPr>
      </p:sp>
      <p:sp>
        <p:nvSpPr>
          <p:cNvPr id="20" name="">
            <a:extLst xmlns:a="http://schemas.openxmlformats.org/drawingml/2006/main">
              <a:ext uri="{FF2B5EF4-FFF2-40B4-BE49-F238E27FC236}">
                <a16:creationId xmlns:a16="http://schemas.microsoft.com/office/drawing/2014/main" id="{1CCC7FE2-362F-458F-BB1E-0204CCC74E87}"/>
              </a:ext>
            </a:extLst>
          </p:cNvPr>
          <p:cNvSpPr>
            <a:spLocks xmlns:a="http://schemas.openxmlformats.org/drawingml/2006/main" noGrp="1"/>
          </p:cNvSpPr>
          <p:nvPr/>
        </p:nvSpPr>
        <p:spPr>
          <a:xfrm xmlns:a="http://schemas.openxmlformats.org/drawingml/2006/main">
            <a:off x="3619500" y="3429000"/>
            <a:ext cx="247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1" i="0">
                <a:solidFill>
                  <a:srgbClr val="5646E8"/>
                </a:solidFill>
                <a:latin typeface="Arial"/>
                <a:ea typeface="Arial"/>
                <a:cs typeface="Arial"/>
              </a:defRPr>
            </a:pPr>
            <a:r>
              <a:rPr sz="975" b="1" i="0">
                <a:solidFill>
                  <a:srgbClr val="5646E8"/>
                </a:solidFill>
                <a:latin typeface="Arial"/>
                <a:ea typeface="Arial"/>
                <a:cs typeface="Arial"/>
              </a:rPr>
              <a:t>3</a:t>
            </a:r>
          </a:p>
        </p:txBody>
      </p:sp>
      <p:sp>
        <p:nvSpPr>
          <p:cNvPr id="21" name="">
            <a:extLst xmlns:a="http://schemas.openxmlformats.org/drawingml/2006/main">
              <a:ext uri="{FF2B5EF4-FFF2-40B4-BE49-F238E27FC236}">
                <a16:creationId xmlns:a16="http://schemas.microsoft.com/office/drawing/2014/main" id="{441B77F5-E2EC-44E0-8E23-BF6406583D02}"/>
              </a:ext>
            </a:extLst>
          </p:cNvPr>
          <p:cNvSpPr>
            <a:spLocks xmlns:a="http://schemas.openxmlformats.org/drawingml/2006/main" noGrp="1"/>
          </p:cNvSpPr>
          <p:nvPr/>
        </p:nvSpPr>
        <p:spPr>
          <a:xfrm xmlns:a="http://schemas.openxmlformats.org/drawingml/2006/main">
            <a:off x="3619500" y="3695700"/>
            <a:ext cx="12954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1" i="0">
                <a:solidFill>
                  <a:srgbClr val="121522"/>
                </a:solidFill>
                <a:latin typeface="Arial"/>
                <a:ea typeface="Arial"/>
                <a:cs typeface="Arial"/>
              </a:defRPr>
            </a:pPr>
            <a:r>
              <a:rPr sz="1275" b="1" i="0">
                <a:solidFill>
                  <a:srgbClr val="121522"/>
                </a:solidFill>
                <a:latin typeface="Arial"/>
                <a:ea typeface="Arial"/>
                <a:cs typeface="Arial"/>
              </a:rPr>
              <a:t>Investigate</a:t>
            </a:r>
          </a:p>
        </p:txBody>
      </p:sp>
      <p:sp>
        <p:nvSpPr>
          <p:cNvPr id="22" name="">
            <a:extLst xmlns:a="http://schemas.openxmlformats.org/drawingml/2006/main">
              <a:ext uri="{FF2B5EF4-FFF2-40B4-BE49-F238E27FC236}">
                <a16:creationId xmlns:a16="http://schemas.microsoft.com/office/drawing/2014/main" id="{31C4DCE8-E093-4EF0-962E-AEDBA662912E}"/>
              </a:ext>
            </a:extLst>
          </p:cNvPr>
          <p:cNvSpPr>
            <a:spLocks xmlns:a="http://schemas.openxmlformats.org/drawingml/2006/main" noGrp="1"/>
          </p:cNvSpPr>
          <p:nvPr/>
        </p:nvSpPr>
        <p:spPr>
          <a:xfrm xmlns:a="http://schemas.openxmlformats.org/drawingml/2006/main">
            <a:off x="3619500" y="3971925"/>
            <a:ext cx="1285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0" i="0">
                <a:solidFill>
                  <a:srgbClr val="626A7C"/>
                </a:solidFill>
                <a:latin typeface="Arial"/>
                <a:ea typeface="Arial"/>
                <a:cs typeface="Arial"/>
              </a:defRPr>
            </a:pPr>
            <a:r>
              <a:rPr sz="975" b="0" i="0">
                <a:solidFill>
                  <a:srgbClr val="626A7C"/>
                </a:solidFill>
                <a:latin typeface="Arial"/>
                <a:ea typeface="Arial"/>
                <a:cs typeface="Arial"/>
              </a:rPr>
              <a:t>Rule-specific hypotheses</a:t>
            </a:r>
          </a:p>
        </p:txBody>
      </p:sp>
      <p:sp>
        <p:nvSpPr>
          <p:cNvPr id="23" name="">
            <a:extLst xmlns:a="http://schemas.openxmlformats.org/drawingml/2006/main">
              <a:ext uri="{FF2B5EF4-FFF2-40B4-BE49-F238E27FC236}">
                <a16:creationId xmlns:a16="http://schemas.microsoft.com/office/drawing/2014/main" id="{3856BFD6-F63C-4978-8030-AECED80242D0}"/>
              </a:ext>
            </a:extLst>
          </p:cNvPr>
          <p:cNvSpPr>
            <a:spLocks xmlns:a="http://schemas.openxmlformats.org/drawingml/2006/main" noGrp="1"/>
          </p:cNvSpPr>
          <p:nvPr/>
        </p:nvSpPr>
        <p:spPr>
          <a:xfrm xmlns:a="http://schemas.openxmlformats.org/drawingml/2006/main">
            <a:off x="4676775" y="3543300"/>
            <a:ext cx="333375" cy="0"/>
          </a:xfrm>
          <a:prstGeom xmlns:a="http://schemas.openxmlformats.org/drawingml/2006/main" prst="line">
            <a:avLst/>
          </a:prstGeom>
          <a:noFill xmlns:a="http://schemas.openxmlformats.org/drawingml/2006/main"/>
          <a:ln xmlns:a="http://schemas.openxmlformats.org/drawingml/2006/main" w="19050">
            <a:solidFill>
              <a:srgbClr val="7C71FF"/>
            </a:solidFill>
            <a:prstDash val="solid"/>
          </a:ln>
        </p:spPr>
      </p:sp>
      <p:sp>
        <p:nvSpPr>
          <p:cNvPr id="24" name="">
            <a:extLst xmlns:a="http://schemas.openxmlformats.org/drawingml/2006/main">
              <a:ext uri="{FF2B5EF4-FFF2-40B4-BE49-F238E27FC236}">
                <a16:creationId xmlns:a16="http://schemas.microsoft.com/office/drawing/2014/main" id="{B35B9BDE-F750-4593-8D91-56137DC249B5}"/>
              </a:ext>
            </a:extLst>
          </p:cNvPr>
          <p:cNvSpPr>
            <a:spLocks xmlns:a="http://schemas.openxmlformats.org/drawingml/2006/main" noGrp="1"/>
          </p:cNvSpPr>
          <p:nvPr/>
        </p:nvSpPr>
        <p:spPr>
          <a:xfrm xmlns:a="http://schemas.openxmlformats.org/drawingml/2006/main">
            <a:off x="5086350" y="3429000"/>
            <a:ext cx="247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1" i="0">
                <a:solidFill>
                  <a:srgbClr val="5646E8"/>
                </a:solidFill>
                <a:latin typeface="Arial"/>
                <a:ea typeface="Arial"/>
                <a:cs typeface="Arial"/>
              </a:defRPr>
            </a:pPr>
            <a:r>
              <a:rPr sz="975" b="1" i="0">
                <a:solidFill>
                  <a:srgbClr val="5646E8"/>
                </a:solidFill>
                <a:latin typeface="Arial"/>
                <a:ea typeface="Arial"/>
                <a:cs typeface="Arial"/>
              </a:rPr>
              <a:t>4</a:t>
            </a:r>
          </a:p>
        </p:txBody>
      </p:sp>
      <p:sp>
        <p:nvSpPr>
          <p:cNvPr id="25" name="">
            <a:extLst xmlns:a="http://schemas.openxmlformats.org/drawingml/2006/main">
              <a:ext uri="{FF2B5EF4-FFF2-40B4-BE49-F238E27FC236}">
                <a16:creationId xmlns:a16="http://schemas.microsoft.com/office/drawing/2014/main" id="{87555082-D5AC-4C57-B578-EAF40C3B543F}"/>
              </a:ext>
            </a:extLst>
          </p:cNvPr>
          <p:cNvSpPr>
            <a:spLocks xmlns:a="http://schemas.openxmlformats.org/drawingml/2006/main" noGrp="1"/>
          </p:cNvSpPr>
          <p:nvPr/>
        </p:nvSpPr>
        <p:spPr>
          <a:xfrm xmlns:a="http://schemas.openxmlformats.org/drawingml/2006/main">
            <a:off x="5086350" y="3695700"/>
            <a:ext cx="12954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1" i="0">
                <a:solidFill>
                  <a:srgbClr val="121522"/>
                </a:solidFill>
                <a:latin typeface="Arial"/>
                <a:ea typeface="Arial"/>
                <a:cs typeface="Arial"/>
              </a:defRPr>
            </a:pPr>
            <a:r>
              <a:rPr sz="1275" b="1" i="0">
                <a:solidFill>
                  <a:srgbClr val="121522"/>
                </a:solidFill>
                <a:latin typeface="Arial"/>
                <a:ea typeface="Arial"/>
                <a:cs typeface="Arial"/>
              </a:rPr>
              <a:t>Review</a:t>
            </a:r>
          </a:p>
        </p:txBody>
      </p:sp>
      <p:sp>
        <p:nvSpPr>
          <p:cNvPr id="26" name="">
            <a:extLst xmlns:a="http://schemas.openxmlformats.org/drawingml/2006/main">
              <a:ext uri="{FF2B5EF4-FFF2-40B4-BE49-F238E27FC236}">
                <a16:creationId xmlns:a16="http://schemas.microsoft.com/office/drawing/2014/main" id="{6195892D-F5CC-4384-9077-21F264C5E65A}"/>
              </a:ext>
            </a:extLst>
          </p:cNvPr>
          <p:cNvSpPr>
            <a:spLocks xmlns:a="http://schemas.openxmlformats.org/drawingml/2006/main" noGrp="1"/>
          </p:cNvSpPr>
          <p:nvPr/>
        </p:nvSpPr>
        <p:spPr>
          <a:xfrm xmlns:a="http://schemas.openxmlformats.org/drawingml/2006/main">
            <a:off x="5086350" y="3971925"/>
            <a:ext cx="1285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0" i="0">
                <a:solidFill>
                  <a:srgbClr val="626A7C"/>
                </a:solidFill>
                <a:latin typeface="Arial"/>
                <a:ea typeface="Arial"/>
                <a:cs typeface="Arial"/>
              </a:defRPr>
            </a:pPr>
            <a:r>
              <a:rPr sz="975" b="0" i="0">
                <a:solidFill>
                  <a:srgbClr val="626A7C"/>
                </a:solidFill>
                <a:latin typeface="Arial"/>
                <a:ea typeface="Arial"/>
                <a:cs typeface="Arial"/>
              </a:rPr>
              <a:t>Evidence, uncertainty, action</a:t>
            </a:r>
          </a:p>
        </p:txBody>
      </p:sp>
      <p:sp>
        <p:nvSpPr>
          <p:cNvPr id="27" name="">
            <a:extLst xmlns:a="http://schemas.openxmlformats.org/drawingml/2006/main">
              <a:ext uri="{FF2B5EF4-FFF2-40B4-BE49-F238E27FC236}">
                <a16:creationId xmlns:a16="http://schemas.microsoft.com/office/drawing/2014/main" id="{BEFA2F43-53F5-4CB2-B9A4-2301D1E65D64}"/>
              </a:ext>
            </a:extLst>
          </p:cNvPr>
          <p:cNvSpPr>
            <a:spLocks xmlns:a="http://schemas.openxmlformats.org/drawingml/2006/main" noGrp="1"/>
          </p:cNvSpPr>
          <p:nvPr/>
        </p:nvSpPr>
        <p:spPr>
          <a:xfrm xmlns:a="http://schemas.openxmlformats.org/drawingml/2006/main">
            <a:off x="685800" y="4743450"/>
            <a:ext cx="533400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8" name="">
            <a:extLst xmlns:a="http://schemas.openxmlformats.org/drawingml/2006/main">
              <a:ext uri="{FF2B5EF4-FFF2-40B4-BE49-F238E27FC236}">
                <a16:creationId xmlns:a16="http://schemas.microsoft.com/office/drawing/2014/main" id="{064A3AB9-BC36-4BF2-B414-9F9184704B8C}"/>
              </a:ext>
            </a:extLst>
          </p:cNvPr>
          <p:cNvSpPr>
            <a:spLocks xmlns:a="http://schemas.openxmlformats.org/drawingml/2006/main" noGrp="1"/>
          </p:cNvSpPr>
          <p:nvPr/>
        </p:nvSpPr>
        <p:spPr>
          <a:xfrm xmlns:a="http://schemas.openxmlformats.org/drawingml/2006/main">
            <a:off x="685800" y="499110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9206"/>
          </a:bodyPr>
          <a:lstStyle xmlns:a="http://schemas.openxmlformats.org/drawingml/2006/main"/>
          <a:p xmlns:a="http://schemas.openxmlformats.org/drawingml/2006/main">
            <a:pPr algn="l">
              <a:lnSpc>
                <a:spcPct val="112000"/>
              </a:lnSpc>
              <a:buNone/>
              <a:defRPr sz="1350" b="1" i="0">
                <a:solidFill>
                  <a:srgbClr val="121522"/>
                </a:solidFill>
                <a:latin typeface="Arial"/>
                <a:ea typeface="Arial"/>
                <a:cs typeface="Arial"/>
              </a:defRPr>
            </a:pPr>
            <a:r>
              <a:rPr sz="1350" b="1" i="0">
                <a:solidFill>
                  <a:srgbClr val="121522"/>
                </a:solidFill>
                <a:latin typeface="Arial"/>
                <a:ea typeface="Arial"/>
                <a:cs typeface="Arial"/>
              </a:rPr>
              <a:t>Where it differs from a standalone coding assistant</a:t>
            </a:r>
          </a:p>
        </p:txBody>
      </p:sp>
      <p:sp>
        <p:nvSpPr>
          <p:cNvPr id="29" name="">
            <a:extLst xmlns:a="http://schemas.openxmlformats.org/drawingml/2006/main">
              <a:ext uri="{FF2B5EF4-FFF2-40B4-BE49-F238E27FC236}">
                <a16:creationId xmlns:a16="http://schemas.microsoft.com/office/drawing/2014/main" id="{E8C7A9D1-FBF7-470D-B656-C594EE621481}"/>
              </a:ext>
            </a:extLst>
          </p:cNvPr>
          <p:cNvSpPr>
            <a:spLocks xmlns:a="http://schemas.openxmlformats.org/drawingml/2006/main" noGrp="1"/>
          </p:cNvSpPr>
          <p:nvPr/>
        </p:nvSpPr>
        <p:spPr>
          <a:xfrm xmlns:a="http://schemas.openxmlformats.org/drawingml/2006/main">
            <a:off x="685800" y="5314950"/>
            <a:ext cx="5381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6491"/>
          </a:bodyPr>
          <a:lstStyle xmlns:a="http://schemas.openxmlformats.org/drawingml/2006/main"/>
          <a:p xmlns:a="http://schemas.openxmlformats.org/drawingml/2006/main">
            <a:pPr algn="l">
              <a:lnSpc>
                <a:spcPct val="118000"/>
              </a:lnSpc>
              <a:buNone/>
              <a:defRPr sz="1200" b="0" i="0">
                <a:solidFill>
                  <a:srgbClr val="626A7C"/>
                </a:solidFill>
                <a:latin typeface="Arial"/>
                <a:ea typeface="Arial"/>
                <a:cs typeface="Arial"/>
              </a:defRPr>
            </a:pPr>
            <a:r>
              <a:rPr sz="1200" b="0" i="0">
                <a:solidFill>
                  <a:srgbClr val="626A7C"/>
                </a:solidFill>
                <a:latin typeface="Arial"/>
                <a:ea typeface="Arial"/>
                <a:cs typeface="Arial"/>
              </a:rPr>
              <a:t>Invaria makes the policy, evidence gate, coverage boundary, and human decision persistent product objects. The model remains a replaceable, advisory component.</a:t>
            </a:r>
          </a:p>
        </p:txBody>
      </p:sp>
    </p:spTree>
    <p:extLst>
      <p:ext uri="{BB962C8B-B14F-4D97-AF65-F5344CB8AC3E}">
        <p14:creationId xmlns:p14="http://schemas.microsoft.com/office/powerpoint/2010/main" val="63287289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709D253D-D706-4B4D-B1DC-27661B6C3ABC}"/>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 name="">
            <a:extLst xmlns:a="http://schemas.openxmlformats.org/drawingml/2006/main">
              <a:ext uri="{FF2B5EF4-FFF2-40B4-BE49-F238E27FC236}">
                <a16:creationId xmlns:a16="http://schemas.microsoft.com/office/drawing/2014/main" id="{1A4709C3-052F-448E-B58F-5F765BF32590}"/>
              </a:ext>
            </a:extLst>
          </p:cNvPr>
          <p:cNvSpPr>
            <a:spLocks xmlns:a="http://schemas.openxmlformats.org/drawingml/2006/main" noGrp="1"/>
          </p:cNvSpPr>
          <p:nvPr/>
        </p:nvSpPr>
        <p:spPr>
          <a:xfrm xmlns:a="http://schemas.openxmlformats.org/drawingml/2006/main">
            <a:off x="685800" y="6534150"/>
            <a:ext cx="4286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750" b="1" i="0">
                <a:solidFill>
                  <a:srgbClr val="626A7C"/>
                </a:solidFill>
                <a:latin typeface="Arial"/>
                <a:ea typeface="Arial"/>
                <a:cs typeface="Arial"/>
              </a:defRPr>
            </a:pPr>
            <a:r>
              <a:rPr sz="750" b="1" i="0">
                <a:solidFill>
                  <a:srgbClr val="626A7C"/>
                </a:solidFill>
                <a:latin typeface="Arial"/>
                <a:ea typeface="Arial"/>
                <a:cs typeface="Arial"/>
              </a:rPr>
              <a:t>INVARIA  |  REVIEW PRESENTATION</a:t>
            </a:r>
          </a:p>
        </p:txBody>
      </p:sp>
      <p:sp>
        <p:nvSpPr>
          <p:cNvPr id="3" name="">
            <a:extLst xmlns:a="http://schemas.openxmlformats.org/drawingml/2006/main">
              <a:ext uri="{FF2B5EF4-FFF2-40B4-BE49-F238E27FC236}">
                <a16:creationId xmlns:a16="http://schemas.microsoft.com/office/drawing/2014/main" id="{592FBF5D-AE51-4D74-BED0-D6EF335F9904}"/>
              </a:ext>
            </a:extLst>
          </p:cNvPr>
          <p:cNvSpPr>
            <a:spLocks xmlns:a="http://schemas.openxmlformats.org/drawingml/2006/main" noGrp="1"/>
          </p:cNvSpPr>
          <p:nvPr/>
        </p:nvSpPr>
        <p:spPr>
          <a:xfrm xmlns:a="http://schemas.openxmlformats.org/drawingml/2006/main">
            <a:off x="4286250" y="6534150"/>
            <a:ext cx="6191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675" b="0" i="0">
                <a:solidFill>
                  <a:srgbClr val="626A7C"/>
                </a:solidFill>
                <a:latin typeface="Arial"/>
                <a:ea typeface="Arial"/>
                <a:cs typeface="Arial"/>
              </a:defRPr>
            </a:pPr>
            <a:r>
              <a:rPr sz="675" b="0" i="0">
                <a:solidFill>
                  <a:srgbClr val="626A7C"/>
                </a:solidFill>
                <a:latin typeface="Arial"/>
                <a:ea typeface="Arial"/>
                <a:cs typeface="Arial"/>
              </a:rPr>
              <a:t>Source: docs/INVARIANT_ENGINE.md and current implementation</a:t>
            </a:r>
          </a:p>
        </p:txBody>
      </p:sp>
      <p:sp>
        <p:nvSpPr>
          <p:cNvPr id="4" name="">
            <a:extLst xmlns:a="http://schemas.openxmlformats.org/drawingml/2006/main">
              <a:ext uri="{FF2B5EF4-FFF2-40B4-BE49-F238E27FC236}">
                <a16:creationId xmlns:a16="http://schemas.microsoft.com/office/drawing/2014/main" id="{12785FAD-FE39-4714-8416-962A06195DFE}"/>
              </a:ext>
            </a:extLst>
          </p:cNvPr>
          <p:cNvSpPr>
            <a:spLocks xmlns:a="http://schemas.openxmlformats.org/drawingml/2006/main" noGrp="1"/>
          </p:cNvSpPr>
          <p:nvPr/>
        </p:nvSpPr>
        <p:spPr>
          <a:xfrm xmlns:a="http://schemas.openxmlformats.org/drawingml/2006/main">
            <a:off x="10858500" y="6515100"/>
            <a:ext cx="647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34415723-2B32-4F7E-A7BE-D6B3385D7726}"/>
              </a:ext>
            </a:extLst>
          </p:cNvPr>
          <p:cNvSpPr>
            <a:spLocks xmlns:a="http://schemas.openxmlformats.org/drawingml/2006/main" noGrp="1"/>
          </p:cNvSpPr>
          <p:nvPr/>
        </p:nvSpPr>
        <p:spPr>
          <a:xfrm xmlns:a="http://schemas.openxmlformats.org/drawingml/2006/main">
            <a:off x="685800" y="514350"/>
            <a:ext cx="1428750" cy="266700"/>
          </a:xfrm>
          <a:prstGeom xmlns:a="http://schemas.openxmlformats.org/drawingml/2006/main" prst="roundRect">
            <a:avLst>
              <a:gd name="adj" fmla="val 50000"/>
            </a:avLst>
          </a:prstGeom>
          <a:solidFill xmlns:a="http://schemas.openxmlformats.org/drawingml/2006/main">
            <a:srgbClr val="F1F0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8C5FDEA-B694-453A-B0DB-8A55BBF72202}"/>
              </a:ext>
            </a:extLst>
          </p:cNvPr>
          <p:cNvSpPr>
            <a:spLocks xmlns:a="http://schemas.openxmlformats.org/drawingml/2006/main" noGrp="1"/>
          </p:cNvSpPr>
          <p:nvPr/>
        </p:nvSpPr>
        <p:spPr>
          <a:xfrm xmlns:a="http://schemas.openxmlformats.org/drawingml/2006/main">
            <a:off x="781050" y="571500"/>
            <a:ext cx="123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CORE ALGORITHM</a:t>
            </a:r>
          </a:p>
        </p:txBody>
      </p:sp>
      <p:sp>
        <p:nvSpPr>
          <p:cNvPr id="7" name="">
            <a:extLst xmlns:a="http://schemas.openxmlformats.org/drawingml/2006/main">
              <a:ext uri="{FF2B5EF4-FFF2-40B4-BE49-F238E27FC236}">
                <a16:creationId xmlns:a16="http://schemas.microsoft.com/office/drawing/2014/main" id="{83E6EF4D-4A5E-40AA-B079-84D723298AFF}"/>
              </a:ext>
            </a:extLst>
          </p:cNvPr>
          <p:cNvSpPr>
            <a:spLocks xmlns:a="http://schemas.openxmlformats.org/drawingml/2006/main" noGrp="1"/>
          </p:cNvSpPr>
          <p:nvPr/>
        </p:nvSpPr>
        <p:spPr>
          <a:xfrm xmlns:a="http://schemas.openxmlformats.org/drawingml/2006/main">
            <a:off x="685800" y="1000125"/>
            <a:ext cx="74771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1708"/>
          </a:bodyPr>
          <a:lstStyle xmlns:a="http://schemas.openxmlformats.org/drawingml/2006/main"/>
          <a:p xmlns:a="http://schemas.openxmlformats.org/drawingml/2006/main">
            <a:pPr algn="l">
              <a:lnSpc>
                <a:spcPct val="112000"/>
              </a:lnSpc>
              <a:buNone/>
              <a:defRPr sz="3225" b="1" i="0">
                <a:solidFill>
                  <a:srgbClr val="121522"/>
                </a:solidFill>
                <a:latin typeface="Arial"/>
                <a:ea typeface="Arial"/>
                <a:cs typeface="Arial"/>
              </a:defRPr>
            </a:pPr>
            <a:r>
              <a:rPr sz="3225" b="1" i="0">
                <a:solidFill>
                  <a:srgbClr val="121522"/>
                </a:solidFill>
                <a:latin typeface="Arial"/>
                <a:ea typeface="Arial"/>
                <a:cs typeface="Arial"/>
              </a:rPr>
              <a:t>INVARIANT: a security-decision engine</a:t>
            </a:r>
          </a:p>
        </p:txBody>
      </p:sp>
      <p:sp>
        <p:nvSpPr>
          <p:cNvPr id="8" name="">
            <a:extLst xmlns:a="http://schemas.openxmlformats.org/drawingml/2006/main">
              <a:ext uri="{FF2B5EF4-FFF2-40B4-BE49-F238E27FC236}">
                <a16:creationId xmlns:a16="http://schemas.microsoft.com/office/drawing/2014/main" id="{C8ED1638-3C5D-4FB9-9BBC-82C027500E8B}"/>
              </a:ext>
            </a:extLst>
          </p:cNvPr>
          <p:cNvSpPr>
            <a:spLocks xmlns:a="http://schemas.openxmlformats.org/drawingml/2006/main" noGrp="1"/>
          </p:cNvSpPr>
          <p:nvPr/>
        </p:nvSpPr>
        <p:spPr>
          <a:xfrm xmlns:a="http://schemas.openxmlformats.org/drawingml/2006/main">
            <a:off x="685800" y="1657350"/>
            <a:ext cx="852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78582"/>
          </a:bodyPr>
          <a:lstStyle xmlns:a="http://schemas.openxmlformats.org/drawingml/2006/main"/>
          <a:p xmlns:a="http://schemas.openxmlformats.org/drawingml/2006/main">
            <a:pPr algn="l">
              <a:lnSpc>
                <a:spcPct val="120000"/>
              </a:lnSpc>
              <a:buNone/>
              <a:defRPr sz="1425" b="0" i="0">
                <a:solidFill>
                  <a:srgbClr val="626A7C"/>
                </a:solidFill>
                <a:latin typeface="Arial"/>
                <a:ea typeface="Arial"/>
                <a:cs typeface="Arial"/>
              </a:defRPr>
            </a:pPr>
            <a:r>
              <a:rPr sz="1425" b="0" i="0">
                <a:solidFill>
                  <a:srgbClr val="626A7C"/>
                </a:solidFill>
                <a:latin typeface="Arial"/>
                <a:ea typeface="Arial"/>
                <a:cs typeface="Arial"/>
              </a:rPr>
              <a:t>Invariant-based Networked Verification and Attack-path Reasoning defines the conditions under which a code pattern becomes a reported finding.</a:t>
            </a:r>
          </a:p>
        </p:txBody>
      </p:sp>
      <p:sp>
        <p:nvSpPr>
          <p:cNvPr id="9" name="">
            <a:extLst xmlns:a="http://schemas.openxmlformats.org/drawingml/2006/main">
              <a:ext uri="{FF2B5EF4-FFF2-40B4-BE49-F238E27FC236}">
                <a16:creationId xmlns:a16="http://schemas.microsoft.com/office/drawing/2014/main" id="{5B9C8CEF-A182-44F3-BE8C-7D612E39BF06}"/>
              </a:ext>
            </a:extLst>
          </p:cNvPr>
          <p:cNvSpPr>
            <a:spLocks xmlns:a="http://schemas.openxmlformats.org/drawingml/2006/main" noGrp="1"/>
          </p:cNvSpPr>
          <p:nvPr/>
        </p:nvSpPr>
        <p:spPr>
          <a:xfrm xmlns:a="http://schemas.openxmlformats.org/drawingml/2006/main">
            <a:off x="685800" y="2724150"/>
            <a:ext cx="1809750" cy="1847850"/>
          </a:xfrm>
          <a:prstGeom xmlns:a="http://schemas.openxmlformats.org/drawingml/2006/main" prst="roundRect">
            <a:avLst>
              <a:gd name="adj" fmla="val 8421"/>
            </a:avLst>
          </a:prstGeom>
          <a:solidFill xmlns:a="http://schemas.openxmlformats.org/drawingml/2006/main">
            <a:srgbClr val="F7F8FC"/>
          </a:solidFill>
          <a:ln xmlns:a="http://schemas.openxmlformats.org/drawingml/2006/main" w="9525">
            <a:solidFill>
              <a:srgbClr val="DEE1EC"/>
            </a:solidFill>
            <a:prstDash val="solid"/>
          </a:ln>
        </p:spPr>
      </p:sp>
      <p:sp>
        <p:nvSpPr>
          <p:cNvPr id="10" name="">
            <a:extLst xmlns:a="http://schemas.openxmlformats.org/drawingml/2006/main">
              <a:ext uri="{FF2B5EF4-FFF2-40B4-BE49-F238E27FC236}">
                <a16:creationId xmlns:a16="http://schemas.microsoft.com/office/drawing/2014/main" id="{03EA985A-C735-4F8F-9DBC-C12ED41D5DE8}"/>
              </a:ext>
            </a:extLst>
          </p:cNvPr>
          <p:cNvSpPr>
            <a:spLocks xmlns:a="http://schemas.openxmlformats.org/drawingml/2006/main" noGrp="1"/>
          </p:cNvSpPr>
          <p:nvPr/>
        </p:nvSpPr>
        <p:spPr>
          <a:xfrm xmlns:a="http://schemas.openxmlformats.org/drawingml/2006/main">
            <a:off x="857250" y="2924175"/>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626A7C"/>
                </a:solidFill>
                <a:latin typeface="Arial"/>
                <a:ea typeface="Arial"/>
                <a:cs typeface="Arial"/>
              </a:defRPr>
            </a:pPr>
            <a:r>
              <a:rPr sz="900" b="1" i="0">
                <a:solidFill>
                  <a:srgbClr val="626A7C"/>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2F37A74D-0BAB-40A5-84EA-1F495AD4EADE}"/>
              </a:ext>
            </a:extLst>
          </p:cNvPr>
          <p:cNvSpPr>
            <a:spLocks xmlns:a="http://schemas.openxmlformats.org/drawingml/2006/main" noGrp="1"/>
          </p:cNvSpPr>
          <p:nvPr/>
        </p:nvSpPr>
        <p:spPr>
          <a:xfrm xmlns:a="http://schemas.openxmlformats.org/drawingml/2006/main">
            <a:off x="857250" y="3267075"/>
            <a:ext cx="1466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1315"/>
          </a:bodyPr>
          <a:lstStyle xmlns:a="http://schemas.openxmlformats.org/drawingml/2006/main"/>
          <a:p xmlns:a="http://schemas.openxmlformats.org/drawingml/2006/main">
            <a:pPr algn="l">
              <a:lnSpc>
                <a:spcPct val="112000"/>
              </a:lnSpc>
              <a:buNone/>
              <a:defRPr sz="1650" b="1" i="0">
                <a:solidFill>
                  <a:srgbClr val="121522"/>
                </a:solidFill>
                <a:latin typeface="Arial"/>
                <a:ea typeface="Arial"/>
                <a:cs typeface="Arial"/>
              </a:defRPr>
            </a:pPr>
            <a:r>
              <a:rPr sz="1650" b="1" i="0">
                <a:solidFill>
                  <a:srgbClr val="121522"/>
                </a:solidFill>
                <a:latin typeface="Arial"/>
                <a:ea typeface="Arial"/>
                <a:cs typeface="Arial"/>
              </a:rPr>
              <a:t>Model</a:t>
            </a:r>
          </a:p>
        </p:txBody>
      </p:sp>
      <p:sp>
        <p:nvSpPr>
          <p:cNvPr id="12" name="">
            <a:extLst xmlns:a="http://schemas.openxmlformats.org/drawingml/2006/main">
              <a:ext uri="{FF2B5EF4-FFF2-40B4-BE49-F238E27FC236}">
                <a16:creationId xmlns:a16="http://schemas.microsoft.com/office/drawing/2014/main" id="{922FCF5E-9852-4654-B5CB-4C77CEFBA64B}"/>
              </a:ext>
            </a:extLst>
          </p:cNvPr>
          <p:cNvSpPr>
            <a:spLocks xmlns:a="http://schemas.openxmlformats.org/drawingml/2006/main" noGrp="1"/>
          </p:cNvSpPr>
          <p:nvPr/>
        </p:nvSpPr>
        <p:spPr>
          <a:xfrm xmlns:a="http://schemas.openxmlformats.org/drawingml/2006/main">
            <a:off x="857250" y="3667125"/>
            <a:ext cx="14382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5790"/>
          </a:bodyPr>
          <a:lstStyle xmlns:a="http://schemas.openxmlformats.org/drawingml/2006/main"/>
          <a:p xmlns:a="http://schemas.openxmlformats.org/drawingml/2006/main">
            <a:pPr algn="l">
              <a:lnSpc>
                <a:spcPct val="116000"/>
              </a:lnSpc>
              <a:buNone/>
              <a:defRPr sz="1125" b="0" i="0">
                <a:solidFill>
                  <a:srgbClr val="626A7C"/>
                </a:solidFill>
                <a:latin typeface="Arial"/>
                <a:ea typeface="Arial"/>
                <a:cs typeface="Arial"/>
              </a:defRPr>
            </a:pPr>
            <a:r>
              <a:rPr sz="1125" b="0" i="0">
                <a:solidFill>
                  <a:srgbClr val="626A7C"/>
                </a:solidFill>
                <a:latin typeface="Arial"/>
                <a:ea typeface="Arial"/>
                <a:cs typeface="Arial"/>
              </a:rPr>
              <a:t>Parse routes, functions, queries, identities, and trust boundaries</a:t>
            </a:r>
          </a:p>
        </p:txBody>
      </p:sp>
      <p:sp>
        <p:nvSpPr>
          <p:cNvPr id="13" name="">
            <a:extLst xmlns:a="http://schemas.openxmlformats.org/drawingml/2006/main">
              <a:ext uri="{FF2B5EF4-FFF2-40B4-BE49-F238E27FC236}">
                <a16:creationId xmlns:a16="http://schemas.microsoft.com/office/drawing/2014/main" id="{48D5038D-563F-4058-B64E-EC7B25A8451C}"/>
              </a:ext>
            </a:extLst>
          </p:cNvPr>
          <p:cNvSpPr>
            <a:spLocks xmlns:a="http://schemas.openxmlformats.org/drawingml/2006/main" noGrp="1"/>
          </p:cNvSpPr>
          <p:nvPr/>
        </p:nvSpPr>
        <p:spPr>
          <a:xfrm xmlns:a="http://schemas.openxmlformats.org/drawingml/2006/main">
            <a:off x="2838450" y="2724150"/>
            <a:ext cx="1809750" cy="1847850"/>
          </a:xfrm>
          <a:prstGeom xmlns:a="http://schemas.openxmlformats.org/drawingml/2006/main" prst="roundRect">
            <a:avLst>
              <a:gd name="adj" fmla="val 8421"/>
            </a:avLst>
          </a:prstGeom>
          <a:solidFill xmlns:a="http://schemas.openxmlformats.org/drawingml/2006/main">
            <a:srgbClr val="F7F8FC"/>
          </a:solidFill>
          <a:ln xmlns:a="http://schemas.openxmlformats.org/drawingml/2006/main" w="9525">
            <a:solidFill>
              <a:srgbClr val="DEE1EC"/>
            </a:solidFill>
            <a:prstDash val="solid"/>
          </a:ln>
        </p:spPr>
      </p:sp>
      <p:sp>
        <p:nvSpPr>
          <p:cNvPr id="14" name="">
            <a:extLst xmlns:a="http://schemas.openxmlformats.org/drawingml/2006/main">
              <a:ext uri="{FF2B5EF4-FFF2-40B4-BE49-F238E27FC236}">
                <a16:creationId xmlns:a16="http://schemas.microsoft.com/office/drawing/2014/main" id="{F5E4171D-D8AC-435E-87BE-BE5DA6968741}"/>
              </a:ext>
            </a:extLst>
          </p:cNvPr>
          <p:cNvSpPr>
            <a:spLocks xmlns:a="http://schemas.openxmlformats.org/drawingml/2006/main" noGrp="1"/>
          </p:cNvSpPr>
          <p:nvPr/>
        </p:nvSpPr>
        <p:spPr>
          <a:xfrm xmlns:a="http://schemas.openxmlformats.org/drawingml/2006/main">
            <a:off x="3009900" y="2924175"/>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626A7C"/>
                </a:solidFill>
                <a:latin typeface="Arial"/>
                <a:ea typeface="Arial"/>
                <a:cs typeface="Arial"/>
              </a:defRPr>
            </a:pPr>
            <a:r>
              <a:rPr sz="900" b="1" i="0">
                <a:solidFill>
                  <a:srgbClr val="626A7C"/>
                </a:solidFill>
                <a:latin typeface="Arial"/>
                <a:ea typeface="Arial"/>
                <a:cs typeface="Arial"/>
              </a:rPr>
              <a:t>02</a:t>
            </a:r>
          </a:p>
        </p:txBody>
      </p:sp>
      <p:sp>
        <p:nvSpPr>
          <p:cNvPr id="15" name="">
            <a:extLst xmlns:a="http://schemas.openxmlformats.org/drawingml/2006/main">
              <a:ext uri="{FF2B5EF4-FFF2-40B4-BE49-F238E27FC236}">
                <a16:creationId xmlns:a16="http://schemas.microsoft.com/office/drawing/2014/main" id="{AC428440-5CA9-4229-B604-B4776C4FBD1D}"/>
              </a:ext>
            </a:extLst>
          </p:cNvPr>
          <p:cNvSpPr>
            <a:spLocks xmlns:a="http://schemas.openxmlformats.org/drawingml/2006/main" noGrp="1"/>
          </p:cNvSpPr>
          <p:nvPr/>
        </p:nvSpPr>
        <p:spPr>
          <a:xfrm xmlns:a="http://schemas.openxmlformats.org/drawingml/2006/main">
            <a:off x="3009900" y="3267075"/>
            <a:ext cx="1466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1315"/>
          </a:bodyPr>
          <a:lstStyle xmlns:a="http://schemas.openxmlformats.org/drawingml/2006/main"/>
          <a:p xmlns:a="http://schemas.openxmlformats.org/drawingml/2006/main">
            <a:pPr algn="l">
              <a:lnSpc>
                <a:spcPct val="112000"/>
              </a:lnSpc>
              <a:buNone/>
              <a:defRPr sz="1650" b="1" i="0">
                <a:solidFill>
                  <a:srgbClr val="121522"/>
                </a:solidFill>
                <a:latin typeface="Arial"/>
                <a:ea typeface="Arial"/>
                <a:cs typeface="Arial"/>
              </a:defRPr>
            </a:pPr>
            <a:r>
              <a:rPr sz="1650" b="1" i="0">
                <a:solidFill>
                  <a:srgbClr val="121522"/>
                </a:solidFill>
                <a:latin typeface="Arial"/>
                <a:ea typeface="Arial"/>
                <a:cs typeface="Arial"/>
              </a:rPr>
              <a:t>Hypothesis</a:t>
            </a:r>
          </a:p>
        </p:txBody>
      </p:sp>
      <p:sp>
        <p:nvSpPr>
          <p:cNvPr id="16" name="">
            <a:extLst xmlns:a="http://schemas.openxmlformats.org/drawingml/2006/main">
              <a:ext uri="{FF2B5EF4-FFF2-40B4-BE49-F238E27FC236}">
                <a16:creationId xmlns:a16="http://schemas.microsoft.com/office/drawing/2014/main" id="{6446A608-C6E4-411A-A232-0806C14A36B4}"/>
              </a:ext>
            </a:extLst>
          </p:cNvPr>
          <p:cNvSpPr>
            <a:spLocks xmlns:a="http://schemas.openxmlformats.org/drawingml/2006/main" noGrp="1"/>
          </p:cNvSpPr>
          <p:nvPr/>
        </p:nvSpPr>
        <p:spPr>
          <a:xfrm xmlns:a="http://schemas.openxmlformats.org/drawingml/2006/main">
            <a:off x="3009900" y="3667125"/>
            <a:ext cx="14382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125" b="0" i="0">
                <a:solidFill>
                  <a:srgbClr val="626A7C"/>
                </a:solidFill>
                <a:latin typeface="Arial"/>
                <a:ea typeface="Arial"/>
                <a:cs typeface="Arial"/>
              </a:defRPr>
            </a:pPr>
            <a:r>
              <a:rPr sz="1125" b="0" i="0">
                <a:solidFill>
                  <a:srgbClr val="626A7C"/>
                </a:solidFill>
                <a:latin typeface="Arial"/>
                <a:ea typeface="Arial"/>
                <a:cs typeface="Arial"/>
              </a:rPr>
              <a:t>Ask a rule-specific question, such as BOLA001</a:t>
            </a:r>
          </a:p>
        </p:txBody>
      </p:sp>
      <p:sp>
        <p:nvSpPr>
          <p:cNvPr id="17" name="">
            <a:extLst xmlns:a="http://schemas.openxmlformats.org/drawingml/2006/main">
              <a:ext uri="{FF2B5EF4-FFF2-40B4-BE49-F238E27FC236}">
                <a16:creationId xmlns:a16="http://schemas.microsoft.com/office/drawing/2014/main" id="{F05B4473-09F5-4D3C-B56D-47D2F181C9DA}"/>
              </a:ext>
            </a:extLst>
          </p:cNvPr>
          <p:cNvSpPr>
            <a:spLocks xmlns:a="http://schemas.openxmlformats.org/drawingml/2006/main" noGrp="1"/>
          </p:cNvSpPr>
          <p:nvPr/>
        </p:nvSpPr>
        <p:spPr>
          <a:xfrm xmlns:a="http://schemas.openxmlformats.org/drawingml/2006/main">
            <a:off x="4991100" y="2724150"/>
            <a:ext cx="1809750" cy="1847850"/>
          </a:xfrm>
          <a:prstGeom xmlns:a="http://schemas.openxmlformats.org/drawingml/2006/main" prst="roundRect">
            <a:avLst>
              <a:gd name="adj" fmla="val 8421"/>
            </a:avLst>
          </a:prstGeom>
          <a:solidFill xmlns:a="http://schemas.openxmlformats.org/drawingml/2006/main">
            <a:srgbClr val="F7F8FC"/>
          </a:solidFill>
          <a:ln xmlns:a="http://schemas.openxmlformats.org/drawingml/2006/main" w="9525">
            <a:solidFill>
              <a:srgbClr val="DEE1EC"/>
            </a:solidFill>
            <a:prstDash val="solid"/>
          </a:ln>
        </p:spPr>
      </p:sp>
      <p:sp>
        <p:nvSpPr>
          <p:cNvPr id="18" name="">
            <a:extLst xmlns:a="http://schemas.openxmlformats.org/drawingml/2006/main">
              <a:ext uri="{FF2B5EF4-FFF2-40B4-BE49-F238E27FC236}">
                <a16:creationId xmlns:a16="http://schemas.microsoft.com/office/drawing/2014/main" id="{903F8EA7-ED6C-4991-A2CD-89A7BD08A561}"/>
              </a:ext>
            </a:extLst>
          </p:cNvPr>
          <p:cNvSpPr>
            <a:spLocks xmlns:a="http://schemas.openxmlformats.org/drawingml/2006/main" noGrp="1"/>
          </p:cNvSpPr>
          <p:nvPr/>
        </p:nvSpPr>
        <p:spPr>
          <a:xfrm xmlns:a="http://schemas.openxmlformats.org/drawingml/2006/main">
            <a:off x="5162550" y="2924175"/>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626A7C"/>
                </a:solidFill>
                <a:latin typeface="Arial"/>
                <a:ea typeface="Arial"/>
                <a:cs typeface="Arial"/>
              </a:defRPr>
            </a:pPr>
            <a:r>
              <a:rPr sz="900" b="1" i="0">
                <a:solidFill>
                  <a:srgbClr val="626A7C"/>
                </a:solidFill>
                <a:latin typeface="Arial"/>
                <a:ea typeface="Arial"/>
                <a:cs typeface="Arial"/>
              </a:rPr>
              <a:t>03</a:t>
            </a:r>
          </a:p>
        </p:txBody>
      </p:sp>
      <p:sp>
        <p:nvSpPr>
          <p:cNvPr id="19" name="">
            <a:extLst xmlns:a="http://schemas.openxmlformats.org/drawingml/2006/main">
              <a:ext uri="{FF2B5EF4-FFF2-40B4-BE49-F238E27FC236}">
                <a16:creationId xmlns:a16="http://schemas.microsoft.com/office/drawing/2014/main" id="{5BAA24F4-1AA9-4C03-BE81-5E3A109488CB}"/>
              </a:ext>
            </a:extLst>
          </p:cNvPr>
          <p:cNvSpPr>
            <a:spLocks xmlns:a="http://schemas.openxmlformats.org/drawingml/2006/main" noGrp="1"/>
          </p:cNvSpPr>
          <p:nvPr/>
        </p:nvSpPr>
        <p:spPr>
          <a:xfrm xmlns:a="http://schemas.openxmlformats.org/drawingml/2006/main">
            <a:off x="5162550" y="3267075"/>
            <a:ext cx="1466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1315"/>
          </a:bodyPr>
          <a:lstStyle xmlns:a="http://schemas.openxmlformats.org/drawingml/2006/main"/>
          <a:p xmlns:a="http://schemas.openxmlformats.org/drawingml/2006/main">
            <a:pPr algn="l">
              <a:lnSpc>
                <a:spcPct val="112000"/>
              </a:lnSpc>
              <a:buNone/>
              <a:defRPr sz="1650" b="1" i="0">
                <a:solidFill>
                  <a:srgbClr val="121522"/>
                </a:solidFill>
                <a:latin typeface="Arial"/>
                <a:ea typeface="Arial"/>
                <a:cs typeface="Arial"/>
              </a:defRPr>
            </a:pPr>
            <a:r>
              <a:rPr sz="1650" b="1" i="0">
                <a:solidFill>
                  <a:srgbClr val="121522"/>
                </a:solidFill>
                <a:latin typeface="Arial"/>
                <a:ea typeface="Arial"/>
                <a:cs typeface="Arial"/>
              </a:rPr>
              <a:t>Evidence</a:t>
            </a:r>
          </a:p>
        </p:txBody>
      </p:sp>
      <p:sp>
        <p:nvSpPr>
          <p:cNvPr id="20" name="">
            <a:extLst xmlns:a="http://schemas.openxmlformats.org/drawingml/2006/main">
              <a:ext uri="{FF2B5EF4-FFF2-40B4-BE49-F238E27FC236}">
                <a16:creationId xmlns:a16="http://schemas.microsoft.com/office/drawing/2014/main" id="{A0603B09-9EBF-4EBD-864D-32E9C90530DB}"/>
              </a:ext>
            </a:extLst>
          </p:cNvPr>
          <p:cNvSpPr>
            <a:spLocks xmlns:a="http://schemas.openxmlformats.org/drawingml/2006/main" noGrp="1"/>
          </p:cNvSpPr>
          <p:nvPr/>
        </p:nvSpPr>
        <p:spPr>
          <a:xfrm xmlns:a="http://schemas.openxmlformats.org/drawingml/2006/main">
            <a:off x="5162550" y="3667125"/>
            <a:ext cx="14382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125" b="0" i="0">
                <a:solidFill>
                  <a:srgbClr val="626A7C"/>
                </a:solidFill>
                <a:latin typeface="Arial"/>
                <a:ea typeface="Arial"/>
                <a:cs typeface="Arial"/>
              </a:defRPr>
            </a:pPr>
            <a:r>
              <a:rPr sz="1125" b="0" i="0">
                <a:solidFill>
                  <a:srgbClr val="626A7C"/>
                </a:solidFill>
                <a:latin typeface="Arial"/>
                <a:ea typeface="Arial"/>
                <a:cs typeface="Arial"/>
              </a:rPr>
              <a:t>Trace request flow and collect source snippets and controls</a:t>
            </a:r>
          </a:p>
        </p:txBody>
      </p:sp>
      <p:sp>
        <p:nvSpPr>
          <p:cNvPr id="21" name="">
            <a:extLst xmlns:a="http://schemas.openxmlformats.org/drawingml/2006/main">
              <a:ext uri="{FF2B5EF4-FFF2-40B4-BE49-F238E27FC236}">
                <a16:creationId xmlns:a16="http://schemas.microsoft.com/office/drawing/2014/main" id="{F2A5AC45-68E2-4940-9961-35A33C3EF9DF}"/>
              </a:ext>
            </a:extLst>
          </p:cNvPr>
          <p:cNvSpPr>
            <a:spLocks xmlns:a="http://schemas.openxmlformats.org/drawingml/2006/main" noGrp="1"/>
          </p:cNvSpPr>
          <p:nvPr/>
        </p:nvSpPr>
        <p:spPr>
          <a:xfrm xmlns:a="http://schemas.openxmlformats.org/drawingml/2006/main">
            <a:off x="7143750" y="2724150"/>
            <a:ext cx="1809750" cy="1847850"/>
          </a:xfrm>
          <a:prstGeom xmlns:a="http://schemas.openxmlformats.org/drawingml/2006/main" prst="roundRect">
            <a:avLst>
              <a:gd name="adj" fmla="val 8421"/>
            </a:avLst>
          </a:prstGeom>
          <a:solidFill xmlns:a="http://schemas.openxmlformats.org/drawingml/2006/main">
            <a:srgbClr val="F1F0FF"/>
          </a:solidFill>
          <a:ln xmlns:a="http://schemas.openxmlformats.org/drawingml/2006/main" w="19050">
            <a:solidFill>
              <a:srgbClr val="7C71FF"/>
            </a:solidFill>
            <a:prstDash val="solid"/>
          </a:ln>
        </p:spPr>
      </p:sp>
      <p:sp>
        <p:nvSpPr>
          <p:cNvPr id="22" name="">
            <a:extLst xmlns:a="http://schemas.openxmlformats.org/drawingml/2006/main">
              <a:ext uri="{FF2B5EF4-FFF2-40B4-BE49-F238E27FC236}">
                <a16:creationId xmlns:a16="http://schemas.microsoft.com/office/drawing/2014/main" id="{2F3F24B6-D5A0-48AD-ABD0-AC00026733A7}"/>
              </a:ext>
            </a:extLst>
          </p:cNvPr>
          <p:cNvSpPr>
            <a:spLocks xmlns:a="http://schemas.openxmlformats.org/drawingml/2006/main" noGrp="1"/>
          </p:cNvSpPr>
          <p:nvPr/>
        </p:nvSpPr>
        <p:spPr>
          <a:xfrm xmlns:a="http://schemas.openxmlformats.org/drawingml/2006/main">
            <a:off x="7315200" y="2924175"/>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5646E8"/>
                </a:solidFill>
                <a:latin typeface="Arial"/>
                <a:ea typeface="Arial"/>
                <a:cs typeface="Arial"/>
              </a:defRPr>
            </a:pPr>
            <a:r>
              <a:rPr sz="900" b="1" i="0">
                <a:solidFill>
                  <a:srgbClr val="5646E8"/>
                </a:solidFill>
                <a:latin typeface="Arial"/>
                <a:ea typeface="Arial"/>
                <a:cs typeface="Arial"/>
              </a:rPr>
              <a:t>04</a:t>
            </a:r>
          </a:p>
        </p:txBody>
      </p:sp>
      <p:sp>
        <p:nvSpPr>
          <p:cNvPr id="23" name="">
            <a:extLst xmlns:a="http://schemas.openxmlformats.org/drawingml/2006/main">
              <a:ext uri="{FF2B5EF4-FFF2-40B4-BE49-F238E27FC236}">
                <a16:creationId xmlns:a16="http://schemas.microsoft.com/office/drawing/2014/main" id="{F5738DD3-D5D7-4271-B296-C1A07254C7D1}"/>
              </a:ext>
            </a:extLst>
          </p:cNvPr>
          <p:cNvSpPr>
            <a:spLocks xmlns:a="http://schemas.openxmlformats.org/drawingml/2006/main" noGrp="1"/>
          </p:cNvSpPr>
          <p:nvPr/>
        </p:nvSpPr>
        <p:spPr>
          <a:xfrm xmlns:a="http://schemas.openxmlformats.org/drawingml/2006/main">
            <a:off x="7315200" y="3267075"/>
            <a:ext cx="1466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1315"/>
          </a:bodyPr>
          <a:lstStyle xmlns:a="http://schemas.openxmlformats.org/drawingml/2006/main"/>
          <a:p xmlns:a="http://schemas.openxmlformats.org/drawingml/2006/main">
            <a:pPr algn="l">
              <a:lnSpc>
                <a:spcPct val="112000"/>
              </a:lnSpc>
              <a:buNone/>
              <a:defRPr sz="1650" b="1" i="0">
                <a:solidFill>
                  <a:srgbClr val="121522"/>
                </a:solidFill>
                <a:latin typeface="Arial"/>
                <a:ea typeface="Arial"/>
                <a:cs typeface="Arial"/>
              </a:defRPr>
            </a:pPr>
            <a:r>
              <a:rPr sz="1650" b="1" i="0">
                <a:solidFill>
                  <a:srgbClr val="121522"/>
                </a:solidFill>
                <a:latin typeface="Arial"/>
                <a:ea typeface="Arial"/>
                <a:cs typeface="Arial"/>
              </a:rPr>
              <a:t>Gate</a:t>
            </a:r>
          </a:p>
        </p:txBody>
      </p:sp>
      <p:sp>
        <p:nvSpPr>
          <p:cNvPr id="24" name="">
            <a:extLst xmlns:a="http://schemas.openxmlformats.org/drawingml/2006/main">
              <a:ext uri="{FF2B5EF4-FFF2-40B4-BE49-F238E27FC236}">
                <a16:creationId xmlns:a16="http://schemas.microsoft.com/office/drawing/2014/main" id="{A73047B7-698E-4DF8-8291-1361375BB974}"/>
              </a:ext>
            </a:extLst>
          </p:cNvPr>
          <p:cNvSpPr>
            <a:spLocks xmlns:a="http://schemas.openxmlformats.org/drawingml/2006/main" noGrp="1"/>
          </p:cNvSpPr>
          <p:nvPr/>
        </p:nvSpPr>
        <p:spPr>
          <a:xfrm xmlns:a="http://schemas.openxmlformats.org/drawingml/2006/main">
            <a:off x="7315200" y="3667125"/>
            <a:ext cx="14382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125" b="0" i="0">
                <a:solidFill>
                  <a:srgbClr val="626A7C"/>
                </a:solidFill>
                <a:latin typeface="Arial"/>
                <a:ea typeface="Arial"/>
                <a:cs typeface="Arial"/>
              </a:defRPr>
            </a:pPr>
            <a:r>
              <a:rPr sz="1125" b="0" i="0">
                <a:solidFill>
                  <a:srgbClr val="626A7C"/>
                </a:solidFill>
                <a:latin typeface="Arial"/>
                <a:ea typeface="Arial"/>
                <a:cs typeface="Arial"/>
              </a:rPr>
              <a:t>Require the minimum evidence needed for that rule</a:t>
            </a:r>
          </a:p>
        </p:txBody>
      </p:sp>
      <p:sp>
        <p:nvSpPr>
          <p:cNvPr id="25" name="">
            <a:extLst xmlns:a="http://schemas.openxmlformats.org/drawingml/2006/main">
              <a:ext uri="{FF2B5EF4-FFF2-40B4-BE49-F238E27FC236}">
                <a16:creationId xmlns:a16="http://schemas.microsoft.com/office/drawing/2014/main" id="{BCCFB3A1-2EE4-48E9-B941-D8254D53873F}"/>
              </a:ext>
            </a:extLst>
          </p:cNvPr>
          <p:cNvSpPr>
            <a:spLocks xmlns:a="http://schemas.openxmlformats.org/drawingml/2006/main" noGrp="1"/>
          </p:cNvSpPr>
          <p:nvPr/>
        </p:nvSpPr>
        <p:spPr>
          <a:xfrm xmlns:a="http://schemas.openxmlformats.org/drawingml/2006/main">
            <a:off x="9296400" y="2724150"/>
            <a:ext cx="1809750" cy="1847850"/>
          </a:xfrm>
          <a:prstGeom xmlns:a="http://schemas.openxmlformats.org/drawingml/2006/main" prst="roundRect">
            <a:avLst>
              <a:gd name="adj" fmla="val 8421"/>
            </a:avLst>
          </a:prstGeom>
          <a:solidFill xmlns:a="http://schemas.openxmlformats.org/drawingml/2006/main">
            <a:srgbClr val="F7F8FC"/>
          </a:solidFill>
          <a:ln xmlns:a="http://schemas.openxmlformats.org/drawingml/2006/main" w="9525">
            <a:solidFill>
              <a:srgbClr val="DEE1EC"/>
            </a:solidFill>
            <a:prstDash val="solid"/>
          </a:ln>
        </p:spPr>
      </p:sp>
      <p:sp>
        <p:nvSpPr>
          <p:cNvPr id="26" name="">
            <a:extLst xmlns:a="http://schemas.openxmlformats.org/drawingml/2006/main">
              <a:ext uri="{FF2B5EF4-FFF2-40B4-BE49-F238E27FC236}">
                <a16:creationId xmlns:a16="http://schemas.microsoft.com/office/drawing/2014/main" id="{900F92EA-523B-4DE9-81FD-0D4E471855C1}"/>
              </a:ext>
            </a:extLst>
          </p:cNvPr>
          <p:cNvSpPr>
            <a:spLocks xmlns:a="http://schemas.openxmlformats.org/drawingml/2006/main" noGrp="1"/>
          </p:cNvSpPr>
          <p:nvPr/>
        </p:nvSpPr>
        <p:spPr>
          <a:xfrm xmlns:a="http://schemas.openxmlformats.org/drawingml/2006/main">
            <a:off x="9467850" y="2924175"/>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626A7C"/>
                </a:solidFill>
                <a:latin typeface="Arial"/>
                <a:ea typeface="Arial"/>
                <a:cs typeface="Arial"/>
              </a:defRPr>
            </a:pPr>
            <a:r>
              <a:rPr sz="900" b="1" i="0">
                <a:solidFill>
                  <a:srgbClr val="626A7C"/>
                </a:solidFill>
                <a:latin typeface="Arial"/>
                <a:ea typeface="Arial"/>
                <a:cs typeface="Arial"/>
              </a:rPr>
              <a:t>05</a:t>
            </a:r>
          </a:p>
        </p:txBody>
      </p:sp>
      <p:sp>
        <p:nvSpPr>
          <p:cNvPr id="27" name="">
            <a:extLst xmlns:a="http://schemas.openxmlformats.org/drawingml/2006/main">
              <a:ext uri="{FF2B5EF4-FFF2-40B4-BE49-F238E27FC236}">
                <a16:creationId xmlns:a16="http://schemas.microsoft.com/office/drawing/2014/main" id="{F9174F21-074E-4846-B9D0-D0C48112FE8E}"/>
              </a:ext>
            </a:extLst>
          </p:cNvPr>
          <p:cNvSpPr>
            <a:spLocks xmlns:a="http://schemas.openxmlformats.org/drawingml/2006/main" noGrp="1"/>
          </p:cNvSpPr>
          <p:nvPr/>
        </p:nvSpPr>
        <p:spPr>
          <a:xfrm xmlns:a="http://schemas.openxmlformats.org/drawingml/2006/main">
            <a:off x="9467850" y="3267075"/>
            <a:ext cx="1466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1315"/>
          </a:bodyPr>
          <a:lstStyle xmlns:a="http://schemas.openxmlformats.org/drawingml/2006/main"/>
          <a:p xmlns:a="http://schemas.openxmlformats.org/drawingml/2006/main">
            <a:pPr algn="l">
              <a:lnSpc>
                <a:spcPct val="112000"/>
              </a:lnSpc>
              <a:buNone/>
              <a:defRPr sz="1650" b="1" i="0">
                <a:solidFill>
                  <a:srgbClr val="121522"/>
                </a:solidFill>
                <a:latin typeface="Arial"/>
                <a:ea typeface="Arial"/>
                <a:cs typeface="Arial"/>
              </a:defRPr>
            </a:pPr>
            <a:r>
              <a:rPr sz="1650" b="1" i="0">
                <a:solidFill>
                  <a:srgbClr val="121522"/>
                </a:solidFill>
                <a:latin typeface="Arial"/>
                <a:ea typeface="Arial"/>
                <a:cs typeface="Arial"/>
              </a:rPr>
              <a:t>Ledger</a:t>
            </a:r>
          </a:p>
        </p:txBody>
      </p:sp>
      <p:sp>
        <p:nvSpPr>
          <p:cNvPr id="28" name="">
            <a:extLst xmlns:a="http://schemas.openxmlformats.org/drawingml/2006/main">
              <a:ext uri="{FF2B5EF4-FFF2-40B4-BE49-F238E27FC236}">
                <a16:creationId xmlns:a16="http://schemas.microsoft.com/office/drawing/2014/main" id="{C7AF1C56-69B3-4142-BFE1-DA9A550CE2C1}"/>
              </a:ext>
            </a:extLst>
          </p:cNvPr>
          <p:cNvSpPr>
            <a:spLocks xmlns:a="http://schemas.openxmlformats.org/drawingml/2006/main" noGrp="1"/>
          </p:cNvSpPr>
          <p:nvPr/>
        </p:nvSpPr>
        <p:spPr>
          <a:xfrm xmlns:a="http://schemas.openxmlformats.org/drawingml/2006/main">
            <a:off x="9467850" y="3667125"/>
            <a:ext cx="14382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125" b="0" i="0">
                <a:solidFill>
                  <a:srgbClr val="626A7C"/>
                </a:solidFill>
                <a:latin typeface="Arial"/>
                <a:ea typeface="Arial"/>
                <a:cs typeface="Arial"/>
              </a:defRPr>
            </a:pPr>
            <a:r>
              <a:rPr sz="1125" b="0" i="0">
                <a:solidFill>
                  <a:srgbClr val="626A7C"/>
                </a:solidFill>
                <a:latin typeface="Arial"/>
                <a:ea typeface="Arial"/>
                <a:cs typeface="Arial"/>
              </a:rPr>
              <a:t>Persist proof, conditions, coverage, and confidence basis</a:t>
            </a:r>
          </a:p>
        </p:txBody>
      </p:sp>
      <p:cxnSp>
        <p:nvCxnSpPr>
          <p:cNvPr id="64" name=""/>
          <p:cNvCxnSpPr>
            <a:stCxn xmlns:a="http://schemas.openxmlformats.org/drawingml/2006/main" id="9" idx="3"/>
            <a:endCxn xmlns:a="http://schemas.openxmlformats.org/drawingml/2006/main" id="13" idx="1"/>
          </p:cNvCxnSpPr>
          <p:nvPr/>
        </p:nvCxnSpPr>
        <p:spPr>
          <a:xfrm xmlns:a="http://schemas.openxmlformats.org/drawingml/2006/main">
            <a:off x="2495550" y="3648075"/>
            <a:ext cx="342900" cy="0"/>
          </a:xfrm>
          <a:prstGeom xmlns:a="http://schemas.openxmlformats.org/drawingml/2006/main" prst="straightConnector1">
            <a:avLst/>
          </a:prstGeom>
          <a:ln xmlns:a="http://schemas.openxmlformats.org/drawingml/2006/main" w="19050">
            <a:solidFill>
              <a:srgbClr val="7C71FF"/>
            </a:solidFill>
            <a:prstDash val="solid"/>
            <a:tailEnd type="triangle" w="sm" len="sm"/>
          </a:ln>
        </p:spPr>
      </p:cxnSp>
      <p:cxnSp>
        <p:nvCxnSpPr>
          <p:cNvPr id="65" name=""/>
          <p:cNvCxnSpPr>
            <a:stCxn xmlns:a="http://schemas.openxmlformats.org/drawingml/2006/main" id="13" idx="3"/>
            <a:endCxn xmlns:a="http://schemas.openxmlformats.org/drawingml/2006/main" id="17" idx="1"/>
          </p:cNvCxnSpPr>
          <p:nvPr/>
        </p:nvCxnSpPr>
        <p:spPr>
          <a:xfrm xmlns:a="http://schemas.openxmlformats.org/drawingml/2006/main">
            <a:off x="4648200" y="3648075"/>
            <a:ext cx="342900" cy="0"/>
          </a:xfrm>
          <a:prstGeom xmlns:a="http://schemas.openxmlformats.org/drawingml/2006/main" prst="straightConnector1">
            <a:avLst/>
          </a:prstGeom>
          <a:ln xmlns:a="http://schemas.openxmlformats.org/drawingml/2006/main" w="19050">
            <a:solidFill>
              <a:srgbClr val="7C71FF"/>
            </a:solidFill>
            <a:prstDash val="solid"/>
            <a:tailEnd type="triangle" w="sm" len="sm"/>
          </a:ln>
        </p:spPr>
      </p:cxnSp>
      <p:cxnSp>
        <p:nvCxnSpPr>
          <p:cNvPr id="66" name=""/>
          <p:cNvCxnSpPr>
            <a:stCxn xmlns:a="http://schemas.openxmlformats.org/drawingml/2006/main" id="17" idx="3"/>
            <a:endCxn xmlns:a="http://schemas.openxmlformats.org/drawingml/2006/main" id="21" idx="1"/>
          </p:cNvCxnSpPr>
          <p:nvPr/>
        </p:nvCxnSpPr>
        <p:spPr>
          <a:xfrm xmlns:a="http://schemas.openxmlformats.org/drawingml/2006/main">
            <a:off x="6800850" y="3648075"/>
            <a:ext cx="342900" cy="0"/>
          </a:xfrm>
          <a:prstGeom xmlns:a="http://schemas.openxmlformats.org/drawingml/2006/main" prst="straightConnector1">
            <a:avLst/>
          </a:prstGeom>
          <a:ln xmlns:a="http://schemas.openxmlformats.org/drawingml/2006/main" w="19050">
            <a:solidFill>
              <a:srgbClr val="7C71FF"/>
            </a:solidFill>
            <a:prstDash val="solid"/>
            <a:tailEnd type="triangle" w="sm" len="sm"/>
          </a:ln>
        </p:spPr>
      </p:cxnSp>
      <p:cxnSp>
        <p:nvCxnSpPr>
          <p:cNvPr id="67" name=""/>
          <p:cNvCxnSpPr>
            <a:stCxn xmlns:a="http://schemas.openxmlformats.org/drawingml/2006/main" id="21" idx="3"/>
            <a:endCxn xmlns:a="http://schemas.openxmlformats.org/drawingml/2006/main" id="25" idx="1"/>
          </p:cNvCxnSpPr>
          <p:nvPr/>
        </p:nvCxnSpPr>
        <p:spPr>
          <a:xfrm xmlns:a="http://schemas.openxmlformats.org/drawingml/2006/main">
            <a:off x="8953500" y="3648075"/>
            <a:ext cx="342900" cy="0"/>
          </a:xfrm>
          <a:prstGeom xmlns:a="http://schemas.openxmlformats.org/drawingml/2006/main" prst="straightConnector1">
            <a:avLst/>
          </a:prstGeom>
          <a:ln xmlns:a="http://schemas.openxmlformats.org/drawingml/2006/main" w="19050">
            <a:solidFill>
              <a:srgbClr val="7C71FF"/>
            </a:solidFill>
            <a:prstDash val="solid"/>
            <a:tailEnd type="triangle" w="sm" len="sm"/>
          </a:ln>
        </p:spPr>
      </p:cxnSp>
      <p:sp>
        <p:nvSpPr>
          <p:cNvPr id="33" name="">
            <a:extLst xmlns:a="http://schemas.openxmlformats.org/drawingml/2006/main">
              <a:ext uri="{FF2B5EF4-FFF2-40B4-BE49-F238E27FC236}">
                <a16:creationId xmlns:a16="http://schemas.microsoft.com/office/drawing/2014/main" id="{5A7EB60C-24DC-4AA2-BC11-3D18802B8360}"/>
              </a:ext>
            </a:extLst>
          </p:cNvPr>
          <p:cNvSpPr>
            <a:spLocks xmlns:a="http://schemas.openxmlformats.org/drawingml/2006/main" noGrp="1"/>
          </p:cNvSpPr>
          <p:nvPr/>
        </p:nvSpPr>
        <p:spPr>
          <a:xfrm xmlns:a="http://schemas.openxmlformats.org/drawingml/2006/main">
            <a:off x="685800" y="5095875"/>
            <a:ext cx="10820400" cy="838200"/>
          </a:xfrm>
          <a:prstGeom xmlns:a="http://schemas.openxmlformats.org/drawingml/2006/main" prst="roundRect">
            <a:avLst>
              <a:gd name="adj" fmla="val 18182"/>
            </a:avLst>
          </a:prstGeom>
          <a:solidFill xmlns:a="http://schemas.openxmlformats.org/drawingml/2006/main">
            <a:srgbClr val="12131E"/>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608F39B5-EE68-42E4-A06F-5AE8134D1728}"/>
              </a:ext>
            </a:extLst>
          </p:cNvPr>
          <p:cNvSpPr>
            <a:spLocks xmlns:a="http://schemas.openxmlformats.org/drawingml/2006/main" noGrp="1"/>
          </p:cNvSpPr>
          <p:nvPr/>
        </p:nvSpPr>
        <p:spPr>
          <a:xfrm xmlns:a="http://schemas.openxmlformats.org/drawingml/2006/main">
            <a:off x="933450" y="5295900"/>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7C71FF"/>
                </a:solidFill>
                <a:latin typeface="Arial"/>
                <a:ea typeface="Arial"/>
                <a:cs typeface="Arial"/>
              </a:defRPr>
            </a:pPr>
            <a:r>
              <a:rPr sz="900" b="1" i="0">
                <a:solidFill>
                  <a:srgbClr val="7C71FF"/>
                </a:solidFill>
                <a:latin typeface="Arial"/>
                <a:ea typeface="Arial"/>
                <a:cs typeface="Arial"/>
              </a:rPr>
              <a:t>MODEL BOUNDARY</a:t>
            </a:r>
          </a:p>
        </p:txBody>
      </p:sp>
      <p:sp>
        <p:nvSpPr>
          <p:cNvPr id="35" name="">
            <a:extLst xmlns:a="http://schemas.openxmlformats.org/drawingml/2006/main">
              <a:ext uri="{FF2B5EF4-FFF2-40B4-BE49-F238E27FC236}">
                <a16:creationId xmlns:a16="http://schemas.microsoft.com/office/drawing/2014/main" id="{2013774E-3F51-4E5D-8D8F-63AE72908853}"/>
              </a:ext>
            </a:extLst>
          </p:cNvPr>
          <p:cNvSpPr>
            <a:spLocks xmlns:a="http://schemas.openxmlformats.org/drawingml/2006/main" noGrp="1"/>
          </p:cNvSpPr>
          <p:nvPr/>
        </p:nvSpPr>
        <p:spPr>
          <a:xfrm xmlns:a="http://schemas.openxmlformats.org/drawingml/2006/main">
            <a:off x="2857500" y="5267325"/>
            <a:ext cx="7943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67319"/>
          </a:bodyPr>
          <a:lstStyle xmlns:a="http://schemas.openxmlformats.org/drawingml/2006/main"/>
          <a:p xmlns:a="http://schemas.openxmlformats.org/drawingml/2006/main">
            <a:pPr algn="l">
              <a:lnSpc>
                <a:spcPct val="112000"/>
              </a:lnSpc>
              <a:buNone/>
              <a:defRPr sz="1575" b="1" i="0">
                <a:solidFill>
                  <a:srgbClr val="FFFFFF"/>
                </a:solidFill>
                <a:latin typeface="Arial"/>
                <a:ea typeface="Arial"/>
                <a:cs typeface="Arial"/>
              </a:defRPr>
            </a:pPr>
            <a:r>
              <a:rPr sz="1575" b="1" i="0">
                <a:solidFill>
                  <a:srgbClr val="FFFFFF"/>
                </a:solidFill>
                <a:latin typeface="Arial"/>
                <a:ea typeface="Arial"/>
                <a:cs typeface="Arial"/>
              </a:rPr>
              <a:t>RAG and the LLM can review a bounded evidence bundle. They cannot satisfy an evidence gate or replace missing source evidence.</a:t>
            </a:r>
          </a:p>
        </p:txBody>
      </p:sp>
    </p:spTree>
    <p:extLst>
      <p:ext uri="{BB962C8B-B14F-4D97-AF65-F5344CB8AC3E}">
        <p14:creationId xmlns:p14="http://schemas.microsoft.com/office/powerpoint/2010/main" val="71797554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7338493-0048-4638-92D5-737EEE09422C}"/>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 name="">
            <a:extLst xmlns:a="http://schemas.openxmlformats.org/drawingml/2006/main">
              <a:ext uri="{FF2B5EF4-FFF2-40B4-BE49-F238E27FC236}">
                <a16:creationId xmlns:a16="http://schemas.microsoft.com/office/drawing/2014/main" id="{9327D9A6-801C-4280-B156-340598554B6D}"/>
              </a:ext>
            </a:extLst>
          </p:cNvPr>
          <p:cNvSpPr>
            <a:spLocks xmlns:a="http://schemas.openxmlformats.org/drawingml/2006/main" noGrp="1"/>
          </p:cNvSpPr>
          <p:nvPr/>
        </p:nvSpPr>
        <p:spPr>
          <a:xfrm xmlns:a="http://schemas.openxmlformats.org/drawingml/2006/main">
            <a:off x="685800" y="6534150"/>
            <a:ext cx="4286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750" b="1" i="0">
                <a:solidFill>
                  <a:srgbClr val="626A7C"/>
                </a:solidFill>
                <a:latin typeface="Arial"/>
                <a:ea typeface="Arial"/>
                <a:cs typeface="Arial"/>
              </a:defRPr>
            </a:pPr>
            <a:r>
              <a:rPr sz="750" b="1" i="0">
                <a:solidFill>
                  <a:srgbClr val="626A7C"/>
                </a:solidFill>
                <a:latin typeface="Arial"/>
                <a:ea typeface="Arial"/>
                <a:cs typeface="Arial"/>
              </a:rPr>
              <a:t>INVARIA  |  REVIEW PRESENTATION</a:t>
            </a:r>
          </a:p>
        </p:txBody>
      </p:sp>
      <p:sp>
        <p:nvSpPr>
          <p:cNvPr id="3" name="">
            <a:extLst xmlns:a="http://schemas.openxmlformats.org/drawingml/2006/main">
              <a:ext uri="{FF2B5EF4-FFF2-40B4-BE49-F238E27FC236}">
                <a16:creationId xmlns:a16="http://schemas.microsoft.com/office/drawing/2014/main" id="{B09E3AD1-5793-43C0-AEBE-842F97874101}"/>
              </a:ext>
            </a:extLst>
          </p:cNvPr>
          <p:cNvSpPr>
            <a:spLocks xmlns:a="http://schemas.openxmlformats.org/drawingml/2006/main" noGrp="1"/>
          </p:cNvSpPr>
          <p:nvPr/>
        </p:nvSpPr>
        <p:spPr>
          <a:xfrm xmlns:a="http://schemas.openxmlformats.org/drawingml/2006/main">
            <a:off x="4286250" y="6534150"/>
            <a:ext cx="6191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675" b="0" i="0">
                <a:solidFill>
                  <a:srgbClr val="626A7C"/>
                </a:solidFill>
                <a:latin typeface="Arial"/>
                <a:ea typeface="Arial"/>
                <a:cs typeface="Arial"/>
              </a:defRPr>
            </a:pPr>
            <a:r>
              <a:rPr sz="675" b="0" i="0">
                <a:solidFill>
                  <a:srgbClr val="626A7C"/>
                </a:solidFill>
                <a:latin typeface="Arial"/>
                <a:ea typeface="Arial"/>
                <a:cs typeface="Arial"/>
              </a:rPr>
              <a:t>Screenshot: live INVARIANT decision ledger, captured 24 Sep 2026</a:t>
            </a:r>
          </a:p>
        </p:txBody>
      </p:sp>
      <p:sp>
        <p:nvSpPr>
          <p:cNvPr id="4" name="">
            <a:extLst xmlns:a="http://schemas.openxmlformats.org/drawingml/2006/main">
              <a:ext uri="{FF2B5EF4-FFF2-40B4-BE49-F238E27FC236}">
                <a16:creationId xmlns:a16="http://schemas.microsoft.com/office/drawing/2014/main" id="{38A84620-0ED4-4B1E-83DA-1369088F6FBF}"/>
              </a:ext>
            </a:extLst>
          </p:cNvPr>
          <p:cNvSpPr>
            <a:spLocks xmlns:a="http://schemas.openxmlformats.org/drawingml/2006/main" noGrp="1"/>
          </p:cNvSpPr>
          <p:nvPr/>
        </p:nvSpPr>
        <p:spPr>
          <a:xfrm xmlns:a="http://schemas.openxmlformats.org/drawingml/2006/main">
            <a:off x="10858500" y="6515100"/>
            <a:ext cx="647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66202DFD-416E-4827-A639-5427871FEAD4}"/>
              </a:ext>
            </a:extLst>
          </p:cNvPr>
          <p:cNvSpPr>
            <a:spLocks xmlns:a="http://schemas.openxmlformats.org/drawingml/2006/main" noGrp="1"/>
          </p:cNvSpPr>
          <p:nvPr/>
        </p:nvSpPr>
        <p:spPr>
          <a:xfrm xmlns:a="http://schemas.openxmlformats.org/drawingml/2006/main">
            <a:off x="685800" y="514350"/>
            <a:ext cx="1428750" cy="266700"/>
          </a:xfrm>
          <a:prstGeom xmlns:a="http://schemas.openxmlformats.org/drawingml/2006/main" prst="roundRect">
            <a:avLst>
              <a:gd name="adj" fmla="val 50000"/>
            </a:avLst>
          </a:prstGeom>
          <a:solidFill xmlns:a="http://schemas.openxmlformats.org/drawingml/2006/main">
            <a:srgbClr val="F1F0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EC2E3A5-7BE5-4A77-96D5-0DFE2034CDBC}"/>
              </a:ext>
            </a:extLst>
          </p:cNvPr>
          <p:cNvSpPr>
            <a:spLocks xmlns:a="http://schemas.openxmlformats.org/drawingml/2006/main" noGrp="1"/>
          </p:cNvSpPr>
          <p:nvPr/>
        </p:nvSpPr>
        <p:spPr>
          <a:xfrm xmlns:a="http://schemas.openxmlformats.org/drawingml/2006/main">
            <a:off x="781050" y="571500"/>
            <a:ext cx="123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CORE ALGORITHM</a:t>
            </a:r>
          </a:p>
        </p:txBody>
      </p:sp>
      <p:sp>
        <p:nvSpPr>
          <p:cNvPr id="7" name="">
            <a:extLst xmlns:a="http://schemas.openxmlformats.org/drawingml/2006/main">
              <a:ext uri="{FF2B5EF4-FFF2-40B4-BE49-F238E27FC236}">
                <a16:creationId xmlns:a16="http://schemas.microsoft.com/office/drawing/2014/main" id="{C30A4FB1-5A89-404C-88E7-F4FB204E095E}"/>
              </a:ext>
            </a:extLst>
          </p:cNvPr>
          <p:cNvSpPr>
            <a:spLocks xmlns:a="http://schemas.openxmlformats.org/drawingml/2006/main" noGrp="1"/>
          </p:cNvSpPr>
          <p:nvPr/>
        </p:nvSpPr>
        <p:spPr>
          <a:xfrm xmlns:a="http://schemas.openxmlformats.org/drawingml/2006/main">
            <a:off x="685800" y="1000125"/>
            <a:ext cx="5334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1270"/>
          </a:bodyPr>
          <a:lstStyle xmlns:a="http://schemas.openxmlformats.org/drawingml/2006/main"/>
          <a:p xmlns:a="http://schemas.openxmlformats.org/drawingml/2006/main">
            <a:pPr algn="l">
              <a:lnSpc>
                <a:spcPct val="100000"/>
              </a:lnSpc>
              <a:buNone/>
              <a:defRPr sz="3150" b="1" i="0">
                <a:solidFill>
                  <a:srgbClr val="121522"/>
                </a:solidFill>
                <a:latin typeface="Arial"/>
                <a:ea typeface="Arial"/>
                <a:cs typeface="Arial"/>
              </a:defRPr>
            </a:pPr>
            <a:r>
              <a:rPr sz="3150" b="1" i="0">
                <a:solidFill>
                  <a:srgbClr val="121522"/>
                </a:solidFill>
                <a:latin typeface="Arial"/>
                <a:ea typeface="Arial"/>
                <a:cs typeface="Arial"/>
              </a:rPr>
              <a:t>A BOLA finding must pass</a:t>
            </a:r>
          </a:p>
          <a:p xmlns:a="http://schemas.openxmlformats.org/drawingml/2006/main">
            <a:pPr algn="l">
              <a:lnSpc>
                <a:spcPct val="100000"/>
              </a:lnSpc>
              <a:buNone/>
              <a:defRPr sz="3150" b="1" i="0">
                <a:solidFill>
                  <a:srgbClr val="121522"/>
                </a:solidFill>
                <a:latin typeface="Arial"/>
                <a:ea typeface="Arial"/>
                <a:cs typeface="Arial"/>
              </a:defRPr>
            </a:pPr>
            <a:r>
              <a:rPr sz="3150" b="1" i="0">
                <a:solidFill>
                  <a:srgbClr val="121522"/>
                </a:solidFill>
                <a:latin typeface="Arial"/>
                <a:ea typeface="Arial"/>
                <a:cs typeface="Arial"/>
              </a:rPr>
              <a:t>an evidence test</a:t>
            </a:r>
          </a:p>
        </p:txBody>
      </p:sp>
      <p:sp>
        <p:nvSpPr>
          <p:cNvPr id="8" name="">
            <a:extLst xmlns:a="http://schemas.openxmlformats.org/drawingml/2006/main">
              <a:ext uri="{FF2B5EF4-FFF2-40B4-BE49-F238E27FC236}">
                <a16:creationId xmlns:a16="http://schemas.microsoft.com/office/drawing/2014/main" id="{57AA4119-8004-47F5-ACB2-BCFE84C1AB77}"/>
              </a:ext>
            </a:extLst>
          </p:cNvPr>
          <p:cNvSpPr>
            <a:spLocks xmlns:a="http://schemas.openxmlformats.org/drawingml/2006/main" noGrp="1"/>
          </p:cNvSpPr>
          <p:nvPr/>
        </p:nvSpPr>
        <p:spPr>
          <a:xfrm xmlns:a="http://schemas.openxmlformats.org/drawingml/2006/main">
            <a:off x="685800" y="2095500"/>
            <a:ext cx="52101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5725"/>
          </a:bodyPr>
          <a:lstStyle xmlns:a="http://schemas.openxmlformats.org/drawingml/2006/main"/>
          <a:p xmlns:a="http://schemas.openxmlformats.org/drawingml/2006/main">
            <a:pPr algn="l">
              <a:lnSpc>
                <a:spcPct val="120000"/>
              </a:lnSpc>
              <a:buNone/>
              <a:defRPr sz="1350" b="0" i="0">
                <a:solidFill>
                  <a:srgbClr val="626A7C"/>
                </a:solidFill>
                <a:latin typeface="Arial"/>
                <a:ea typeface="Arial"/>
                <a:cs typeface="Arial"/>
              </a:defRPr>
            </a:pPr>
            <a:r>
              <a:rPr sz="1350" b="0" i="0">
                <a:solidFill>
                  <a:srgbClr val="626A7C"/>
                </a:solidFill>
                <a:latin typeface="Arial"/>
                <a:ea typeface="Arial"/>
                <a:cs typeface="Arial"/>
              </a:rPr>
              <a:t>BOLA001 asks whether a request-controlled object reference reaches private data without a proven server-side ownership or tenant predicate.</a:t>
            </a:r>
          </a:p>
        </p:txBody>
      </p:sp>
      <p:sp>
        <p:nvSpPr>
          <p:cNvPr id="9" name="">
            <a:extLst xmlns:a="http://schemas.openxmlformats.org/drawingml/2006/main">
              <a:ext uri="{FF2B5EF4-FFF2-40B4-BE49-F238E27FC236}">
                <a16:creationId xmlns:a16="http://schemas.microsoft.com/office/drawing/2014/main" id="{0862A28F-F842-44FF-BE70-1CF59B0AEB61}"/>
              </a:ext>
            </a:extLst>
          </p:cNvPr>
          <p:cNvSpPr>
            <a:spLocks xmlns:a="http://schemas.openxmlformats.org/drawingml/2006/main" noGrp="1"/>
          </p:cNvSpPr>
          <p:nvPr/>
        </p:nvSpPr>
        <p:spPr>
          <a:xfrm xmlns:a="http://schemas.openxmlformats.org/drawingml/2006/main">
            <a:off x="685800" y="2952750"/>
            <a:ext cx="5219700" cy="2590800"/>
          </a:xfrm>
          <a:prstGeom xmlns:a="http://schemas.openxmlformats.org/drawingml/2006/main" prst="roundRect">
            <a:avLst>
              <a:gd name="adj" fmla="val 5882"/>
            </a:avLst>
          </a:prstGeom>
          <a:solidFill xmlns:a="http://schemas.openxmlformats.org/drawingml/2006/main">
            <a:srgbClr val="12131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CDB867A-7C1D-492F-A1F7-82C2C8F0FD24}"/>
              </a:ext>
            </a:extLst>
          </p:cNvPr>
          <p:cNvSpPr>
            <a:spLocks xmlns:a="http://schemas.openxmlformats.org/drawingml/2006/main" noGrp="1"/>
          </p:cNvSpPr>
          <p:nvPr/>
        </p:nvSpPr>
        <p:spPr>
          <a:xfrm xmlns:a="http://schemas.openxmlformats.org/drawingml/2006/main">
            <a:off x="952500" y="3219450"/>
            <a:ext cx="1619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7C71FF"/>
                </a:solidFill>
                <a:latin typeface="Arial"/>
                <a:ea typeface="Arial"/>
                <a:cs typeface="Arial"/>
              </a:defRPr>
            </a:pPr>
            <a:r>
              <a:rPr sz="900" b="1" i="0">
                <a:solidFill>
                  <a:srgbClr val="7C71FF"/>
                </a:solidFill>
                <a:latin typeface="Arial"/>
                <a:ea typeface="Arial"/>
                <a:cs typeface="Arial"/>
              </a:rPr>
              <a:t>EXAMPLE PATH</a:t>
            </a:r>
          </a:p>
        </p:txBody>
      </p:sp>
      <p:sp>
        <p:nvSpPr>
          <p:cNvPr id="11" name="">
            <a:extLst xmlns:a="http://schemas.openxmlformats.org/drawingml/2006/main">
              <a:ext uri="{FF2B5EF4-FFF2-40B4-BE49-F238E27FC236}">
                <a16:creationId xmlns:a16="http://schemas.microsoft.com/office/drawing/2014/main" id="{7DC121E6-09BB-4996-B103-7B0659D0FCEF}"/>
              </a:ext>
            </a:extLst>
          </p:cNvPr>
          <p:cNvSpPr>
            <a:spLocks xmlns:a="http://schemas.openxmlformats.org/drawingml/2006/main" noGrp="1"/>
          </p:cNvSpPr>
          <p:nvPr/>
        </p:nvSpPr>
        <p:spPr>
          <a:xfrm xmlns:a="http://schemas.openxmlformats.org/drawingml/2006/main">
            <a:off x="952500" y="3533775"/>
            <a:ext cx="3952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9286"/>
          </a:bodyPr>
          <a:lstStyle xmlns:a="http://schemas.openxmlformats.org/drawingml/2006/main"/>
          <a:p xmlns:a="http://schemas.openxmlformats.org/drawingml/2006/main">
            <a:pPr algn="l">
              <a:lnSpc>
                <a:spcPct val="112000"/>
              </a:lnSpc>
              <a:buNone/>
              <a:defRPr sz="1500" b="1" i="0">
                <a:solidFill>
                  <a:srgbClr val="FFFFFF"/>
                </a:solidFill>
                <a:latin typeface="Arial"/>
                <a:ea typeface="Arial"/>
                <a:cs typeface="Arial"/>
              </a:defRPr>
            </a:pPr>
            <a:r>
              <a:rPr sz="1500" b="1" i="0">
                <a:solidFill>
                  <a:srgbClr val="FFFFFF"/>
                </a:solidFill>
                <a:latin typeface="Arial"/>
                <a:ea typeface="Arial"/>
                <a:cs typeface="Arial"/>
              </a:rPr>
              <a:t>POST /api/wallet/withdraw</a:t>
            </a:r>
          </a:p>
        </p:txBody>
      </p:sp>
      <p:sp>
        <p:nvSpPr>
          <p:cNvPr id="12" name="">
            <a:extLst xmlns:a="http://schemas.openxmlformats.org/drawingml/2006/main">
              <a:ext uri="{FF2B5EF4-FFF2-40B4-BE49-F238E27FC236}">
                <a16:creationId xmlns:a16="http://schemas.microsoft.com/office/drawing/2014/main" id="{191B336E-1153-4A35-B91F-A60D86DF0C61}"/>
              </a:ext>
            </a:extLst>
          </p:cNvPr>
          <p:cNvSpPr>
            <a:spLocks xmlns:a="http://schemas.openxmlformats.org/drawingml/2006/main" noGrp="1"/>
          </p:cNvSpPr>
          <p:nvPr/>
        </p:nvSpPr>
        <p:spPr>
          <a:xfrm xmlns:a="http://schemas.openxmlformats.org/drawingml/2006/main">
            <a:off x="952500" y="3943350"/>
            <a:ext cx="4000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00" b="0" i="0">
                <a:solidFill>
                  <a:srgbClr val="D8DCEC"/>
                </a:solidFill>
                <a:latin typeface="Arial"/>
                <a:ea typeface="Arial"/>
                <a:cs typeface="Arial"/>
              </a:defRPr>
            </a:pPr>
            <a:r>
              <a:rPr sz="1200" b="0" i="0">
                <a:solidFill>
                  <a:srgbClr val="D8DCEC"/>
                </a:solidFill>
                <a:latin typeface="Arial"/>
                <a:ea typeface="Arial"/>
                <a:cs typeface="Arial"/>
              </a:rPr>
              <a:t>const wallet = getWallet(userId);</a:t>
            </a:r>
          </a:p>
          <a:p xmlns:a="http://schemas.openxmlformats.org/drawingml/2006/main">
            <a:r>
              <a:t/>
            </a:r>
          </a:p>
          <a:p xmlns:a="http://schemas.openxmlformats.org/drawingml/2006/main">
            <a:pPr algn="l">
              <a:lnSpc>
                <a:spcPct val="112000"/>
              </a:lnSpc>
              <a:buNone/>
              <a:defRPr sz="1200" b="0" i="0">
                <a:solidFill>
                  <a:srgbClr val="D8DCEC"/>
                </a:solidFill>
                <a:latin typeface="Arial"/>
                <a:ea typeface="Arial"/>
                <a:cs typeface="Arial"/>
              </a:defRPr>
            </a:pPr>
            <a:r>
              <a:rPr sz="1200" b="0" i="0">
                <a:solidFill>
                  <a:srgbClr val="D8DCEC"/>
                </a:solidFill>
                <a:latin typeface="Arial"/>
                <a:ea typeface="Arial"/>
                <a:cs typeface="Arial"/>
              </a:rPr>
              <a:t>let wallet = data.wallets.find(</a:t>
            </a:r>
          </a:p>
          <a:p xmlns:a="http://schemas.openxmlformats.org/drawingml/2006/main">
            <a:pPr algn="l">
              <a:lnSpc>
                <a:spcPct val="112000"/>
              </a:lnSpc>
              <a:buNone/>
              <a:defRPr sz="1200" b="0" i="0">
                <a:solidFill>
                  <a:srgbClr val="D8DCEC"/>
                </a:solidFill>
                <a:latin typeface="Arial"/>
                <a:ea typeface="Arial"/>
                <a:cs typeface="Arial"/>
              </a:defRPr>
            </a:pPr>
            <a:r>
              <a:rPr sz="1200" b="0" i="0">
                <a:solidFill>
                  <a:srgbClr val="D8DCEC"/>
                </a:solidFill>
                <a:latin typeface="Arial"/>
                <a:ea typeface="Arial"/>
                <a:cs typeface="Arial"/>
              </a:rPr>
              <a:t>  w =&gt; w.userId === userId</a:t>
            </a:r>
          </a:p>
          <a:p xmlns:a="http://schemas.openxmlformats.org/drawingml/2006/main">
            <a:pPr algn="l">
              <a:lnSpc>
                <a:spcPct val="112000"/>
              </a:lnSpc>
              <a:buNone/>
              <a:defRPr sz="1200" b="0" i="0">
                <a:solidFill>
                  <a:srgbClr val="D8DCEC"/>
                </a:solidFill>
                <a:latin typeface="Arial"/>
                <a:ea typeface="Arial"/>
                <a:cs typeface="Arial"/>
              </a:defRPr>
            </a:pPr>
            <a:r>
              <a:rPr sz="1200" b="0" i="0">
                <a:solidFill>
                  <a:srgbClr val="D8DCEC"/>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227E80CB-2865-4385-B241-D72D860DB44D}"/>
              </a:ext>
            </a:extLst>
          </p:cNvPr>
          <p:cNvSpPr>
            <a:spLocks xmlns:a="http://schemas.openxmlformats.org/drawingml/2006/main" noGrp="1"/>
          </p:cNvSpPr>
          <p:nvPr/>
        </p:nvSpPr>
        <p:spPr>
          <a:xfrm xmlns:a="http://schemas.openxmlformats.org/drawingml/2006/main">
            <a:off x="952500" y="5181600"/>
            <a:ext cx="433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71543"/>
          </a:bodyPr>
          <a:lstStyle xmlns:a="http://schemas.openxmlformats.org/drawingml/2006/main"/>
          <a:p xmlns:a="http://schemas.openxmlformats.org/drawingml/2006/main">
            <a:pPr algn="l">
              <a:lnSpc>
                <a:spcPct val="112000"/>
              </a:lnSpc>
              <a:buNone/>
              <a:defRPr sz="975" b="0" i="1">
                <a:solidFill>
                  <a:srgbClr val="B7BED2"/>
                </a:solidFill>
                <a:latin typeface="Arial"/>
                <a:ea typeface="Arial"/>
                <a:cs typeface="Arial"/>
              </a:defRPr>
            </a:pPr>
            <a:r>
              <a:rPr sz="975" b="0" i="1">
                <a:solidFill>
                  <a:srgbClr val="B7BED2"/>
                </a:solidFill>
                <a:latin typeface="Arial"/>
                <a:ea typeface="Arial"/>
                <a:cs typeface="Arial"/>
              </a:rPr>
              <a:t>The engine follows request-derived data into the resolved local helper and inspects the lookup for a server-derived scope constraint.</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5a0da138a6be48a0"/>
          <a:srcRect xmlns:a="http://schemas.openxmlformats.org/drawingml/2006/main" l="21690" t="0" r="21690" b="0"/>
          <a:stretch xmlns:a="http://schemas.openxmlformats.org/drawingml/2006/main">
            <a:fillRect l="0" t="0" r="0" b="0"/>
          </a:stretch>
        </p:blipFill>
        <p:spPr>
          <a:xfrm xmlns:a="http://schemas.openxmlformats.org/drawingml/2006/main">
            <a:off x="6400800" y="828675"/>
            <a:ext cx="5105400" cy="4791075"/>
          </a:xfrm>
          <a:prstGeom xmlns:a="http://schemas.openxmlformats.org/drawingml/2006/main" prst="roundRect">
            <a:avLst>
              <a:gd name="adj" fmla="val 2386"/>
            </a:avLst>
          </a:prstGeom>
        </p:spPr>
      </p:pic>
      <p:sp>
        <p:nvSpPr>
          <p:cNvPr id="15" name="">
            <a:extLst xmlns:a="http://schemas.openxmlformats.org/drawingml/2006/main">
              <a:ext uri="{FF2B5EF4-FFF2-40B4-BE49-F238E27FC236}">
                <a16:creationId xmlns:a16="http://schemas.microsoft.com/office/drawing/2014/main" id="{F82340B0-7252-4297-9741-34B968CB91CC}"/>
              </a:ext>
            </a:extLst>
          </p:cNvPr>
          <p:cNvSpPr>
            <a:spLocks xmlns:a="http://schemas.openxmlformats.org/drawingml/2006/main" noGrp="1"/>
          </p:cNvSpPr>
          <p:nvPr/>
        </p:nvSpPr>
        <p:spPr>
          <a:xfrm xmlns:a="http://schemas.openxmlformats.org/drawingml/2006/main">
            <a:off x="6400800" y="5753100"/>
            <a:ext cx="5095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77640"/>
          </a:bodyPr>
          <a:lstStyle xmlns:a="http://schemas.openxmlformats.org/drawingml/2006/main"/>
          <a:p xmlns:a="http://schemas.openxmlformats.org/drawingml/2006/main">
            <a:pPr algn="l">
              <a:lnSpc>
                <a:spcPct val="115000"/>
              </a:lnSpc>
              <a:buNone/>
              <a:defRPr sz="1050" b="0" i="0">
                <a:solidFill>
                  <a:srgbClr val="626A7C"/>
                </a:solidFill>
                <a:latin typeface="Arial"/>
                <a:ea typeface="Arial"/>
                <a:cs typeface="Arial"/>
              </a:defRPr>
            </a:pPr>
            <a:r>
              <a:rPr sz="1050" b="0" i="0">
                <a:solidFill>
                  <a:srgbClr val="626A7C"/>
                </a:solidFill>
                <a:latin typeface="Arial"/>
                <a:ea typeface="Arial"/>
                <a:cs typeface="Arial"/>
              </a:rPr>
              <a:t>The decision ledger states what was observed, which controls were proven, and what requires human validation.</a:t>
            </a:r>
          </a:p>
        </p:txBody>
      </p:sp>
      <p:sp>
        <p:nvSpPr>
          <p:cNvPr id="16" name="">
            <a:extLst xmlns:a="http://schemas.openxmlformats.org/drawingml/2006/main">
              <a:ext uri="{FF2B5EF4-FFF2-40B4-BE49-F238E27FC236}">
                <a16:creationId xmlns:a16="http://schemas.microsoft.com/office/drawing/2014/main" id="{9E518C22-6289-496C-A7D5-4019ADF5F814}"/>
              </a:ext>
            </a:extLst>
          </p:cNvPr>
          <p:cNvSpPr>
            <a:spLocks xmlns:a="http://schemas.openxmlformats.org/drawingml/2006/main" noGrp="1"/>
          </p:cNvSpPr>
          <p:nvPr/>
        </p:nvSpPr>
        <p:spPr>
          <a:xfrm xmlns:a="http://schemas.openxmlformats.org/drawingml/2006/main">
            <a:off x="685800" y="5915025"/>
            <a:ext cx="823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5646E8"/>
                </a:solidFill>
                <a:latin typeface="Arial"/>
                <a:ea typeface="Arial"/>
                <a:cs typeface="Arial"/>
              </a:defRPr>
            </a:pPr>
            <a:r>
              <a:rPr sz="900" b="1" i="0">
                <a:solidFill>
                  <a:srgbClr val="5646E8"/>
                </a:solidFill>
                <a:latin typeface="Arial"/>
                <a:ea typeface="Arial"/>
                <a:cs typeface="Arial"/>
              </a:rPr>
              <a:t>BOLA001: route + lookup  |  BFL001: route + mutation  |  INJ001: route + sink  |  SEC001: credential literal</a:t>
            </a:r>
          </a:p>
        </p:txBody>
      </p:sp>
    </p:spTree>
    <p:extLst>
      <p:ext uri="{BB962C8B-B14F-4D97-AF65-F5344CB8AC3E}">
        <p14:creationId xmlns:p14="http://schemas.microsoft.com/office/powerpoint/2010/main" val="212916579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8F65964-EF10-4AE1-9BAC-53901FEB270B}"/>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 name="">
            <a:extLst xmlns:a="http://schemas.openxmlformats.org/drawingml/2006/main">
              <a:ext uri="{FF2B5EF4-FFF2-40B4-BE49-F238E27FC236}">
                <a16:creationId xmlns:a16="http://schemas.microsoft.com/office/drawing/2014/main" id="{DC1CB29C-615F-49DE-84E7-A706839E1657}"/>
              </a:ext>
            </a:extLst>
          </p:cNvPr>
          <p:cNvSpPr>
            <a:spLocks xmlns:a="http://schemas.openxmlformats.org/drawingml/2006/main" noGrp="1"/>
          </p:cNvSpPr>
          <p:nvPr/>
        </p:nvSpPr>
        <p:spPr>
          <a:xfrm xmlns:a="http://schemas.openxmlformats.org/drawingml/2006/main">
            <a:off x="685800" y="6534150"/>
            <a:ext cx="4286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750" b="1" i="0">
                <a:solidFill>
                  <a:srgbClr val="626A7C"/>
                </a:solidFill>
                <a:latin typeface="Arial"/>
                <a:ea typeface="Arial"/>
                <a:cs typeface="Arial"/>
              </a:defRPr>
            </a:pPr>
            <a:r>
              <a:rPr sz="750" b="1" i="0">
                <a:solidFill>
                  <a:srgbClr val="626A7C"/>
                </a:solidFill>
                <a:latin typeface="Arial"/>
                <a:ea typeface="Arial"/>
                <a:cs typeface="Arial"/>
              </a:rPr>
              <a:t>INVARIA  |  REVIEW PRESENTATION</a:t>
            </a:r>
          </a:p>
        </p:txBody>
      </p:sp>
      <p:sp>
        <p:nvSpPr>
          <p:cNvPr id="3" name="">
            <a:extLst xmlns:a="http://schemas.openxmlformats.org/drawingml/2006/main">
              <a:ext uri="{FF2B5EF4-FFF2-40B4-BE49-F238E27FC236}">
                <a16:creationId xmlns:a16="http://schemas.microsoft.com/office/drawing/2014/main" id="{7DCB5F38-A11F-49F6-B524-40DC08CA2BC2}"/>
              </a:ext>
            </a:extLst>
          </p:cNvPr>
          <p:cNvSpPr>
            <a:spLocks xmlns:a="http://schemas.openxmlformats.org/drawingml/2006/main" noGrp="1"/>
          </p:cNvSpPr>
          <p:nvPr/>
        </p:nvSpPr>
        <p:spPr>
          <a:xfrm xmlns:a="http://schemas.openxmlformats.org/drawingml/2006/main">
            <a:off x="4286250" y="6534150"/>
            <a:ext cx="6191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675" b="0" i="0">
                <a:solidFill>
                  <a:srgbClr val="626A7C"/>
                </a:solidFill>
                <a:latin typeface="Arial"/>
                <a:ea typeface="Arial"/>
                <a:cs typeface="Arial"/>
              </a:defRPr>
            </a:pPr>
            <a:r>
              <a:rPr sz="675" b="0" i="0">
                <a:solidFill>
                  <a:srgbClr val="626A7C"/>
                </a:solidFill>
                <a:latin typeface="Arial"/>
                <a:ea typeface="Arial"/>
                <a:cs typeface="Arial"/>
              </a:rPr>
              <a:t>Screenshot: live public TaskForge scan; source-backed candidate, not a confirmed breach</a:t>
            </a:r>
          </a:p>
        </p:txBody>
      </p:sp>
      <p:sp>
        <p:nvSpPr>
          <p:cNvPr id="4" name="">
            <a:extLst xmlns:a="http://schemas.openxmlformats.org/drawingml/2006/main">
              <a:ext uri="{FF2B5EF4-FFF2-40B4-BE49-F238E27FC236}">
                <a16:creationId xmlns:a16="http://schemas.microsoft.com/office/drawing/2014/main" id="{42A251F7-F7EA-43F6-A574-96B1BA1EB890}"/>
              </a:ext>
            </a:extLst>
          </p:cNvPr>
          <p:cNvSpPr>
            <a:spLocks xmlns:a="http://schemas.openxmlformats.org/drawingml/2006/main" noGrp="1"/>
          </p:cNvSpPr>
          <p:nvPr/>
        </p:nvSpPr>
        <p:spPr>
          <a:xfrm xmlns:a="http://schemas.openxmlformats.org/drawingml/2006/main">
            <a:off x="10858500" y="6515100"/>
            <a:ext cx="647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B34DE993-A7BC-4869-8F56-0A0545E955FF}"/>
              </a:ext>
            </a:extLst>
          </p:cNvPr>
          <p:cNvSpPr>
            <a:spLocks xmlns:a="http://schemas.openxmlformats.org/drawingml/2006/main" noGrp="1"/>
          </p:cNvSpPr>
          <p:nvPr/>
        </p:nvSpPr>
        <p:spPr>
          <a:xfrm xmlns:a="http://schemas.openxmlformats.org/drawingml/2006/main">
            <a:off x="685800" y="514350"/>
            <a:ext cx="1524000" cy="266700"/>
          </a:xfrm>
          <a:prstGeom xmlns:a="http://schemas.openxmlformats.org/drawingml/2006/main" prst="roundRect">
            <a:avLst>
              <a:gd name="adj" fmla="val 50000"/>
            </a:avLst>
          </a:prstGeom>
          <a:solidFill xmlns:a="http://schemas.openxmlformats.org/drawingml/2006/main">
            <a:srgbClr val="F1F0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B1CBBF3-87B4-4C62-B697-2A96F2194B1D}"/>
              </a:ext>
            </a:extLst>
          </p:cNvPr>
          <p:cNvSpPr>
            <a:spLocks xmlns:a="http://schemas.openxmlformats.org/drawingml/2006/main" noGrp="1"/>
          </p:cNvSpPr>
          <p:nvPr/>
        </p:nvSpPr>
        <p:spPr>
          <a:xfrm xmlns:a="http://schemas.openxmlformats.org/drawingml/2006/main">
            <a:off x="781050" y="571500"/>
            <a:ext cx="1333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REAL-LIFE EXAMPLE</a:t>
            </a:r>
          </a:p>
        </p:txBody>
      </p:sp>
      <p:sp>
        <p:nvSpPr>
          <p:cNvPr id="7" name="">
            <a:extLst xmlns:a="http://schemas.openxmlformats.org/drawingml/2006/main">
              <a:ext uri="{FF2B5EF4-FFF2-40B4-BE49-F238E27FC236}">
                <a16:creationId xmlns:a16="http://schemas.microsoft.com/office/drawing/2014/main" id="{5E010C7D-437B-4FBF-B89D-55954DEDA28C}"/>
              </a:ext>
            </a:extLst>
          </p:cNvPr>
          <p:cNvSpPr>
            <a:spLocks xmlns:a="http://schemas.openxmlformats.org/drawingml/2006/main" noGrp="1"/>
          </p:cNvSpPr>
          <p:nvPr/>
        </p:nvSpPr>
        <p:spPr>
          <a:xfrm xmlns:a="http://schemas.openxmlformats.org/drawingml/2006/main">
            <a:off x="685800" y="1000125"/>
            <a:ext cx="6477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4787"/>
          </a:bodyPr>
          <a:lstStyle xmlns:a="http://schemas.openxmlformats.org/drawingml/2006/main"/>
          <a:p xmlns:a="http://schemas.openxmlformats.org/drawingml/2006/main">
            <a:pPr algn="l">
              <a:lnSpc>
                <a:spcPct val="112000"/>
              </a:lnSpc>
              <a:buNone/>
              <a:defRPr sz="3225" b="1" i="0">
                <a:solidFill>
                  <a:srgbClr val="121522"/>
                </a:solidFill>
                <a:latin typeface="Arial"/>
                <a:ea typeface="Arial"/>
                <a:cs typeface="Arial"/>
              </a:defRPr>
            </a:pPr>
            <a:r>
              <a:rPr sz="3225" b="1" i="0">
                <a:solidFill>
                  <a:srgbClr val="121522"/>
                </a:solidFill>
                <a:latin typeface="Arial"/>
                <a:ea typeface="Arial"/>
                <a:cs typeface="Arial"/>
              </a:rPr>
              <a:t>A marketplace authorization path</a:t>
            </a:r>
          </a:p>
        </p:txBody>
      </p:sp>
      <p:sp>
        <p:nvSpPr>
          <p:cNvPr id="8" name="">
            <a:extLst xmlns:a="http://schemas.openxmlformats.org/drawingml/2006/main">
              <a:ext uri="{FF2B5EF4-FFF2-40B4-BE49-F238E27FC236}">
                <a16:creationId xmlns:a16="http://schemas.microsoft.com/office/drawing/2014/main" id="{BE11CDAD-B1BB-4164-AEF6-7985EB5F6A30}"/>
              </a:ext>
            </a:extLst>
          </p:cNvPr>
          <p:cNvSpPr>
            <a:spLocks xmlns:a="http://schemas.openxmlformats.org/drawingml/2006/main" noGrp="1"/>
          </p:cNvSpPr>
          <p:nvPr/>
        </p:nvSpPr>
        <p:spPr>
          <a:xfrm xmlns:a="http://schemas.openxmlformats.org/drawingml/2006/main">
            <a:off x="685800" y="1657350"/>
            <a:ext cx="623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76754"/>
          </a:bodyPr>
          <a:lstStyle xmlns:a="http://schemas.openxmlformats.org/drawingml/2006/main"/>
          <a:p xmlns:a="http://schemas.openxmlformats.org/drawingml/2006/main">
            <a:pPr algn="l">
              <a:lnSpc>
                <a:spcPct val="120000"/>
              </a:lnSpc>
              <a:buNone/>
              <a:defRPr sz="1425" b="0" i="0">
                <a:solidFill>
                  <a:srgbClr val="626A7C"/>
                </a:solidFill>
                <a:latin typeface="Arial"/>
                <a:ea typeface="Arial"/>
                <a:cs typeface="Arial"/>
              </a:defRPr>
            </a:pPr>
            <a:r>
              <a:rPr sz="1425" b="0" i="0">
                <a:solidFill>
                  <a:srgbClr val="626A7C"/>
                </a:solidFill>
                <a:latin typeface="Arial"/>
                <a:ea typeface="Arial"/>
                <a:cs typeface="Arial"/>
              </a:rPr>
              <a:t>In a multi-tenant marketplace, a participant should only access lender records they own or are permitted to view.</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2ec8b1f6957e4887"/>
          <a:srcRect xmlns:a="http://schemas.openxmlformats.org/drawingml/2006/main" l="0" t="16" r="0" b="16"/>
          <a:stretch xmlns:a="http://schemas.openxmlformats.org/drawingml/2006/main">
            <a:fillRect l="0" t="0" r="0" b="0"/>
          </a:stretch>
        </p:blipFill>
        <p:spPr>
          <a:xfrm xmlns:a="http://schemas.openxmlformats.org/drawingml/2006/main">
            <a:off x="685800" y="2476500"/>
            <a:ext cx="6705600" cy="3200400"/>
          </a:xfrm>
          <a:prstGeom xmlns:a="http://schemas.openxmlformats.org/drawingml/2006/main" prst="roundRect">
            <a:avLst>
              <a:gd name="adj" fmla="val 3571"/>
            </a:avLst>
          </a:prstGeom>
        </p:spPr>
      </p:pic>
      <p:sp>
        <p:nvSpPr>
          <p:cNvPr id="10" name="">
            <a:extLst xmlns:a="http://schemas.openxmlformats.org/drawingml/2006/main">
              <a:ext uri="{FF2B5EF4-FFF2-40B4-BE49-F238E27FC236}">
                <a16:creationId xmlns:a16="http://schemas.microsoft.com/office/drawing/2014/main" id="{8EFA959D-5856-4DEF-9F0A-2550202B5297}"/>
              </a:ext>
            </a:extLst>
          </p:cNvPr>
          <p:cNvSpPr>
            <a:spLocks xmlns:a="http://schemas.openxmlformats.org/drawingml/2006/main" noGrp="1"/>
          </p:cNvSpPr>
          <p:nvPr/>
        </p:nvSpPr>
        <p:spPr>
          <a:xfrm xmlns:a="http://schemas.openxmlformats.org/drawingml/2006/main">
            <a:off x="685800" y="5791200"/>
            <a:ext cx="457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5646E8"/>
                </a:solidFill>
                <a:latin typeface="Arial"/>
                <a:ea typeface="Arial"/>
                <a:cs typeface="Arial"/>
              </a:defRPr>
            </a:pPr>
            <a:r>
              <a:rPr sz="900" b="1" i="0">
                <a:solidFill>
                  <a:srgbClr val="5646E8"/>
                </a:solidFill>
                <a:latin typeface="Arial"/>
                <a:ea typeface="Arial"/>
                <a:cs typeface="Arial"/>
              </a:rPr>
              <a:t>Live relationship graph: GET /api/lenders/:id</a:t>
            </a:r>
          </a:p>
        </p:txBody>
      </p:sp>
      <p:sp>
        <p:nvSpPr>
          <p:cNvPr id="11" name="">
            <a:extLst xmlns:a="http://schemas.openxmlformats.org/drawingml/2006/main">
              <a:ext uri="{FF2B5EF4-FFF2-40B4-BE49-F238E27FC236}">
                <a16:creationId xmlns:a16="http://schemas.microsoft.com/office/drawing/2014/main" id="{67FC841B-66F8-494E-B825-D226D3BBFD98}"/>
              </a:ext>
            </a:extLst>
          </p:cNvPr>
          <p:cNvSpPr>
            <a:spLocks xmlns:a="http://schemas.openxmlformats.org/drawingml/2006/main" noGrp="1"/>
          </p:cNvSpPr>
          <p:nvPr/>
        </p:nvSpPr>
        <p:spPr>
          <a:xfrm xmlns:a="http://schemas.openxmlformats.org/drawingml/2006/main">
            <a:off x="8039100" y="2647950"/>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3006"/>
          </a:bodyPr>
          <a:lstStyle xmlns:a="http://schemas.openxmlformats.org/drawingml/2006/main"/>
          <a:p xmlns:a="http://schemas.openxmlformats.org/drawingml/2006/main">
            <a:pPr algn="l">
              <a:lnSpc>
                <a:spcPct val="112000"/>
              </a:lnSpc>
              <a:buNone/>
              <a:defRPr sz="1500" b="1" i="0">
                <a:solidFill>
                  <a:srgbClr val="121522"/>
                </a:solidFill>
                <a:latin typeface="Arial"/>
                <a:ea typeface="Arial"/>
                <a:cs typeface="Arial"/>
              </a:defRPr>
            </a:pPr>
            <a:r>
              <a:rPr sz="1500" b="1" i="0">
                <a:solidFill>
                  <a:srgbClr val="121522"/>
                </a:solidFill>
                <a:latin typeface="Arial"/>
                <a:ea typeface="Arial"/>
                <a:cs typeface="Arial"/>
              </a:rPr>
              <a:t>Expected invariant</a:t>
            </a:r>
          </a:p>
        </p:txBody>
      </p:sp>
      <p:sp>
        <p:nvSpPr>
          <p:cNvPr id="12" name="">
            <a:extLst xmlns:a="http://schemas.openxmlformats.org/drawingml/2006/main">
              <a:ext uri="{FF2B5EF4-FFF2-40B4-BE49-F238E27FC236}">
                <a16:creationId xmlns:a16="http://schemas.microsoft.com/office/drawing/2014/main" id="{3CDAD519-BCB3-40E4-923C-22B64BB3B06D}"/>
              </a:ext>
            </a:extLst>
          </p:cNvPr>
          <p:cNvSpPr>
            <a:spLocks xmlns:a="http://schemas.openxmlformats.org/drawingml/2006/main" noGrp="1"/>
          </p:cNvSpPr>
          <p:nvPr/>
        </p:nvSpPr>
        <p:spPr>
          <a:xfrm xmlns:a="http://schemas.openxmlformats.org/drawingml/2006/main">
            <a:off x="8039100" y="299085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9701"/>
          </a:bodyPr>
          <a:lstStyle xmlns:a="http://schemas.openxmlformats.org/drawingml/2006/main"/>
          <a:p xmlns:a="http://schemas.openxmlformats.org/drawingml/2006/main">
            <a:pPr algn="l">
              <a:lnSpc>
                <a:spcPct val="118000"/>
              </a:lnSpc>
              <a:buNone/>
              <a:defRPr sz="1275" b="0" i="0">
                <a:solidFill>
                  <a:srgbClr val="626A7C"/>
                </a:solidFill>
                <a:latin typeface="Arial"/>
                <a:ea typeface="Arial"/>
                <a:cs typeface="Arial"/>
              </a:defRPr>
            </a:pPr>
            <a:r>
              <a:rPr sz="1275" b="0" i="0">
                <a:solidFill>
                  <a:srgbClr val="626A7C"/>
                </a:solidFill>
                <a:latin typeface="Arial"/>
                <a:ea typeface="Arial"/>
                <a:cs typeface="Arial"/>
              </a:rPr>
              <a:t>The actor's identity or tenant scope must constrain access to the lender record.</a:t>
            </a:r>
          </a:p>
        </p:txBody>
      </p:sp>
      <p:sp>
        <p:nvSpPr>
          <p:cNvPr id="13" name="">
            <a:extLst xmlns:a="http://schemas.openxmlformats.org/drawingml/2006/main">
              <a:ext uri="{FF2B5EF4-FFF2-40B4-BE49-F238E27FC236}">
                <a16:creationId xmlns:a16="http://schemas.microsoft.com/office/drawing/2014/main" id="{27C17C30-4F5E-4191-A4DF-0EAE67C66035}"/>
              </a:ext>
            </a:extLst>
          </p:cNvPr>
          <p:cNvSpPr>
            <a:spLocks xmlns:a="http://schemas.openxmlformats.org/drawingml/2006/main" noGrp="1"/>
          </p:cNvSpPr>
          <p:nvPr/>
        </p:nvSpPr>
        <p:spPr>
          <a:xfrm xmlns:a="http://schemas.openxmlformats.org/drawingml/2006/main">
            <a:off x="8039100" y="3676650"/>
            <a:ext cx="3000375"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14" name="">
            <a:extLst xmlns:a="http://schemas.openxmlformats.org/drawingml/2006/main">
              <a:ext uri="{FF2B5EF4-FFF2-40B4-BE49-F238E27FC236}">
                <a16:creationId xmlns:a16="http://schemas.microsoft.com/office/drawing/2014/main" id="{00578406-AC09-476A-A886-4A9B34A1AADC}"/>
              </a:ext>
            </a:extLst>
          </p:cNvPr>
          <p:cNvSpPr>
            <a:spLocks xmlns:a="http://schemas.openxmlformats.org/drawingml/2006/main" noGrp="1"/>
          </p:cNvSpPr>
          <p:nvPr/>
        </p:nvSpPr>
        <p:spPr>
          <a:xfrm xmlns:a="http://schemas.openxmlformats.org/drawingml/2006/main">
            <a:off x="8039100" y="3895725"/>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3006"/>
          </a:bodyPr>
          <a:lstStyle xmlns:a="http://schemas.openxmlformats.org/drawingml/2006/main"/>
          <a:p xmlns:a="http://schemas.openxmlformats.org/drawingml/2006/main">
            <a:pPr algn="l">
              <a:lnSpc>
                <a:spcPct val="112000"/>
              </a:lnSpc>
              <a:buNone/>
              <a:defRPr sz="1500" b="1" i="0">
                <a:solidFill>
                  <a:srgbClr val="121522"/>
                </a:solidFill>
                <a:latin typeface="Arial"/>
                <a:ea typeface="Arial"/>
                <a:cs typeface="Arial"/>
              </a:defRPr>
            </a:pPr>
            <a:r>
              <a:rPr sz="1500" b="1" i="0">
                <a:solidFill>
                  <a:srgbClr val="121522"/>
                </a:solidFill>
                <a:latin typeface="Arial"/>
                <a:ea typeface="Arial"/>
                <a:cs typeface="Arial"/>
              </a:rPr>
              <a:t>Observed source path</a:t>
            </a:r>
          </a:p>
        </p:txBody>
      </p:sp>
      <p:sp>
        <p:nvSpPr>
          <p:cNvPr id="15" name="">
            <a:extLst xmlns:a="http://schemas.openxmlformats.org/drawingml/2006/main">
              <a:ext uri="{FF2B5EF4-FFF2-40B4-BE49-F238E27FC236}">
                <a16:creationId xmlns:a16="http://schemas.microsoft.com/office/drawing/2014/main" id="{BAEF3685-BB5B-46DF-8554-A686ED388556}"/>
              </a:ext>
            </a:extLst>
          </p:cNvPr>
          <p:cNvSpPr>
            <a:spLocks xmlns:a="http://schemas.openxmlformats.org/drawingml/2006/main" noGrp="1"/>
          </p:cNvSpPr>
          <p:nvPr/>
        </p:nvSpPr>
        <p:spPr>
          <a:xfrm xmlns:a="http://schemas.openxmlformats.org/drawingml/2006/main">
            <a:off x="8039100" y="4248150"/>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1275" b="1" i="0">
                <a:solidFill>
                  <a:srgbClr val="5646E8"/>
                </a:solidFill>
                <a:latin typeface="Arial"/>
                <a:ea typeface="Arial"/>
                <a:cs typeface="Arial"/>
              </a:defRPr>
            </a:pPr>
            <a:r>
              <a:rPr sz="1275" b="1" i="0">
                <a:solidFill>
                  <a:srgbClr val="5646E8"/>
                </a:solidFill>
                <a:latin typeface="Arial"/>
                <a:ea typeface="Arial"/>
                <a:cs typeface="Arial"/>
              </a:rPr>
              <a:t>Route receives id  →  inline handler  →  data.lenders.find  →  data.lenders</a:t>
            </a:r>
          </a:p>
        </p:txBody>
      </p:sp>
      <p:sp>
        <p:nvSpPr>
          <p:cNvPr id="16" name="">
            <a:extLst xmlns:a="http://schemas.openxmlformats.org/drawingml/2006/main">
              <a:ext uri="{FF2B5EF4-FFF2-40B4-BE49-F238E27FC236}">
                <a16:creationId xmlns:a16="http://schemas.microsoft.com/office/drawing/2014/main" id="{7BB720B2-D5E0-4CC6-9F7A-DCD34478CE68}"/>
              </a:ext>
            </a:extLst>
          </p:cNvPr>
          <p:cNvSpPr>
            <a:spLocks xmlns:a="http://schemas.openxmlformats.org/drawingml/2006/main" noGrp="1"/>
          </p:cNvSpPr>
          <p:nvPr/>
        </p:nvSpPr>
        <p:spPr>
          <a:xfrm xmlns:a="http://schemas.openxmlformats.org/drawingml/2006/main">
            <a:off x="8039100" y="5038725"/>
            <a:ext cx="3000375"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17" name="">
            <a:extLst xmlns:a="http://schemas.openxmlformats.org/drawingml/2006/main">
              <a:ext uri="{FF2B5EF4-FFF2-40B4-BE49-F238E27FC236}">
                <a16:creationId xmlns:a16="http://schemas.microsoft.com/office/drawing/2014/main" id="{0CC01E6D-261B-46BC-99ED-9968991A67BE}"/>
              </a:ext>
            </a:extLst>
          </p:cNvPr>
          <p:cNvSpPr>
            <a:spLocks xmlns:a="http://schemas.openxmlformats.org/drawingml/2006/main" noGrp="1"/>
          </p:cNvSpPr>
          <p:nvPr/>
        </p:nvSpPr>
        <p:spPr>
          <a:xfrm xmlns:a="http://schemas.openxmlformats.org/drawingml/2006/main">
            <a:off x="8039100" y="5257800"/>
            <a:ext cx="2667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5565"/>
          </a:bodyPr>
          <a:lstStyle xmlns:a="http://schemas.openxmlformats.org/drawingml/2006/main"/>
          <a:p xmlns:a="http://schemas.openxmlformats.org/drawingml/2006/main">
            <a:pPr algn="l">
              <a:lnSpc>
                <a:spcPct val="112000"/>
              </a:lnSpc>
              <a:buNone/>
              <a:defRPr sz="1500" b="1" i="0">
                <a:solidFill>
                  <a:srgbClr val="121522"/>
                </a:solidFill>
                <a:latin typeface="Arial"/>
                <a:ea typeface="Arial"/>
                <a:cs typeface="Arial"/>
              </a:defRPr>
            </a:pPr>
            <a:r>
              <a:rPr sz="1500" b="1" i="0">
                <a:solidFill>
                  <a:srgbClr val="121522"/>
                </a:solidFill>
                <a:latin typeface="Arial"/>
                <a:ea typeface="Arial"/>
                <a:cs typeface="Arial"/>
              </a:rPr>
              <a:t>Review decision</a:t>
            </a:r>
          </a:p>
        </p:txBody>
      </p:sp>
      <p:sp>
        <p:nvSpPr>
          <p:cNvPr id="18" name="">
            <a:extLst xmlns:a="http://schemas.openxmlformats.org/drawingml/2006/main">
              <a:ext uri="{FF2B5EF4-FFF2-40B4-BE49-F238E27FC236}">
                <a16:creationId xmlns:a16="http://schemas.microsoft.com/office/drawing/2014/main" id="{AAB09DD6-F6CC-486B-8D9D-2D77EE981293}"/>
              </a:ext>
            </a:extLst>
          </p:cNvPr>
          <p:cNvSpPr>
            <a:spLocks xmlns:a="http://schemas.openxmlformats.org/drawingml/2006/main" noGrp="1"/>
          </p:cNvSpPr>
          <p:nvPr/>
        </p:nvSpPr>
        <p:spPr>
          <a:xfrm xmlns:a="http://schemas.openxmlformats.org/drawingml/2006/main">
            <a:off x="8039100" y="5581650"/>
            <a:ext cx="328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78502"/>
          </a:bodyPr>
          <a:lstStyle xmlns:a="http://schemas.openxmlformats.org/drawingml/2006/main"/>
          <a:p xmlns:a="http://schemas.openxmlformats.org/drawingml/2006/main">
            <a:pPr algn="l">
              <a:lnSpc>
                <a:spcPct val="115000"/>
              </a:lnSpc>
              <a:buNone/>
              <a:defRPr sz="1200" b="0" i="0">
                <a:solidFill>
                  <a:srgbClr val="626A7C"/>
                </a:solidFill>
                <a:latin typeface="Arial"/>
                <a:ea typeface="Arial"/>
                <a:cs typeface="Arial"/>
              </a:defRPr>
            </a:pPr>
            <a:r>
              <a:rPr sz="1200" b="0" i="0">
                <a:solidFill>
                  <a:srgbClr val="626A7C"/>
                </a:solidFill>
                <a:latin typeface="Arial"/>
                <a:ea typeface="Arial"/>
                <a:cs typeface="Arial"/>
              </a:rPr>
              <a:t>The reviewer checks whether a server-derived ownership or tenant predicate scopes the lookup. If the source does not prove it, Invaria reports the condition and uncertainty.</a:t>
            </a:r>
          </a:p>
        </p:txBody>
      </p:sp>
      <p:sp>
        <p:nvSpPr>
          <p:cNvPr id="19" name="">
            <a:extLst xmlns:a="http://schemas.openxmlformats.org/drawingml/2006/main">
              <a:ext uri="{FF2B5EF4-FFF2-40B4-BE49-F238E27FC236}">
                <a16:creationId xmlns:a16="http://schemas.microsoft.com/office/drawing/2014/main" id="{2F6B56CB-EDCB-4F0B-894B-EF1BE2765D8F}"/>
              </a:ext>
            </a:extLst>
          </p:cNvPr>
          <p:cNvSpPr>
            <a:spLocks xmlns:a="http://schemas.openxmlformats.org/drawingml/2006/main" noGrp="1"/>
          </p:cNvSpPr>
          <p:nvPr/>
        </p:nvSpPr>
        <p:spPr>
          <a:xfrm xmlns:a="http://schemas.openxmlformats.org/drawingml/2006/main">
            <a:off x="685800" y="6076950"/>
            <a:ext cx="781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0" i="1">
                <a:solidFill>
                  <a:srgbClr val="626A7C"/>
                </a:solidFill>
                <a:latin typeface="Arial"/>
                <a:ea typeface="Arial"/>
                <a:cs typeface="Arial"/>
              </a:defRPr>
            </a:pPr>
            <a:r>
              <a:rPr sz="975" b="0" i="1">
                <a:solidFill>
                  <a:srgbClr val="626A7C"/>
                </a:solidFill>
                <a:latin typeface="Arial"/>
                <a:ea typeface="Arial"/>
                <a:cs typeface="Arial"/>
              </a:rPr>
              <a:t>The same method applies to wallet, refund, patient-record, and admin-action workflows.</a:t>
            </a:r>
          </a:p>
        </p:txBody>
      </p:sp>
    </p:spTree>
    <p:extLst>
      <p:ext uri="{BB962C8B-B14F-4D97-AF65-F5344CB8AC3E}">
        <p14:creationId xmlns:p14="http://schemas.microsoft.com/office/powerpoint/2010/main" val="196726534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BFB2E148-C60C-4505-9460-5D89171572A5}"/>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 name="">
            <a:extLst xmlns:a="http://schemas.openxmlformats.org/drawingml/2006/main">
              <a:ext uri="{FF2B5EF4-FFF2-40B4-BE49-F238E27FC236}">
                <a16:creationId xmlns:a16="http://schemas.microsoft.com/office/drawing/2014/main" id="{BBB180F1-6046-4533-A5F2-F446A744E04F}"/>
              </a:ext>
            </a:extLst>
          </p:cNvPr>
          <p:cNvSpPr>
            <a:spLocks xmlns:a="http://schemas.openxmlformats.org/drawingml/2006/main" noGrp="1"/>
          </p:cNvSpPr>
          <p:nvPr/>
        </p:nvSpPr>
        <p:spPr>
          <a:xfrm xmlns:a="http://schemas.openxmlformats.org/drawingml/2006/main">
            <a:off x="685800" y="6534150"/>
            <a:ext cx="4286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750" b="1" i="0">
                <a:solidFill>
                  <a:srgbClr val="626A7C"/>
                </a:solidFill>
                <a:latin typeface="Arial"/>
                <a:ea typeface="Arial"/>
                <a:cs typeface="Arial"/>
              </a:defRPr>
            </a:pPr>
            <a:r>
              <a:rPr sz="750" b="1" i="0">
                <a:solidFill>
                  <a:srgbClr val="626A7C"/>
                </a:solidFill>
                <a:latin typeface="Arial"/>
                <a:ea typeface="Arial"/>
                <a:cs typeface="Arial"/>
              </a:rPr>
              <a:t>INVARIA  |  REVIEW PRESENTATION</a:t>
            </a:r>
          </a:p>
        </p:txBody>
      </p:sp>
      <p:sp>
        <p:nvSpPr>
          <p:cNvPr id="3" name="">
            <a:extLst xmlns:a="http://schemas.openxmlformats.org/drawingml/2006/main">
              <a:ext uri="{FF2B5EF4-FFF2-40B4-BE49-F238E27FC236}">
                <a16:creationId xmlns:a16="http://schemas.microsoft.com/office/drawing/2014/main" id="{F0F3E7BF-0AA6-4D79-BB3F-8D63B4558432}"/>
              </a:ext>
            </a:extLst>
          </p:cNvPr>
          <p:cNvSpPr>
            <a:spLocks xmlns:a="http://schemas.openxmlformats.org/drawingml/2006/main" noGrp="1"/>
          </p:cNvSpPr>
          <p:nvPr/>
        </p:nvSpPr>
        <p:spPr>
          <a:xfrm xmlns:a="http://schemas.openxmlformats.org/drawingml/2006/main">
            <a:off x="4286250" y="6534150"/>
            <a:ext cx="6191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675" b="0" i="0">
                <a:solidFill>
                  <a:srgbClr val="626A7C"/>
                </a:solidFill>
                <a:latin typeface="Arial"/>
                <a:ea typeface="Arial"/>
                <a:cs typeface="Arial"/>
              </a:defRPr>
            </a:pPr>
            <a:r>
              <a:rPr sz="675" b="0" i="0">
                <a:solidFill>
                  <a:srgbClr val="626A7C"/>
                </a:solidFill>
                <a:latin typeface="Arial"/>
                <a:ea typeface="Arial"/>
                <a:cs typeface="Arial"/>
              </a:rPr>
              <a:t>Source: Invaria blueprint; target segments are prospective</a:t>
            </a:r>
          </a:p>
        </p:txBody>
      </p:sp>
      <p:sp>
        <p:nvSpPr>
          <p:cNvPr id="4" name="">
            <a:extLst xmlns:a="http://schemas.openxmlformats.org/drawingml/2006/main">
              <a:ext uri="{FF2B5EF4-FFF2-40B4-BE49-F238E27FC236}">
                <a16:creationId xmlns:a16="http://schemas.microsoft.com/office/drawing/2014/main" id="{57FF6E72-98AF-4531-A039-9D10C735879F}"/>
              </a:ext>
            </a:extLst>
          </p:cNvPr>
          <p:cNvSpPr>
            <a:spLocks xmlns:a="http://schemas.openxmlformats.org/drawingml/2006/main" noGrp="1"/>
          </p:cNvSpPr>
          <p:nvPr/>
        </p:nvSpPr>
        <p:spPr>
          <a:xfrm xmlns:a="http://schemas.openxmlformats.org/drawingml/2006/main">
            <a:off x="10858500" y="6515100"/>
            <a:ext cx="647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B0EFF695-3F43-4E05-8709-F016234C3F59}"/>
              </a:ext>
            </a:extLst>
          </p:cNvPr>
          <p:cNvSpPr>
            <a:spLocks xmlns:a="http://schemas.openxmlformats.org/drawingml/2006/main" noGrp="1"/>
          </p:cNvSpPr>
          <p:nvPr/>
        </p:nvSpPr>
        <p:spPr>
          <a:xfrm xmlns:a="http://schemas.openxmlformats.org/drawingml/2006/main">
            <a:off x="685800" y="514350"/>
            <a:ext cx="1476375" cy="266700"/>
          </a:xfrm>
          <a:prstGeom xmlns:a="http://schemas.openxmlformats.org/drawingml/2006/main" prst="roundRect">
            <a:avLst>
              <a:gd name="adj" fmla="val 50000"/>
            </a:avLst>
          </a:prstGeom>
          <a:solidFill xmlns:a="http://schemas.openxmlformats.org/drawingml/2006/main">
            <a:srgbClr val="F1F0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045E801-40A3-4CB5-BE30-4865F427B0CF}"/>
              </a:ext>
            </a:extLst>
          </p:cNvPr>
          <p:cNvSpPr>
            <a:spLocks xmlns:a="http://schemas.openxmlformats.org/drawingml/2006/main" noGrp="1"/>
          </p:cNvSpPr>
          <p:nvPr/>
        </p:nvSpPr>
        <p:spPr>
          <a:xfrm xmlns:a="http://schemas.openxmlformats.org/drawingml/2006/main">
            <a:off x="781050" y="571500"/>
            <a:ext cx="12858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TARGET CUSTOMERS</a:t>
            </a:r>
          </a:p>
        </p:txBody>
      </p:sp>
      <p:sp>
        <p:nvSpPr>
          <p:cNvPr id="7" name="">
            <a:extLst xmlns:a="http://schemas.openxmlformats.org/drawingml/2006/main">
              <a:ext uri="{FF2B5EF4-FFF2-40B4-BE49-F238E27FC236}">
                <a16:creationId xmlns:a16="http://schemas.microsoft.com/office/drawing/2014/main" id="{93EA3FCB-273B-41A3-AFF3-83CCF5AECD56}"/>
              </a:ext>
            </a:extLst>
          </p:cNvPr>
          <p:cNvSpPr>
            <a:spLocks xmlns:a="http://schemas.openxmlformats.org/drawingml/2006/main" noGrp="1"/>
          </p:cNvSpPr>
          <p:nvPr/>
        </p:nvSpPr>
        <p:spPr>
          <a:xfrm xmlns:a="http://schemas.openxmlformats.org/drawingml/2006/main">
            <a:off x="685800" y="1000125"/>
            <a:ext cx="55721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0116"/>
          </a:bodyPr>
          <a:lstStyle xmlns:a="http://schemas.openxmlformats.org/drawingml/2006/main"/>
          <a:p xmlns:a="http://schemas.openxmlformats.org/drawingml/2006/main">
            <a:pPr algn="l">
              <a:lnSpc>
                <a:spcPct val="100000"/>
              </a:lnSpc>
              <a:buNone/>
              <a:defRPr sz="3225" b="1" i="0">
                <a:solidFill>
                  <a:srgbClr val="121522"/>
                </a:solidFill>
                <a:latin typeface="Arial"/>
                <a:ea typeface="Arial"/>
                <a:cs typeface="Arial"/>
              </a:defRPr>
            </a:pPr>
            <a:r>
              <a:rPr sz="3225" b="1" i="0">
                <a:solidFill>
                  <a:srgbClr val="121522"/>
                </a:solidFill>
                <a:latin typeface="Arial"/>
                <a:ea typeface="Arial"/>
                <a:cs typeface="Arial"/>
              </a:rPr>
              <a:t>Who needs evidence-backed</a:t>
            </a:r>
          </a:p>
          <a:p xmlns:a="http://schemas.openxmlformats.org/drawingml/2006/main">
            <a:pPr algn="l">
              <a:lnSpc>
                <a:spcPct val="100000"/>
              </a:lnSpc>
              <a:buNone/>
              <a:defRPr sz="3225" b="1" i="0">
                <a:solidFill>
                  <a:srgbClr val="121522"/>
                </a:solidFill>
                <a:latin typeface="Arial"/>
                <a:ea typeface="Arial"/>
                <a:cs typeface="Arial"/>
              </a:defRPr>
            </a:pPr>
            <a:r>
              <a:rPr sz="3225" b="1" i="0">
                <a:solidFill>
                  <a:srgbClr val="121522"/>
                </a:solidFill>
                <a:latin typeface="Arial"/>
                <a:ea typeface="Arial"/>
                <a:cs typeface="Arial"/>
              </a:rPr>
              <a:t>security review first</a:t>
            </a:r>
          </a:p>
        </p:txBody>
      </p:sp>
      <p:sp>
        <p:nvSpPr>
          <p:cNvPr id="8" name="">
            <a:extLst xmlns:a="http://schemas.openxmlformats.org/drawingml/2006/main">
              <a:ext uri="{FF2B5EF4-FFF2-40B4-BE49-F238E27FC236}">
                <a16:creationId xmlns:a16="http://schemas.microsoft.com/office/drawing/2014/main" id="{5C98981A-B895-4BE0-83AC-D48E8FB6C04A}"/>
              </a:ext>
            </a:extLst>
          </p:cNvPr>
          <p:cNvSpPr>
            <a:spLocks xmlns:a="http://schemas.openxmlformats.org/drawingml/2006/main" noGrp="1"/>
          </p:cNvSpPr>
          <p:nvPr/>
        </p:nvSpPr>
        <p:spPr>
          <a:xfrm xmlns:a="http://schemas.openxmlformats.org/drawingml/2006/main">
            <a:off x="685800" y="2114550"/>
            <a:ext cx="5524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4761"/>
          </a:bodyPr>
          <a:lstStyle xmlns:a="http://schemas.openxmlformats.org/drawingml/2006/main"/>
          <a:p xmlns:a="http://schemas.openxmlformats.org/drawingml/2006/main">
            <a:pPr algn="l">
              <a:lnSpc>
                <a:spcPct val="120000"/>
              </a:lnSpc>
              <a:buNone/>
              <a:defRPr sz="1425" b="0" i="0">
                <a:solidFill>
                  <a:srgbClr val="626A7C"/>
                </a:solidFill>
                <a:latin typeface="Arial"/>
                <a:ea typeface="Arial"/>
                <a:cs typeface="Arial"/>
              </a:defRPr>
            </a:pPr>
            <a:r>
              <a:rPr sz="1425" b="0" i="0">
                <a:solidFill>
                  <a:srgbClr val="626A7C"/>
                </a:solidFill>
                <a:latin typeface="Arial"/>
                <a:ea typeface="Arial"/>
                <a:cs typeface="Arial"/>
              </a:rPr>
              <a:t>The first customers share a common risk: their applications make sensitive access or business decisions faster than a small team can manually review them.</a:t>
            </a:r>
          </a:p>
        </p:txBody>
      </p:sp>
      <p:sp>
        <p:nvSpPr>
          <p:cNvPr id="9" name="">
            <a:extLst xmlns:a="http://schemas.openxmlformats.org/drawingml/2006/main">
              <a:ext uri="{FF2B5EF4-FFF2-40B4-BE49-F238E27FC236}">
                <a16:creationId xmlns:a16="http://schemas.microsoft.com/office/drawing/2014/main" id="{53E50C95-4A2B-48FA-8F28-F192525684CD}"/>
              </a:ext>
            </a:extLst>
          </p:cNvPr>
          <p:cNvSpPr>
            <a:spLocks xmlns:a="http://schemas.openxmlformats.org/drawingml/2006/main" noGrp="1"/>
          </p:cNvSpPr>
          <p:nvPr/>
        </p:nvSpPr>
        <p:spPr>
          <a:xfrm xmlns:a="http://schemas.openxmlformats.org/drawingml/2006/main">
            <a:off x="685800" y="3209925"/>
            <a:ext cx="990600" cy="447675"/>
          </a:xfrm>
          <a:prstGeom xmlns:a="http://schemas.openxmlformats.org/drawingml/2006/main" prst="roundRect">
            <a:avLst>
              <a:gd name="adj" fmla="val 25532"/>
            </a:avLst>
          </a:prstGeom>
          <a:solidFill xmlns:a="http://schemas.openxmlformats.org/drawingml/2006/main">
            <a:srgbClr val="F1F0F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06EF57F-44A3-435D-8FFF-BA9F2B4F5DBA}"/>
              </a:ext>
            </a:extLst>
          </p:cNvPr>
          <p:cNvSpPr>
            <a:spLocks xmlns:a="http://schemas.openxmlformats.org/drawingml/2006/main" noGrp="1"/>
          </p:cNvSpPr>
          <p:nvPr/>
        </p:nvSpPr>
        <p:spPr>
          <a:xfrm xmlns:a="http://schemas.openxmlformats.org/drawingml/2006/main">
            <a:off x="809625" y="3314700"/>
            <a:ext cx="7524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91439"/>
          </a:bodyPr>
          <a:lstStyle xmlns:a="http://schemas.openxmlformats.org/drawingml/2006/main"/>
          <a:p xmlns:a="http://schemas.openxmlformats.org/drawingml/2006/main">
            <a:pPr algn="ctr">
              <a:lnSpc>
                <a:spcPct val="112000"/>
              </a:lnSpc>
              <a:buNone/>
              <a:defRPr sz="1050" b="1" i="0">
                <a:solidFill>
                  <a:srgbClr val="5646E8"/>
                </a:solidFill>
                <a:latin typeface="Arial"/>
                <a:ea typeface="Arial"/>
                <a:cs typeface="Arial"/>
              </a:defRPr>
            </a:pPr>
            <a:r>
              <a:rPr sz="1050" b="1" i="0">
                <a:solidFill>
                  <a:srgbClr val="5646E8"/>
                </a:solidFill>
                <a:latin typeface="Arial"/>
                <a:ea typeface="Arial"/>
                <a:cs typeface="Arial"/>
              </a:rPr>
              <a:t>AI-built SaaS</a:t>
            </a:r>
          </a:p>
        </p:txBody>
      </p:sp>
      <p:sp>
        <p:nvSpPr>
          <p:cNvPr id="11" name="">
            <a:extLst xmlns:a="http://schemas.openxmlformats.org/drawingml/2006/main">
              <a:ext uri="{FF2B5EF4-FFF2-40B4-BE49-F238E27FC236}">
                <a16:creationId xmlns:a16="http://schemas.microsoft.com/office/drawing/2014/main" id="{3104F8F9-ED07-416F-B038-F762117442DA}"/>
              </a:ext>
            </a:extLst>
          </p:cNvPr>
          <p:cNvSpPr>
            <a:spLocks xmlns:a="http://schemas.openxmlformats.org/drawingml/2006/main" noGrp="1"/>
          </p:cNvSpPr>
          <p:nvPr/>
        </p:nvSpPr>
        <p:spPr>
          <a:xfrm xmlns:a="http://schemas.openxmlformats.org/drawingml/2006/main">
            <a:off x="1943100" y="3219450"/>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6289"/>
          </a:bodyPr>
          <a:lstStyle xmlns:a="http://schemas.openxmlformats.org/drawingml/2006/main"/>
          <a:p xmlns:a="http://schemas.openxmlformats.org/drawingml/2006/main">
            <a:pPr algn="l">
              <a:lnSpc>
                <a:spcPct val="112000"/>
              </a:lnSpc>
              <a:buNone/>
              <a:defRPr sz="1275" b="1" i="0">
                <a:solidFill>
                  <a:srgbClr val="121522"/>
                </a:solidFill>
                <a:latin typeface="Arial"/>
                <a:ea typeface="Arial"/>
                <a:cs typeface="Arial"/>
              </a:defRPr>
            </a:pPr>
            <a:r>
              <a:rPr sz="1275" b="1" i="0">
                <a:solidFill>
                  <a:srgbClr val="121522"/>
                </a:solidFill>
                <a:latin typeface="Arial"/>
                <a:ea typeface="Arial"/>
                <a:cs typeface="Arial"/>
              </a:rPr>
              <a:t>CTO or engineering lead</a:t>
            </a:r>
          </a:p>
        </p:txBody>
      </p:sp>
      <p:sp>
        <p:nvSpPr>
          <p:cNvPr id="12" name="">
            <a:extLst xmlns:a="http://schemas.openxmlformats.org/drawingml/2006/main">
              <a:ext uri="{FF2B5EF4-FFF2-40B4-BE49-F238E27FC236}">
                <a16:creationId xmlns:a16="http://schemas.microsoft.com/office/drawing/2014/main" id="{D68E2671-7677-402F-8904-54892EB09744}"/>
              </a:ext>
            </a:extLst>
          </p:cNvPr>
          <p:cNvSpPr>
            <a:spLocks xmlns:a="http://schemas.openxmlformats.org/drawingml/2006/main" noGrp="1"/>
          </p:cNvSpPr>
          <p:nvPr/>
        </p:nvSpPr>
        <p:spPr>
          <a:xfrm xmlns:a="http://schemas.openxmlformats.org/drawingml/2006/main">
            <a:off x="1943100" y="3467100"/>
            <a:ext cx="438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i="0">
                <a:solidFill>
                  <a:srgbClr val="626A7C"/>
                </a:solidFill>
                <a:latin typeface="Arial"/>
                <a:ea typeface="Arial"/>
                <a:cs typeface="Arial"/>
              </a:defRPr>
            </a:pPr>
            <a:r>
              <a:rPr sz="1050" b="0" i="0">
                <a:solidFill>
                  <a:srgbClr val="626A7C"/>
                </a:solidFill>
                <a:latin typeface="Arial"/>
                <a:ea typeface="Arial"/>
                <a:cs typeface="Arial"/>
              </a:rPr>
              <a:t>Tenant isolation, sensitive APIs, rapid release cycles</a:t>
            </a:r>
          </a:p>
        </p:txBody>
      </p:sp>
      <p:sp>
        <p:nvSpPr>
          <p:cNvPr id="13" name="">
            <a:extLst xmlns:a="http://schemas.openxmlformats.org/drawingml/2006/main">
              <a:ext uri="{FF2B5EF4-FFF2-40B4-BE49-F238E27FC236}">
                <a16:creationId xmlns:a16="http://schemas.microsoft.com/office/drawing/2014/main" id="{9F6EBFBF-539A-4760-A2C8-DD6B13B05CE7}"/>
              </a:ext>
            </a:extLst>
          </p:cNvPr>
          <p:cNvSpPr>
            <a:spLocks xmlns:a="http://schemas.openxmlformats.org/drawingml/2006/main" noGrp="1"/>
          </p:cNvSpPr>
          <p:nvPr/>
        </p:nvSpPr>
        <p:spPr>
          <a:xfrm xmlns:a="http://schemas.openxmlformats.org/drawingml/2006/main">
            <a:off x="685800" y="3762375"/>
            <a:ext cx="565785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14" name="">
            <a:extLst xmlns:a="http://schemas.openxmlformats.org/drawingml/2006/main">
              <a:ext uri="{FF2B5EF4-FFF2-40B4-BE49-F238E27FC236}">
                <a16:creationId xmlns:a16="http://schemas.microsoft.com/office/drawing/2014/main" id="{FB12BF0B-92BB-40CE-9E65-64F289C5C9C8}"/>
              </a:ext>
            </a:extLst>
          </p:cNvPr>
          <p:cNvSpPr>
            <a:spLocks xmlns:a="http://schemas.openxmlformats.org/drawingml/2006/main" noGrp="1"/>
          </p:cNvSpPr>
          <p:nvPr/>
        </p:nvSpPr>
        <p:spPr>
          <a:xfrm xmlns:a="http://schemas.openxmlformats.org/drawingml/2006/main">
            <a:off x="685800" y="3867150"/>
            <a:ext cx="990600" cy="447675"/>
          </a:xfrm>
          <a:prstGeom xmlns:a="http://schemas.openxmlformats.org/drawingml/2006/main" prst="roundRect">
            <a:avLst>
              <a:gd name="adj" fmla="val 25532"/>
            </a:avLst>
          </a:prstGeom>
          <a:solidFill xmlns:a="http://schemas.openxmlformats.org/drawingml/2006/main">
            <a:srgbClr val="FFF3E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64E4305-B7AC-4C89-9CC9-2CDE465CEF70}"/>
              </a:ext>
            </a:extLst>
          </p:cNvPr>
          <p:cNvSpPr>
            <a:spLocks xmlns:a="http://schemas.openxmlformats.org/drawingml/2006/main" noGrp="1"/>
          </p:cNvSpPr>
          <p:nvPr/>
        </p:nvSpPr>
        <p:spPr>
          <a:xfrm xmlns:a="http://schemas.openxmlformats.org/drawingml/2006/main">
            <a:off x="809625" y="3971925"/>
            <a:ext cx="7524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74405"/>
          </a:bodyPr>
          <a:lstStyle xmlns:a="http://schemas.openxmlformats.org/drawingml/2006/main"/>
          <a:p xmlns:a="http://schemas.openxmlformats.org/drawingml/2006/main">
            <a:pPr algn="ctr">
              <a:lnSpc>
                <a:spcPct val="112000"/>
              </a:lnSpc>
              <a:buNone/>
              <a:defRPr sz="1050" b="1" i="0">
                <a:solidFill>
                  <a:srgbClr val="C36A12"/>
                </a:solidFill>
                <a:latin typeface="Arial"/>
                <a:ea typeface="Arial"/>
                <a:cs typeface="Arial"/>
              </a:defRPr>
            </a:pPr>
            <a:r>
              <a:rPr sz="1050" b="1" i="0">
                <a:solidFill>
                  <a:srgbClr val="C36A12"/>
                </a:solidFill>
                <a:latin typeface="Arial"/>
                <a:ea typeface="Arial"/>
                <a:cs typeface="Arial"/>
              </a:rPr>
              <a:t>Fintech &amp; payments</a:t>
            </a:r>
          </a:p>
        </p:txBody>
      </p:sp>
      <p:sp>
        <p:nvSpPr>
          <p:cNvPr id="16" name="">
            <a:extLst xmlns:a="http://schemas.openxmlformats.org/drawingml/2006/main">
              <a:ext uri="{FF2B5EF4-FFF2-40B4-BE49-F238E27FC236}">
                <a16:creationId xmlns:a16="http://schemas.microsoft.com/office/drawing/2014/main" id="{6234726D-4759-4D02-9EEB-E429D3077C7C}"/>
              </a:ext>
            </a:extLst>
          </p:cNvPr>
          <p:cNvSpPr>
            <a:spLocks xmlns:a="http://schemas.openxmlformats.org/drawingml/2006/main" noGrp="1"/>
          </p:cNvSpPr>
          <p:nvPr/>
        </p:nvSpPr>
        <p:spPr>
          <a:xfrm xmlns:a="http://schemas.openxmlformats.org/drawingml/2006/main">
            <a:off x="1943100" y="38766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6289"/>
          </a:bodyPr>
          <a:lstStyle xmlns:a="http://schemas.openxmlformats.org/drawingml/2006/main"/>
          <a:p xmlns:a="http://schemas.openxmlformats.org/drawingml/2006/main">
            <a:pPr algn="l">
              <a:lnSpc>
                <a:spcPct val="112000"/>
              </a:lnSpc>
              <a:buNone/>
              <a:defRPr sz="1275" b="1" i="0">
                <a:solidFill>
                  <a:srgbClr val="121522"/>
                </a:solidFill>
                <a:latin typeface="Arial"/>
                <a:ea typeface="Arial"/>
                <a:cs typeface="Arial"/>
              </a:defRPr>
            </a:pPr>
            <a:r>
              <a:rPr sz="1275" b="1" i="0">
                <a:solidFill>
                  <a:srgbClr val="121522"/>
                </a:solidFill>
                <a:latin typeface="Arial"/>
                <a:ea typeface="Arial"/>
                <a:cs typeface="Arial"/>
              </a:rPr>
              <a:t>Security or platform lead</a:t>
            </a:r>
          </a:p>
        </p:txBody>
      </p:sp>
      <p:sp>
        <p:nvSpPr>
          <p:cNvPr id="17" name="">
            <a:extLst xmlns:a="http://schemas.openxmlformats.org/drawingml/2006/main">
              <a:ext uri="{FF2B5EF4-FFF2-40B4-BE49-F238E27FC236}">
                <a16:creationId xmlns:a16="http://schemas.microsoft.com/office/drawing/2014/main" id="{ED22B620-3CF7-4B44-9B3F-451621F38598}"/>
              </a:ext>
            </a:extLst>
          </p:cNvPr>
          <p:cNvSpPr>
            <a:spLocks xmlns:a="http://schemas.openxmlformats.org/drawingml/2006/main" noGrp="1"/>
          </p:cNvSpPr>
          <p:nvPr/>
        </p:nvSpPr>
        <p:spPr>
          <a:xfrm xmlns:a="http://schemas.openxmlformats.org/drawingml/2006/main">
            <a:off x="1943100" y="4124325"/>
            <a:ext cx="438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i="0">
                <a:solidFill>
                  <a:srgbClr val="626A7C"/>
                </a:solidFill>
                <a:latin typeface="Arial"/>
                <a:ea typeface="Arial"/>
                <a:cs typeface="Arial"/>
              </a:defRPr>
            </a:pPr>
            <a:r>
              <a:rPr sz="1050" b="0" i="0">
                <a:solidFill>
                  <a:srgbClr val="626A7C"/>
                </a:solidFill>
                <a:latin typeface="Arial"/>
                <a:ea typeface="Arial"/>
                <a:cs typeface="Arial"/>
              </a:rPr>
              <a:t>Refunds, balances, transfers, and state-changing actions</a:t>
            </a:r>
          </a:p>
        </p:txBody>
      </p:sp>
      <p:sp>
        <p:nvSpPr>
          <p:cNvPr id="18" name="">
            <a:extLst xmlns:a="http://schemas.openxmlformats.org/drawingml/2006/main">
              <a:ext uri="{FF2B5EF4-FFF2-40B4-BE49-F238E27FC236}">
                <a16:creationId xmlns:a16="http://schemas.microsoft.com/office/drawing/2014/main" id="{11C41731-4FD3-4BCA-906E-06788E900C77}"/>
              </a:ext>
            </a:extLst>
          </p:cNvPr>
          <p:cNvSpPr>
            <a:spLocks xmlns:a="http://schemas.openxmlformats.org/drawingml/2006/main" noGrp="1"/>
          </p:cNvSpPr>
          <p:nvPr/>
        </p:nvSpPr>
        <p:spPr>
          <a:xfrm xmlns:a="http://schemas.openxmlformats.org/drawingml/2006/main">
            <a:off x="685800" y="4419600"/>
            <a:ext cx="565785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19" name="">
            <a:extLst xmlns:a="http://schemas.openxmlformats.org/drawingml/2006/main">
              <a:ext uri="{FF2B5EF4-FFF2-40B4-BE49-F238E27FC236}">
                <a16:creationId xmlns:a16="http://schemas.microsoft.com/office/drawing/2014/main" id="{ECFD91B1-2B70-4DDF-A252-F6CE4E43369C}"/>
              </a:ext>
            </a:extLst>
          </p:cNvPr>
          <p:cNvSpPr>
            <a:spLocks xmlns:a="http://schemas.openxmlformats.org/drawingml/2006/main" noGrp="1"/>
          </p:cNvSpPr>
          <p:nvPr/>
        </p:nvSpPr>
        <p:spPr>
          <a:xfrm xmlns:a="http://schemas.openxmlformats.org/drawingml/2006/main">
            <a:off x="685800" y="4524375"/>
            <a:ext cx="990600" cy="447675"/>
          </a:xfrm>
          <a:prstGeom xmlns:a="http://schemas.openxmlformats.org/drawingml/2006/main" prst="roundRect">
            <a:avLst>
              <a:gd name="adj" fmla="val 25532"/>
            </a:avLst>
          </a:prstGeom>
          <a:solidFill xmlns:a="http://schemas.openxmlformats.org/drawingml/2006/main">
            <a:srgbClr val="E7F7F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8B18891-39C5-464E-82C1-AF6A6E8AEF6B}"/>
              </a:ext>
            </a:extLst>
          </p:cNvPr>
          <p:cNvSpPr>
            <a:spLocks xmlns:a="http://schemas.openxmlformats.org/drawingml/2006/main" noGrp="1"/>
          </p:cNvSpPr>
          <p:nvPr/>
        </p:nvSpPr>
        <p:spPr>
          <a:xfrm xmlns:a="http://schemas.openxmlformats.org/drawingml/2006/main">
            <a:off x="809625" y="4629150"/>
            <a:ext cx="7524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75968"/>
          </a:bodyPr>
          <a:lstStyle xmlns:a="http://schemas.openxmlformats.org/drawingml/2006/main"/>
          <a:p xmlns:a="http://schemas.openxmlformats.org/drawingml/2006/main">
            <a:pPr algn="ctr">
              <a:lnSpc>
                <a:spcPct val="112000"/>
              </a:lnSpc>
              <a:buNone/>
              <a:defRPr sz="1050" b="1" i="0">
                <a:solidFill>
                  <a:srgbClr val="087A71"/>
                </a:solidFill>
                <a:latin typeface="Arial"/>
                <a:ea typeface="Arial"/>
                <a:cs typeface="Arial"/>
              </a:defRPr>
            </a:pPr>
            <a:r>
              <a:rPr sz="1050" b="1" i="0">
                <a:solidFill>
                  <a:srgbClr val="087A71"/>
                </a:solidFill>
                <a:latin typeface="Arial"/>
                <a:ea typeface="Arial"/>
                <a:cs typeface="Arial"/>
              </a:rPr>
              <a:t>Health software</a:t>
            </a:r>
          </a:p>
        </p:txBody>
      </p:sp>
      <p:sp>
        <p:nvSpPr>
          <p:cNvPr id="21" name="">
            <a:extLst xmlns:a="http://schemas.openxmlformats.org/drawingml/2006/main">
              <a:ext uri="{FF2B5EF4-FFF2-40B4-BE49-F238E27FC236}">
                <a16:creationId xmlns:a16="http://schemas.microsoft.com/office/drawing/2014/main" id="{86F4B3F1-16D4-4E21-80C0-72B085EFEA98}"/>
              </a:ext>
            </a:extLst>
          </p:cNvPr>
          <p:cNvSpPr>
            <a:spLocks xmlns:a="http://schemas.openxmlformats.org/drawingml/2006/main" noGrp="1"/>
          </p:cNvSpPr>
          <p:nvPr/>
        </p:nvSpPr>
        <p:spPr>
          <a:xfrm xmlns:a="http://schemas.openxmlformats.org/drawingml/2006/main">
            <a:off x="1943100" y="4533900"/>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6289"/>
          </a:bodyPr>
          <a:lstStyle xmlns:a="http://schemas.openxmlformats.org/drawingml/2006/main"/>
          <a:p xmlns:a="http://schemas.openxmlformats.org/drawingml/2006/main">
            <a:pPr algn="l">
              <a:lnSpc>
                <a:spcPct val="112000"/>
              </a:lnSpc>
              <a:buNone/>
              <a:defRPr sz="1275" b="1" i="0">
                <a:solidFill>
                  <a:srgbClr val="121522"/>
                </a:solidFill>
                <a:latin typeface="Arial"/>
                <a:ea typeface="Arial"/>
                <a:cs typeface="Arial"/>
              </a:defRPr>
            </a:pPr>
            <a:r>
              <a:rPr sz="1275" b="1" i="0">
                <a:solidFill>
                  <a:srgbClr val="121522"/>
                </a:solidFill>
                <a:latin typeface="Arial"/>
                <a:ea typeface="Arial"/>
                <a:cs typeface="Arial"/>
              </a:rPr>
              <a:t>Product security lead</a:t>
            </a:r>
          </a:p>
        </p:txBody>
      </p:sp>
      <p:sp>
        <p:nvSpPr>
          <p:cNvPr id="22" name="">
            <a:extLst xmlns:a="http://schemas.openxmlformats.org/drawingml/2006/main">
              <a:ext uri="{FF2B5EF4-FFF2-40B4-BE49-F238E27FC236}">
                <a16:creationId xmlns:a16="http://schemas.microsoft.com/office/drawing/2014/main" id="{B124ABA5-2D8E-4E26-BE58-01599C807CF4}"/>
              </a:ext>
            </a:extLst>
          </p:cNvPr>
          <p:cNvSpPr>
            <a:spLocks xmlns:a="http://schemas.openxmlformats.org/drawingml/2006/main" noGrp="1"/>
          </p:cNvSpPr>
          <p:nvPr/>
        </p:nvSpPr>
        <p:spPr>
          <a:xfrm xmlns:a="http://schemas.openxmlformats.org/drawingml/2006/main">
            <a:off x="1943100" y="4781550"/>
            <a:ext cx="438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i="0">
                <a:solidFill>
                  <a:srgbClr val="626A7C"/>
                </a:solidFill>
                <a:latin typeface="Arial"/>
                <a:ea typeface="Arial"/>
                <a:cs typeface="Arial"/>
              </a:defRPr>
            </a:pPr>
            <a:r>
              <a:rPr sz="1050" b="0" i="0">
                <a:solidFill>
                  <a:srgbClr val="626A7C"/>
                </a:solidFill>
                <a:latin typeface="Arial"/>
                <a:ea typeface="Arial"/>
                <a:cs typeface="Arial"/>
              </a:rPr>
              <a:t>Patient ownership, role-based access, data exposure</a:t>
            </a:r>
          </a:p>
        </p:txBody>
      </p:sp>
      <p:sp>
        <p:nvSpPr>
          <p:cNvPr id="23" name="">
            <a:extLst xmlns:a="http://schemas.openxmlformats.org/drawingml/2006/main">
              <a:ext uri="{FF2B5EF4-FFF2-40B4-BE49-F238E27FC236}">
                <a16:creationId xmlns:a16="http://schemas.microsoft.com/office/drawing/2014/main" id="{37E181CD-357C-46E3-A9A6-F94DA621B789}"/>
              </a:ext>
            </a:extLst>
          </p:cNvPr>
          <p:cNvSpPr>
            <a:spLocks xmlns:a="http://schemas.openxmlformats.org/drawingml/2006/main" noGrp="1"/>
          </p:cNvSpPr>
          <p:nvPr/>
        </p:nvSpPr>
        <p:spPr>
          <a:xfrm xmlns:a="http://schemas.openxmlformats.org/drawingml/2006/main">
            <a:off x="685800" y="5076825"/>
            <a:ext cx="565785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4" name="">
            <a:extLst xmlns:a="http://schemas.openxmlformats.org/drawingml/2006/main">
              <a:ext uri="{FF2B5EF4-FFF2-40B4-BE49-F238E27FC236}">
                <a16:creationId xmlns:a16="http://schemas.microsoft.com/office/drawing/2014/main" id="{2535E540-52CB-48C6-82FC-1A0704566D47}"/>
              </a:ext>
            </a:extLst>
          </p:cNvPr>
          <p:cNvSpPr>
            <a:spLocks xmlns:a="http://schemas.openxmlformats.org/drawingml/2006/main" noGrp="1"/>
          </p:cNvSpPr>
          <p:nvPr/>
        </p:nvSpPr>
        <p:spPr>
          <a:xfrm xmlns:a="http://schemas.openxmlformats.org/drawingml/2006/main">
            <a:off x="685800" y="5181600"/>
            <a:ext cx="990600" cy="447675"/>
          </a:xfrm>
          <a:prstGeom xmlns:a="http://schemas.openxmlformats.org/drawingml/2006/main" prst="roundRect">
            <a:avLst>
              <a:gd name="adj" fmla="val 25532"/>
            </a:avLst>
          </a:prstGeom>
          <a:solidFill xmlns:a="http://schemas.openxmlformats.org/drawingml/2006/main">
            <a:srgbClr val="FCECE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30B8B1A3-742C-46AF-86F7-87A1981680A6}"/>
              </a:ext>
            </a:extLst>
          </p:cNvPr>
          <p:cNvSpPr>
            <a:spLocks xmlns:a="http://schemas.openxmlformats.org/drawingml/2006/main" noGrp="1"/>
          </p:cNvSpPr>
          <p:nvPr/>
        </p:nvSpPr>
        <p:spPr>
          <a:xfrm xmlns:a="http://schemas.openxmlformats.org/drawingml/2006/main">
            <a:off x="809625" y="5286375"/>
            <a:ext cx="7524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74405"/>
          </a:bodyPr>
          <a:lstStyle xmlns:a="http://schemas.openxmlformats.org/drawingml/2006/main"/>
          <a:p xmlns:a="http://schemas.openxmlformats.org/drawingml/2006/main">
            <a:pPr algn="ctr">
              <a:lnSpc>
                <a:spcPct val="112000"/>
              </a:lnSpc>
              <a:buNone/>
              <a:defRPr sz="1050" b="1" i="0">
                <a:solidFill>
                  <a:srgbClr val="C23B59"/>
                </a:solidFill>
                <a:latin typeface="Arial"/>
                <a:ea typeface="Arial"/>
                <a:cs typeface="Arial"/>
              </a:defRPr>
            </a:pPr>
            <a:r>
              <a:rPr sz="1050" b="1" i="0">
                <a:solidFill>
                  <a:srgbClr val="C23B59"/>
                </a:solidFill>
                <a:latin typeface="Arial"/>
                <a:ea typeface="Arial"/>
                <a:cs typeface="Arial"/>
              </a:rPr>
              <a:t>Internal platforms</a:t>
            </a:r>
          </a:p>
        </p:txBody>
      </p:sp>
      <p:sp>
        <p:nvSpPr>
          <p:cNvPr id="26" name="">
            <a:extLst xmlns:a="http://schemas.openxmlformats.org/drawingml/2006/main">
              <a:ext uri="{FF2B5EF4-FFF2-40B4-BE49-F238E27FC236}">
                <a16:creationId xmlns:a16="http://schemas.microsoft.com/office/drawing/2014/main" id="{8C82F734-0D5E-4ED6-809D-140F24678809}"/>
              </a:ext>
            </a:extLst>
          </p:cNvPr>
          <p:cNvSpPr>
            <a:spLocks xmlns:a="http://schemas.openxmlformats.org/drawingml/2006/main" noGrp="1"/>
          </p:cNvSpPr>
          <p:nvPr/>
        </p:nvSpPr>
        <p:spPr>
          <a:xfrm xmlns:a="http://schemas.openxmlformats.org/drawingml/2006/main">
            <a:off x="1943100" y="519112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6289"/>
          </a:bodyPr>
          <a:lstStyle xmlns:a="http://schemas.openxmlformats.org/drawingml/2006/main"/>
          <a:p xmlns:a="http://schemas.openxmlformats.org/drawingml/2006/main">
            <a:pPr algn="l">
              <a:lnSpc>
                <a:spcPct val="112000"/>
              </a:lnSpc>
              <a:buNone/>
              <a:defRPr sz="1275" b="1" i="0">
                <a:solidFill>
                  <a:srgbClr val="121522"/>
                </a:solidFill>
                <a:latin typeface="Arial"/>
                <a:ea typeface="Arial"/>
                <a:cs typeface="Arial"/>
              </a:defRPr>
            </a:pPr>
            <a:r>
              <a:rPr sz="1275" b="1" i="0">
                <a:solidFill>
                  <a:srgbClr val="121522"/>
                </a:solidFill>
                <a:latin typeface="Arial"/>
                <a:ea typeface="Arial"/>
                <a:cs typeface="Arial"/>
              </a:rPr>
              <a:t>Platform or IT lead</a:t>
            </a:r>
          </a:p>
        </p:txBody>
      </p:sp>
      <p:sp>
        <p:nvSpPr>
          <p:cNvPr id="27" name="">
            <a:extLst xmlns:a="http://schemas.openxmlformats.org/drawingml/2006/main">
              <a:ext uri="{FF2B5EF4-FFF2-40B4-BE49-F238E27FC236}">
                <a16:creationId xmlns:a16="http://schemas.microsoft.com/office/drawing/2014/main" id="{D082EFCD-0CEB-4E31-8A98-F84F9749DA44}"/>
              </a:ext>
            </a:extLst>
          </p:cNvPr>
          <p:cNvSpPr>
            <a:spLocks xmlns:a="http://schemas.openxmlformats.org/drawingml/2006/main" noGrp="1"/>
          </p:cNvSpPr>
          <p:nvPr/>
        </p:nvSpPr>
        <p:spPr>
          <a:xfrm xmlns:a="http://schemas.openxmlformats.org/drawingml/2006/main">
            <a:off x="1943100" y="5438775"/>
            <a:ext cx="438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i="0">
                <a:solidFill>
                  <a:srgbClr val="626A7C"/>
                </a:solidFill>
                <a:latin typeface="Arial"/>
                <a:ea typeface="Arial"/>
                <a:cs typeface="Arial"/>
              </a:defRPr>
            </a:pPr>
            <a:r>
              <a:rPr sz="1050" b="0" i="0">
                <a:solidFill>
                  <a:srgbClr val="626A7C"/>
                </a:solidFill>
                <a:latin typeface="Arial"/>
                <a:ea typeface="Arial"/>
                <a:cs typeface="Arial"/>
              </a:rPr>
              <a:t>Privileged workflows, employee data, uneven security coverage</a:t>
            </a:r>
          </a:p>
        </p:txBody>
      </p:sp>
      <p:sp>
        <p:nvSpPr>
          <p:cNvPr id="28" name="">
            <a:extLst xmlns:a="http://schemas.openxmlformats.org/drawingml/2006/main">
              <a:ext uri="{FF2B5EF4-FFF2-40B4-BE49-F238E27FC236}">
                <a16:creationId xmlns:a16="http://schemas.microsoft.com/office/drawing/2014/main" id="{41E06AA1-00D0-4C89-9037-B5CFBE2271FA}"/>
              </a:ext>
            </a:extLst>
          </p:cNvPr>
          <p:cNvSpPr>
            <a:spLocks xmlns:a="http://schemas.openxmlformats.org/drawingml/2006/main" noGrp="1"/>
          </p:cNvSpPr>
          <p:nvPr/>
        </p:nvSpPr>
        <p:spPr>
          <a:xfrm xmlns:a="http://schemas.openxmlformats.org/drawingml/2006/main">
            <a:off x="685800" y="5734050"/>
            <a:ext cx="565785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9" name="">
            <a:extLst xmlns:a="http://schemas.openxmlformats.org/drawingml/2006/main">
              <a:ext uri="{FF2B5EF4-FFF2-40B4-BE49-F238E27FC236}">
                <a16:creationId xmlns:a16="http://schemas.microsoft.com/office/drawing/2014/main" id="{737A6117-57FA-42CC-AA77-76EEADEBE3C7}"/>
              </a:ext>
            </a:extLst>
          </p:cNvPr>
          <p:cNvSpPr>
            <a:spLocks xmlns:a="http://schemas.openxmlformats.org/drawingml/2006/main" noGrp="1"/>
          </p:cNvSpPr>
          <p:nvPr/>
        </p:nvSpPr>
        <p:spPr>
          <a:xfrm xmlns:a="http://schemas.openxmlformats.org/drawingml/2006/main">
            <a:off x="7115175" y="1028700"/>
            <a:ext cx="4391025" cy="4762500"/>
          </a:xfrm>
          <a:prstGeom xmlns:a="http://schemas.openxmlformats.org/drawingml/2006/main" prst="roundRect">
            <a:avLst>
              <a:gd name="adj" fmla="val 5206"/>
            </a:avLst>
          </a:prstGeom>
          <a:solidFill xmlns:a="http://schemas.openxmlformats.org/drawingml/2006/main">
            <a:srgbClr val="12131E"/>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F58D19A6-C26C-4817-B468-3E52D205B822}"/>
              </a:ext>
            </a:extLst>
          </p:cNvPr>
          <p:cNvSpPr>
            <a:spLocks xmlns:a="http://schemas.openxmlformats.org/drawingml/2006/main" noGrp="1"/>
          </p:cNvSpPr>
          <p:nvPr/>
        </p:nvSpPr>
        <p:spPr>
          <a:xfrm xmlns:a="http://schemas.openxmlformats.org/drawingml/2006/main">
            <a:off x="7505700" y="1438275"/>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7C71FF"/>
                </a:solidFill>
                <a:latin typeface="Arial"/>
                <a:ea typeface="Arial"/>
                <a:cs typeface="Arial"/>
              </a:defRPr>
            </a:pPr>
            <a:r>
              <a:rPr sz="900" b="1" i="0">
                <a:solidFill>
                  <a:srgbClr val="7C71FF"/>
                </a:solidFill>
                <a:latin typeface="Arial"/>
                <a:ea typeface="Arial"/>
                <a:cs typeface="Arial"/>
              </a:rPr>
              <a:t>FIRST SALES WEDGE</a:t>
            </a:r>
          </a:p>
        </p:txBody>
      </p:sp>
      <p:sp>
        <p:nvSpPr>
          <p:cNvPr id="31" name="">
            <a:extLst xmlns:a="http://schemas.openxmlformats.org/drawingml/2006/main">
              <a:ext uri="{FF2B5EF4-FFF2-40B4-BE49-F238E27FC236}">
                <a16:creationId xmlns:a16="http://schemas.microsoft.com/office/drawing/2014/main" id="{0A2EF0FF-2F94-4B94-BBAB-E82BB2816410}"/>
              </a:ext>
            </a:extLst>
          </p:cNvPr>
          <p:cNvSpPr>
            <a:spLocks xmlns:a="http://schemas.openxmlformats.org/drawingml/2006/main" noGrp="1"/>
          </p:cNvSpPr>
          <p:nvPr/>
        </p:nvSpPr>
        <p:spPr>
          <a:xfrm xmlns:a="http://schemas.openxmlformats.org/drawingml/2006/main">
            <a:off x="7505700" y="1838325"/>
            <a:ext cx="314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0882"/>
          </a:bodyPr>
          <a:lstStyle xmlns:a="http://schemas.openxmlformats.org/drawingml/2006/main"/>
          <a:p xmlns:a="http://schemas.openxmlformats.org/drawingml/2006/main">
            <a:pPr algn="l">
              <a:lnSpc>
                <a:spcPct val="100000"/>
              </a:lnSpc>
              <a:buNone/>
              <a:defRPr sz="2550" b="1" i="0">
                <a:solidFill>
                  <a:srgbClr val="FFFFFF"/>
                </a:solidFill>
                <a:latin typeface="Arial"/>
                <a:ea typeface="Arial"/>
                <a:cs typeface="Arial"/>
              </a:defRPr>
            </a:pPr>
            <a:r>
              <a:rPr sz="2550" b="1" i="0">
                <a:solidFill>
                  <a:srgbClr val="FFFFFF"/>
                </a:solidFill>
                <a:latin typeface="Arial"/>
                <a:ea typeface="Arial"/>
                <a:cs typeface="Arial"/>
              </a:rPr>
              <a:t>API-driven</a:t>
            </a:r>
          </a:p>
          <a:p xmlns:a="http://schemas.openxmlformats.org/drawingml/2006/main">
            <a:pPr algn="l">
              <a:lnSpc>
                <a:spcPct val="100000"/>
              </a:lnSpc>
              <a:buNone/>
              <a:defRPr sz="2550" b="1" i="0">
                <a:solidFill>
                  <a:srgbClr val="FFFFFF"/>
                </a:solidFill>
                <a:latin typeface="Arial"/>
                <a:ea typeface="Arial"/>
                <a:cs typeface="Arial"/>
              </a:defRPr>
            </a:pPr>
            <a:r>
              <a:rPr sz="2550" b="1" i="0">
                <a:solidFill>
                  <a:srgbClr val="FFFFFF"/>
                </a:solidFill>
                <a:latin typeface="Arial"/>
                <a:ea typeface="Arial"/>
                <a:cs typeface="Arial"/>
              </a:rPr>
              <a:t>multitenant products</a:t>
            </a:r>
          </a:p>
        </p:txBody>
      </p:sp>
      <p:sp>
        <p:nvSpPr>
          <p:cNvPr id="32" name="">
            <a:extLst xmlns:a="http://schemas.openxmlformats.org/drawingml/2006/main">
              <a:ext uri="{FF2B5EF4-FFF2-40B4-BE49-F238E27FC236}">
                <a16:creationId xmlns:a16="http://schemas.microsoft.com/office/drawing/2014/main" id="{B13C510C-7640-4891-A946-5B13D1C07BEF}"/>
              </a:ext>
            </a:extLst>
          </p:cNvPr>
          <p:cNvSpPr>
            <a:spLocks xmlns:a="http://schemas.openxmlformats.org/drawingml/2006/main" noGrp="1"/>
          </p:cNvSpPr>
          <p:nvPr/>
        </p:nvSpPr>
        <p:spPr>
          <a:xfrm xmlns:a="http://schemas.openxmlformats.org/drawingml/2006/main">
            <a:off x="7505700" y="2781300"/>
            <a:ext cx="31718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0639"/>
          </a:bodyPr>
          <a:lstStyle xmlns:a="http://schemas.openxmlformats.org/drawingml/2006/main"/>
          <a:p xmlns:a="http://schemas.openxmlformats.org/drawingml/2006/main">
            <a:pPr algn="l">
              <a:lnSpc>
                <a:spcPct val="122000"/>
              </a:lnSpc>
              <a:buNone/>
              <a:defRPr sz="1350" b="0" i="0">
                <a:solidFill>
                  <a:srgbClr val="C4C9D9"/>
                </a:solidFill>
                <a:latin typeface="Arial"/>
                <a:ea typeface="Arial"/>
                <a:cs typeface="Arial"/>
              </a:defRPr>
            </a:pPr>
            <a:r>
              <a:rPr sz="1350" b="0" i="0">
                <a:solidFill>
                  <a:srgbClr val="C4C9D9"/>
                </a:solidFill>
                <a:latin typeface="Arial"/>
                <a:ea typeface="Arial"/>
                <a:cs typeface="Arial"/>
              </a:rPr>
              <a:t>Start with JavaScript or TypeScript teams that need to demonstrate control over access paths and business logic before they can hire a mature AppSec function.</a:t>
            </a:r>
          </a:p>
        </p:txBody>
      </p:sp>
      <p:sp>
        <p:nvSpPr>
          <p:cNvPr id="33" name="">
            <a:extLst xmlns:a="http://schemas.openxmlformats.org/drawingml/2006/main">
              <a:ext uri="{FF2B5EF4-FFF2-40B4-BE49-F238E27FC236}">
                <a16:creationId xmlns:a16="http://schemas.microsoft.com/office/drawing/2014/main" id="{8B274399-580F-45A8-BCD8-2411AEDE18C1}"/>
              </a:ext>
            </a:extLst>
          </p:cNvPr>
          <p:cNvSpPr>
            <a:spLocks xmlns:a="http://schemas.openxmlformats.org/drawingml/2006/main" noGrp="1"/>
          </p:cNvSpPr>
          <p:nvPr/>
        </p:nvSpPr>
        <p:spPr>
          <a:xfrm xmlns:a="http://schemas.openxmlformats.org/drawingml/2006/main">
            <a:off x="7505700" y="4000500"/>
            <a:ext cx="3095625" cy="0"/>
          </a:xfrm>
          <a:prstGeom xmlns:a="http://schemas.openxmlformats.org/drawingml/2006/main" prst="line">
            <a:avLst/>
          </a:prstGeom>
          <a:noFill xmlns:a="http://schemas.openxmlformats.org/drawingml/2006/main"/>
          <a:ln xmlns:a="http://schemas.openxmlformats.org/drawingml/2006/main" w="9525">
            <a:solidFill>
              <a:srgbClr val="363A4D"/>
            </a:solidFill>
            <a:prstDash val="solid"/>
          </a:ln>
        </p:spPr>
      </p:sp>
      <p:sp>
        <p:nvSpPr>
          <p:cNvPr id="34" name="">
            <a:extLst xmlns:a="http://schemas.openxmlformats.org/drawingml/2006/main">
              <a:ext uri="{FF2B5EF4-FFF2-40B4-BE49-F238E27FC236}">
                <a16:creationId xmlns:a16="http://schemas.microsoft.com/office/drawing/2014/main" id="{C03AA7C5-823A-4D81-ACCC-97B8748A37DB}"/>
              </a:ext>
            </a:extLst>
          </p:cNvPr>
          <p:cNvSpPr>
            <a:spLocks xmlns:a="http://schemas.openxmlformats.org/drawingml/2006/main" noGrp="1"/>
          </p:cNvSpPr>
          <p:nvPr/>
        </p:nvSpPr>
        <p:spPr>
          <a:xfrm xmlns:a="http://schemas.openxmlformats.org/drawingml/2006/main">
            <a:off x="7505700" y="4286250"/>
            <a:ext cx="190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1" i="0">
                <a:solidFill>
                  <a:srgbClr val="7C71FF"/>
                </a:solidFill>
                <a:latin typeface="Arial"/>
                <a:ea typeface="Arial"/>
                <a:cs typeface="Arial"/>
              </a:defRPr>
            </a:pPr>
            <a:r>
              <a:rPr sz="1050" b="1" i="0">
                <a:solidFill>
                  <a:srgbClr val="7C71FF"/>
                </a:solidFill>
                <a:latin typeface="Arial"/>
                <a:ea typeface="Arial"/>
                <a:cs typeface="Arial"/>
              </a:rPr>
              <a:t>Primary buyer</a:t>
            </a:r>
          </a:p>
        </p:txBody>
      </p:sp>
      <p:sp>
        <p:nvSpPr>
          <p:cNvPr id="35" name="">
            <a:extLst xmlns:a="http://schemas.openxmlformats.org/drawingml/2006/main">
              <a:ext uri="{FF2B5EF4-FFF2-40B4-BE49-F238E27FC236}">
                <a16:creationId xmlns:a16="http://schemas.microsoft.com/office/drawing/2014/main" id="{18B0B1DD-751D-40ED-8F86-A94CC42BBF4C}"/>
              </a:ext>
            </a:extLst>
          </p:cNvPr>
          <p:cNvSpPr>
            <a:spLocks xmlns:a="http://schemas.openxmlformats.org/drawingml/2006/main" noGrp="1"/>
          </p:cNvSpPr>
          <p:nvPr/>
        </p:nvSpPr>
        <p:spPr>
          <a:xfrm xmlns:a="http://schemas.openxmlformats.org/drawingml/2006/main">
            <a:off x="7505700" y="4591050"/>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1681"/>
          </a:bodyPr>
          <a:lstStyle xmlns:a="http://schemas.openxmlformats.org/drawingml/2006/main"/>
          <a:p xmlns:a="http://schemas.openxmlformats.org/drawingml/2006/main">
            <a:pPr algn="l">
              <a:lnSpc>
                <a:spcPct val="112000"/>
              </a:lnSpc>
              <a:buNone/>
              <a:defRPr sz="1350" b="1" i="0">
                <a:solidFill>
                  <a:srgbClr val="FFFFFF"/>
                </a:solidFill>
                <a:latin typeface="Arial"/>
                <a:ea typeface="Arial"/>
                <a:cs typeface="Arial"/>
              </a:defRPr>
            </a:pPr>
            <a:r>
              <a:rPr sz="1350" b="1" i="0">
                <a:solidFill>
                  <a:srgbClr val="FFFFFF"/>
                </a:solidFill>
                <a:latin typeface="Arial"/>
                <a:ea typeface="Arial"/>
                <a:cs typeface="Arial"/>
              </a:rPr>
              <a:t>CTO / VP Engineering / Product Security Lead</a:t>
            </a:r>
          </a:p>
        </p:txBody>
      </p:sp>
      <p:sp>
        <p:nvSpPr>
          <p:cNvPr id="36" name="">
            <a:extLst xmlns:a="http://schemas.openxmlformats.org/drawingml/2006/main">
              <a:ext uri="{FF2B5EF4-FFF2-40B4-BE49-F238E27FC236}">
                <a16:creationId xmlns:a16="http://schemas.microsoft.com/office/drawing/2014/main" id="{1D53F50D-FC95-4274-BDA7-98BC1F5583F0}"/>
              </a:ext>
            </a:extLst>
          </p:cNvPr>
          <p:cNvSpPr>
            <a:spLocks xmlns:a="http://schemas.openxmlformats.org/drawingml/2006/main" noGrp="1"/>
          </p:cNvSpPr>
          <p:nvPr/>
        </p:nvSpPr>
        <p:spPr>
          <a:xfrm xmlns:a="http://schemas.openxmlformats.org/drawingml/2006/main">
            <a:off x="7505700" y="5029200"/>
            <a:ext cx="1809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5663"/>
          </a:bodyPr>
          <a:lstStyle xmlns:a="http://schemas.openxmlformats.org/drawingml/2006/main"/>
          <a:p xmlns:a="http://schemas.openxmlformats.org/drawingml/2006/main">
            <a:pPr algn="l">
              <a:lnSpc>
                <a:spcPct val="112000"/>
              </a:lnSpc>
              <a:buNone/>
              <a:defRPr sz="1050" b="1" i="0">
                <a:solidFill>
                  <a:srgbClr val="7C71FF"/>
                </a:solidFill>
                <a:latin typeface="Arial"/>
                <a:ea typeface="Arial"/>
                <a:cs typeface="Arial"/>
              </a:defRPr>
            </a:pPr>
            <a:r>
              <a:rPr sz="1050" b="1" i="0">
                <a:solidFill>
                  <a:srgbClr val="7C71FF"/>
                </a:solidFill>
                <a:latin typeface="Arial"/>
                <a:ea typeface="Arial"/>
                <a:cs typeface="Arial"/>
              </a:rPr>
              <a:t>Value delivered</a:t>
            </a:r>
          </a:p>
        </p:txBody>
      </p:sp>
      <p:sp>
        <p:nvSpPr>
          <p:cNvPr id="37" name="">
            <a:extLst xmlns:a="http://schemas.openxmlformats.org/drawingml/2006/main">
              <a:ext uri="{FF2B5EF4-FFF2-40B4-BE49-F238E27FC236}">
                <a16:creationId xmlns:a16="http://schemas.microsoft.com/office/drawing/2014/main" id="{93E968C8-D1BE-41C9-8713-DD38644135D7}"/>
              </a:ext>
            </a:extLst>
          </p:cNvPr>
          <p:cNvSpPr>
            <a:spLocks xmlns:a="http://schemas.openxmlformats.org/drawingml/2006/main" noGrp="1"/>
          </p:cNvSpPr>
          <p:nvPr/>
        </p:nvSpPr>
        <p:spPr>
          <a:xfrm xmlns:a="http://schemas.openxmlformats.org/drawingml/2006/main">
            <a:off x="7505700" y="5286375"/>
            <a:ext cx="3162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72122"/>
          </a:bodyPr>
          <a:lstStyle xmlns:a="http://schemas.openxmlformats.org/drawingml/2006/main"/>
          <a:p xmlns:a="http://schemas.openxmlformats.org/drawingml/2006/main">
            <a:pPr algn="l">
              <a:lnSpc>
                <a:spcPct val="112000"/>
              </a:lnSpc>
              <a:buNone/>
              <a:defRPr sz="1200" b="0" i="0">
                <a:solidFill>
                  <a:srgbClr val="C4C9D9"/>
                </a:solidFill>
                <a:latin typeface="Arial"/>
                <a:ea typeface="Arial"/>
                <a:cs typeface="Arial"/>
              </a:defRPr>
            </a:pPr>
            <a:r>
              <a:rPr sz="1200" b="0" i="0">
                <a:solidFill>
                  <a:srgbClr val="C4C9D9"/>
                </a:solidFill>
                <a:latin typeface="Arial"/>
                <a:ea typeface="Arial"/>
                <a:cs typeface="Arial"/>
              </a:rPr>
              <a:t>A path from suspicious code to an accountable security decision.</a:t>
            </a:r>
          </a:p>
        </p:txBody>
      </p:sp>
    </p:spTree>
    <p:extLst>
      <p:ext uri="{BB962C8B-B14F-4D97-AF65-F5344CB8AC3E}">
        <p14:creationId xmlns:p14="http://schemas.microsoft.com/office/powerpoint/2010/main" val="195994905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3D623E0A-E0D1-4275-834B-E65F79A2C6BF}"/>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 name="">
            <a:extLst xmlns:a="http://schemas.openxmlformats.org/drawingml/2006/main">
              <a:ext uri="{FF2B5EF4-FFF2-40B4-BE49-F238E27FC236}">
                <a16:creationId xmlns:a16="http://schemas.microsoft.com/office/drawing/2014/main" id="{2DF30340-22D9-45E4-92D8-D6A19C1F4CEF}"/>
              </a:ext>
            </a:extLst>
          </p:cNvPr>
          <p:cNvSpPr>
            <a:spLocks xmlns:a="http://schemas.openxmlformats.org/drawingml/2006/main" noGrp="1"/>
          </p:cNvSpPr>
          <p:nvPr/>
        </p:nvSpPr>
        <p:spPr>
          <a:xfrm xmlns:a="http://schemas.openxmlformats.org/drawingml/2006/main">
            <a:off x="685800" y="6534150"/>
            <a:ext cx="4286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750" b="1" i="0">
                <a:solidFill>
                  <a:srgbClr val="626A7C"/>
                </a:solidFill>
                <a:latin typeface="Arial"/>
                <a:ea typeface="Arial"/>
                <a:cs typeface="Arial"/>
              </a:defRPr>
            </a:pPr>
            <a:r>
              <a:rPr sz="750" b="1" i="0">
                <a:solidFill>
                  <a:srgbClr val="626A7C"/>
                </a:solidFill>
                <a:latin typeface="Arial"/>
                <a:ea typeface="Arial"/>
                <a:cs typeface="Arial"/>
              </a:rPr>
              <a:t>INVARIA  |  REVIEW PRESENTATION</a:t>
            </a:r>
          </a:p>
        </p:txBody>
      </p:sp>
      <p:sp>
        <p:nvSpPr>
          <p:cNvPr id="3" name="">
            <a:extLst xmlns:a="http://schemas.openxmlformats.org/drawingml/2006/main">
              <a:ext uri="{FF2B5EF4-FFF2-40B4-BE49-F238E27FC236}">
                <a16:creationId xmlns:a16="http://schemas.microsoft.com/office/drawing/2014/main" id="{BCD62630-1B6C-4A5E-A16D-E7AAC55669A2}"/>
              </a:ext>
            </a:extLst>
          </p:cNvPr>
          <p:cNvSpPr>
            <a:spLocks xmlns:a="http://schemas.openxmlformats.org/drawingml/2006/main" noGrp="1"/>
          </p:cNvSpPr>
          <p:nvPr/>
        </p:nvSpPr>
        <p:spPr>
          <a:xfrm xmlns:a="http://schemas.openxmlformats.org/drawingml/2006/main">
            <a:off x="4286250" y="6534150"/>
            <a:ext cx="6191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675" b="0" i="0">
                <a:solidFill>
                  <a:srgbClr val="626A7C"/>
                </a:solidFill>
                <a:latin typeface="Arial"/>
                <a:ea typeface="Arial"/>
                <a:cs typeface="Arial"/>
              </a:defRPr>
            </a:pPr>
            <a:r>
              <a:rPr sz="675" b="0" i="0">
                <a:solidFill>
                  <a:srgbClr val="626A7C"/>
                </a:solidFill>
                <a:latin typeface="Arial"/>
                <a:ea typeface="Arial"/>
                <a:cs typeface="Arial"/>
              </a:rPr>
              <a:t>Source: docs/ROADMAP.md and docs/INVARIANT_ENGINE.md</a:t>
            </a:r>
          </a:p>
        </p:txBody>
      </p:sp>
      <p:sp>
        <p:nvSpPr>
          <p:cNvPr id="4" name="">
            <a:extLst xmlns:a="http://schemas.openxmlformats.org/drawingml/2006/main">
              <a:ext uri="{FF2B5EF4-FFF2-40B4-BE49-F238E27FC236}">
                <a16:creationId xmlns:a16="http://schemas.microsoft.com/office/drawing/2014/main" id="{A612D792-26C4-4C97-A917-89F32B37D0C7}"/>
              </a:ext>
            </a:extLst>
          </p:cNvPr>
          <p:cNvSpPr>
            <a:spLocks xmlns:a="http://schemas.openxmlformats.org/drawingml/2006/main" noGrp="1"/>
          </p:cNvSpPr>
          <p:nvPr/>
        </p:nvSpPr>
        <p:spPr>
          <a:xfrm xmlns:a="http://schemas.openxmlformats.org/drawingml/2006/main">
            <a:off x="10858500" y="6515100"/>
            <a:ext cx="647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72130970-8B76-410A-985B-8516196EEBBE}"/>
              </a:ext>
            </a:extLst>
          </p:cNvPr>
          <p:cNvSpPr>
            <a:spLocks xmlns:a="http://schemas.openxmlformats.org/drawingml/2006/main" noGrp="1"/>
          </p:cNvSpPr>
          <p:nvPr/>
        </p:nvSpPr>
        <p:spPr>
          <a:xfrm xmlns:a="http://schemas.openxmlformats.org/drawingml/2006/main">
            <a:off x="685800" y="514350"/>
            <a:ext cx="2714625" cy="266700"/>
          </a:xfrm>
          <a:prstGeom xmlns:a="http://schemas.openxmlformats.org/drawingml/2006/main" prst="roundRect">
            <a:avLst>
              <a:gd name="adj" fmla="val 50000"/>
            </a:avLst>
          </a:prstGeom>
          <a:solidFill xmlns:a="http://schemas.openxmlformats.org/drawingml/2006/main">
            <a:srgbClr val="F1F0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83BBB61-1371-41FF-88F5-CFDB1A3791C3}"/>
              </a:ext>
            </a:extLst>
          </p:cNvPr>
          <p:cNvSpPr>
            <a:spLocks xmlns:a="http://schemas.openxmlformats.org/drawingml/2006/main" noGrp="1"/>
          </p:cNvSpPr>
          <p:nvPr/>
        </p:nvSpPr>
        <p:spPr>
          <a:xfrm xmlns:a="http://schemas.openxmlformats.org/drawingml/2006/main">
            <a:off x="781050" y="571500"/>
            <a:ext cx="25241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DEVELOPMENT STAGES &amp; FUTURE SCOPE</a:t>
            </a:r>
          </a:p>
        </p:txBody>
      </p:sp>
      <p:sp>
        <p:nvSpPr>
          <p:cNvPr id="7" name="">
            <a:extLst xmlns:a="http://schemas.openxmlformats.org/drawingml/2006/main">
              <a:ext uri="{FF2B5EF4-FFF2-40B4-BE49-F238E27FC236}">
                <a16:creationId xmlns:a16="http://schemas.microsoft.com/office/drawing/2014/main" id="{324C1814-9586-47BE-AD27-7D9C8EF2DC70}"/>
              </a:ext>
            </a:extLst>
          </p:cNvPr>
          <p:cNvSpPr>
            <a:spLocks xmlns:a="http://schemas.openxmlformats.org/drawingml/2006/main" noGrp="1"/>
          </p:cNvSpPr>
          <p:nvPr/>
        </p:nvSpPr>
        <p:spPr>
          <a:xfrm xmlns:a="http://schemas.openxmlformats.org/drawingml/2006/main">
            <a:off x="685800" y="1000125"/>
            <a:ext cx="6810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0116"/>
          </a:bodyPr>
          <a:lstStyle xmlns:a="http://schemas.openxmlformats.org/drawingml/2006/main"/>
          <a:p xmlns:a="http://schemas.openxmlformats.org/drawingml/2006/main">
            <a:pPr algn="l">
              <a:lnSpc>
                <a:spcPct val="100000"/>
              </a:lnSpc>
              <a:buNone/>
              <a:defRPr sz="3225" b="1" i="0">
                <a:solidFill>
                  <a:srgbClr val="121522"/>
                </a:solidFill>
                <a:latin typeface="Arial"/>
                <a:ea typeface="Arial"/>
                <a:cs typeface="Arial"/>
              </a:defRPr>
            </a:pPr>
            <a:r>
              <a:rPr sz="3225" b="1" i="0">
                <a:solidFill>
                  <a:srgbClr val="121522"/>
                </a:solidFill>
                <a:latin typeface="Arial"/>
                <a:ea typeface="Arial"/>
                <a:cs typeface="Arial"/>
              </a:rPr>
              <a:t>The path from a working engine</a:t>
            </a:r>
          </a:p>
          <a:p xmlns:a="http://schemas.openxmlformats.org/drawingml/2006/main">
            <a:pPr algn="l">
              <a:lnSpc>
                <a:spcPct val="100000"/>
              </a:lnSpc>
              <a:buNone/>
              <a:defRPr sz="3225" b="1" i="0">
                <a:solidFill>
                  <a:srgbClr val="121522"/>
                </a:solidFill>
                <a:latin typeface="Arial"/>
                <a:ea typeface="Arial"/>
                <a:cs typeface="Arial"/>
              </a:defRPr>
            </a:pPr>
            <a:r>
              <a:rPr sz="3225" b="1" i="0">
                <a:solidFill>
                  <a:srgbClr val="121522"/>
                </a:solidFill>
                <a:latin typeface="Arial"/>
                <a:ea typeface="Arial"/>
                <a:cs typeface="Arial"/>
              </a:rPr>
              <a:t>to trusted security coverage</a:t>
            </a:r>
          </a:p>
        </p:txBody>
      </p:sp>
      <p:sp>
        <p:nvSpPr>
          <p:cNvPr id="8" name="">
            <a:extLst xmlns:a="http://schemas.openxmlformats.org/drawingml/2006/main">
              <a:ext uri="{FF2B5EF4-FFF2-40B4-BE49-F238E27FC236}">
                <a16:creationId xmlns:a16="http://schemas.microsoft.com/office/drawing/2014/main" id="{CC1468BC-A801-4F9E-A468-FD124C6958D9}"/>
              </a:ext>
            </a:extLst>
          </p:cNvPr>
          <p:cNvSpPr>
            <a:spLocks xmlns:a="http://schemas.openxmlformats.org/drawingml/2006/main" noGrp="1"/>
          </p:cNvSpPr>
          <p:nvPr/>
        </p:nvSpPr>
        <p:spPr>
          <a:xfrm xmlns:a="http://schemas.openxmlformats.org/drawingml/2006/main">
            <a:off x="685800" y="2105025"/>
            <a:ext cx="685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4339"/>
          </a:bodyPr>
          <a:lstStyle xmlns:a="http://schemas.openxmlformats.org/drawingml/2006/main"/>
          <a:p xmlns:a="http://schemas.openxmlformats.org/drawingml/2006/main">
            <a:pPr algn="l">
              <a:lnSpc>
                <a:spcPct val="112000"/>
              </a:lnSpc>
              <a:buNone/>
              <a:defRPr sz="1425" b="0" i="0">
                <a:solidFill>
                  <a:srgbClr val="626A7C"/>
                </a:solidFill>
                <a:latin typeface="Arial"/>
                <a:ea typeface="Arial"/>
                <a:cs typeface="Arial"/>
              </a:defRPr>
            </a:pPr>
            <a:r>
              <a:rPr sz="1425" b="0" i="0">
                <a:solidFill>
                  <a:srgbClr val="626A7C"/>
                </a:solidFill>
                <a:latin typeface="Arial"/>
                <a:ea typeface="Arial"/>
                <a:cs typeface="Arial"/>
              </a:rPr>
              <a:t>The roadmap prioritizes measurable accuracy and clear coverage boundaries before product breadth.</a:t>
            </a:r>
          </a:p>
        </p:txBody>
      </p:sp>
      <p:sp>
        <p:nvSpPr>
          <p:cNvPr id="9" name="">
            <a:extLst xmlns:a="http://schemas.openxmlformats.org/drawingml/2006/main">
              <a:ext uri="{FF2B5EF4-FFF2-40B4-BE49-F238E27FC236}">
                <a16:creationId xmlns:a16="http://schemas.microsoft.com/office/drawing/2014/main" id="{2B7D1DB9-6771-4F6D-AF17-BA6EDB81174E}"/>
              </a:ext>
            </a:extLst>
          </p:cNvPr>
          <p:cNvSpPr>
            <a:spLocks xmlns:a="http://schemas.openxmlformats.org/drawingml/2006/main" noGrp="1"/>
          </p:cNvSpPr>
          <p:nvPr/>
        </p:nvSpPr>
        <p:spPr>
          <a:xfrm xmlns:a="http://schemas.openxmlformats.org/drawingml/2006/main">
            <a:off x="685800" y="3086100"/>
            <a:ext cx="3238500" cy="2181225"/>
          </a:xfrm>
          <a:prstGeom xmlns:a="http://schemas.openxmlformats.org/drawingml/2006/main" prst="roundRect">
            <a:avLst>
              <a:gd name="adj" fmla="val 6987"/>
            </a:avLst>
          </a:prstGeom>
          <a:solidFill xmlns:a="http://schemas.openxmlformats.org/drawingml/2006/main">
            <a:srgbClr val="F1F0FF"/>
          </a:solidFill>
          <a:ln xmlns:a="http://schemas.openxmlformats.org/drawingml/2006/main" w="9525">
            <a:solidFill>
              <a:srgbClr val="DEE1EC"/>
            </a:solidFill>
            <a:prstDash val="solid"/>
          </a:ln>
        </p:spPr>
      </p:sp>
      <p:sp>
        <p:nvSpPr>
          <p:cNvPr id="10" name="">
            <a:extLst xmlns:a="http://schemas.openxmlformats.org/drawingml/2006/main">
              <a:ext uri="{FF2B5EF4-FFF2-40B4-BE49-F238E27FC236}">
                <a16:creationId xmlns:a16="http://schemas.microsoft.com/office/drawing/2014/main" id="{7220F9C9-6C40-4873-8D83-C6D20ADD5368}"/>
              </a:ext>
            </a:extLst>
          </p:cNvPr>
          <p:cNvSpPr>
            <a:spLocks xmlns:a="http://schemas.openxmlformats.org/drawingml/2006/main" noGrp="1"/>
          </p:cNvSpPr>
          <p:nvPr/>
        </p:nvSpPr>
        <p:spPr>
          <a:xfrm xmlns:a="http://schemas.openxmlformats.org/drawingml/2006/main">
            <a:off x="914400" y="3314700"/>
            <a:ext cx="723900" cy="266700"/>
          </a:xfrm>
          <a:prstGeom xmlns:a="http://schemas.openxmlformats.org/drawingml/2006/main" prst="roundRect">
            <a:avLst>
              <a:gd name="adj" fmla="val 50000"/>
            </a:avLst>
          </a:prstGeom>
          <a:solidFill xmlns:a="http://schemas.openxmlformats.org/drawingml/2006/main">
            <a:srgbClr val="F1F0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43BCB3F-4FE3-4326-85A4-046765A92FD9}"/>
              </a:ext>
            </a:extLst>
          </p:cNvPr>
          <p:cNvSpPr>
            <a:spLocks xmlns:a="http://schemas.openxmlformats.org/drawingml/2006/main" noGrp="1"/>
          </p:cNvSpPr>
          <p:nvPr/>
        </p:nvSpPr>
        <p:spPr>
          <a:xfrm xmlns:a="http://schemas.openxmlformats.org/drawingml/2006/main">
            <a:off x="1009650" y="3371850"/>
            <a:ext cx="5334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NOW</a:t>
            </a:r>
          </a:p>
        </p:txBody>
      </p:sp>
      <p:sp>
        <p:nvSpPr>
          <p:cNvPr id="12" name="">
            <a:extLst xmlns:a="http://schemas.openxmlformats.org/drawingml/2006/main">
              <a:ext uri="{FF2B5EF4-FFF2-40B4-BE49-F238E27FC236}">
                <a16:creationId xmlns:a16="http://schemas.microsoft.com/office/drawing/2014/main" id="{CE5E2603-6EB7-44B6-9131-4362B25CD9D0}"/>
              </a:ext>
            </a:extLst>
          </p:cNvPr>
          <p:cNvSpPr>
            <a:spLocks xmlns:a="http://schemas.openxmlformats.org/drawingml/2006/main" noGrp="1"/>
          </p:cNvSpPr>
          <p:nvPr/>
        </p:nvSpPr>
        <p:spPr>
          <a:xfrm xmlns:a="http://schemas.openxmlformats.org/drawingml/2006/main">
            <a:off x="914400" y="3771900"/>
            <a:ext cx="2724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4697"/>
          </a:bodyPr>
          <a:lstStyle xmlns:a="http://schemas.openxmlformats.org/drawingml/2006/main"/>
          <a:p xmlns:a="http://schemas.openxmlformats.org/drawingml/2006/main">
            <a:pPr algn="l">
              <a:lnSpc>
                <a:spcPct val="112000"/>
              </a:lnSpc>
              <a:buNone/>
              <a:defRPr sz="1650" b="1" i="0">
                <a:solidFill>
                  <a:srgbClr val="121522"/>
                </a:solidFill>
                <a:latin typeface="Arial"/>
                <a:ea typeface="Arial"/>
                <a:cs typeface="Arial"/>
              </a:defRPr>
            </a:pPr>
            <a:r>
              <a:rPr sz="1650" b="1" i="0">
                <a:solidFill>
                  <a:srgbClr val="121522"/>
                </a:solidFill>
                <a:latin typeface="Arial"/>
                <a:ea typeface="Arial"/>
                <a:cs typeface="Arial"/>
              </a:rPr>
              <a:t>Vertical slice</a:t>
            </a:r>
          </a:p>
        </p:txBody>
      </p:sp>
      <p:sp>
        <p:nvSpPr>
          <p:cNvPr id="13" name="">
            <a:extLst xmlns:a="http://schemas.openxmlformats.org/drawingml/2006/main">
              <a:ext uri="{FF2B5EF4-FFF2-40B4-BE49-F238E27FC236}">
                <a16:creationId xmlns:a16="http://schemas.microsoft.com/office/drawing/2014/main" id="{5FAC67C3-B0EB-4662-B882-EB2C695EF0ED}"/>
              </a:ext>
            </a:extLst>
          </p:cNvPr>
          <p:cNvSpPr>
            <a:spLocks xmlns:a="http://schemas.openxmlformats.org/drawingml/2006/main" noGrp="1"/>
          </p:cNvSpPr>
          <p:nvPr/>
        </p:nvSpPr>
        <p:spPr>
          <a:xfrm xmlns:a="http://schemas.openxmlformats.org/drawingml/2006/main">
            <a:off x="914400" y="4210050"/>
            <a:ext cx="27241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8978"/>
          </a:bodyPr>
          <a:lstStyle xmlns:a="http://schemas.openxmlformats.org/drawingml/2006/main"/>
          <a:p xmlns:a="http://schemas.openxmlformats.org/drawingml/2006/main">
            <a:pPr algn="l">
              <a:lnSpc>
                <a:spcPct val="120000"/>
              </a:lnSpc>
              <a:buNone/>
              <a:defRPr sz="1200" b="0" i="0">
                <a:solidFill>
                  <a:srgbClr val="626A7C"/>
                </a:solidFill>
                <a:latin typeface="Arial"/>
                <a:ea typeface="Arial"/>
                <a:cs typeface="Arial"/>
              </a:defRPr>
            </a:pPr>
            <a:r>
              <a:rPr sz="1200" b="0" i="0">
                <a:solidFill>
                  <a:srgbClr val="626A7C"/>
                </a:solidFill>
                <a:latin typeface="Arial"/>
                <a:ea typeface="Arial"/>
                <a:cs typeface="Arial"/>
              </a:rPr>
              <a:t>JS/TS Express parsing; BOLA, sensitive business-flow, injection and credential hypotheses; decision ledger; review workflow</a:t>
            </a:r>
          </a:p>
        </p:txBody>
      </p:sp>
      <p:sp>
        <p:nvSpPr>
          <p:cNvPr id="14" name="">
            <a:extLst xmlns:a="http://schemas.openxmlformats.org/drawingml/2006/main">
              <a:ext uri="{FF2B5EF4-FFF2-40B4-BE49-F238E27FC236}">
                <a16:creationId xmlns:a16="http://schemas.microsoft.com/office/drawing/2014/main" id="{3FF205FA-C4A8-475B-AE04-CBB9661D2501}"/>
              </a:ext>
            </a:extLst>
          </p:cNvPr>
          <p:cNvSpPr>
            <a:spLocks xmlns:a="http://schemas.openxmlformats.org/drawingml/2006/main" noGrp="1"/>
          </p:cNvSpPr>
          <p:nvPr/>
        </p:nvSpPr>
        <p:spPr>
          <a:xfrm xmlns:a="http://schemas.openxmlformats.org/drawingml/2006/main">
            <a:off x="4324350" y="3086100"/>
            <a:ext cx="3238500" cy="2181225"/>
          </a:xfrm>
          <a:prstGeom xmlns:a="http://schemas.openxmlformats.org/drawingml/2006/main" prst="roundRect">
            <a:avLst>
              <a:gd name="adj" fmla="val 6987"/>
            </a:avLst>
          </a:prstGeom>
          <a:solidFill xmlns:a="http://schemas.openxmlformats.org/drawingml/2006/main">
            <a:srgbClr val="FFF3E4"/>
          </a:solidFill>
          <a:ln xmlns:a="http://schemas.openxmlformats.org/drawingml/2006/main" w="9525">
            <a:solidFill>
              <a:srgbClr val="DEE1EC"/>
            </a:solidFill>
            <a:prstDash val="solid"/>
          </a:ln>
        </p:spPr>
      </p:sp>
      <p:sp>
        <p:nvSpPr>
          <p:cNvPr id="15" name="">
            <a:extLst xmlns:a="http://schemas.openxmlformats.org/drawingml/2006/main">
              <a:ext uri="{FF2B5EF4-FFF2-40B4-BE49-F238E27FC236}">
                <a16:creationId xmlns:a16="http://schemas.microsoft.com/office/drawing/2014/main" id="{717FBC47-26E9-4A50-99D2-486CFD51EA80}"/>
              </a:ext>
            </a:extLst>
          </p:cNvPr>
          <p:cNvSpPr>
            <a:spLocks xmlns:a="http://schemas.openxmlformats.org/drawingml/2006/main" noGrp="1"/>
          </p:cNvSpPr>
          <p:nvPr/>
        </p:nvSpPr>
        <p:spPr>
          <a:xfrm xmlns:a="http://schemas.openxmlformats.org/drawingml/2006/main">
            <a:off x="4552950" y="3314700"/>
            <a:ext cx="723900" cy="266700"/>
          </a:xfrm>
          <a:prstGeom xmlns:a="http://schemas.openxmlformats.org/drawingml/2006/main" prst="roundRect">
            <a:avLst>
              <a:gd name="adj" fmla="val 50000"/>
            </a:avLst>
          </a:prstGeom>
          <a:solidFill xmlns:a="http://schemas.openxmlformats.org/drawingml/2006/main">
            <a:srgbClr val="FFF3E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6087DCF-3D4F-47CA-A2C1-FEB32CD279BB}"/>
              </a:ext>
            </a:extLst>
          </p:cNvPr>
          <p:cNvSpPr>
            <a:spLocks xmlns:a="http://schemas.openxmlformats.org/drawingml/2006/main" noGrp="1"/>
          </p:cNvSpPr>
          <p:nvPr/>
        </p:nvSpPr>
        <p:spPr>
          <a:xfrm xmlns:a="http://schemas.openxmlformats.org/drawingml/2006/main">
            <a:off x="4648200" y="3371850"/>
            <a:ext cx="5334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825" b="1" i="0">
                <a:solidFill>
                  <a:srgbClr val="C36A12"/>
                </a:solidFill>
                <a:latin typeface="Arial"/>
                <a:ea typeface="Arial"/>
                <a:cs typeface="Arial"/>
              </a:defRPr>
            </a:pPr>
            <a:r>
              <a:rPr sz="825" b="1" i="0">
                <a:solidFill>
                  <a:srgbClr val="C36A12"/>
                </a:solidFill>
                <a:latin typeface="Arial"/>
                <a:ea typeface="Arial"/>
                <a:cs typeface="Arial"/>
              </a:rPr>
              <a:t>NEXT</a:t>
            </a:r>
          </a:p>
        </p:txBody>
      </p:sp>
      <p:sp>
        <p:nvSpPr>
          <p:cNvPr id="17" name="">
            <a:extLst xmlns:a="http://schemas.openxmlformats.org/drawingml/2006/main">
              <a:ext uri="{FF2B5EF4-FFF2-40B4-BE49-F238E27FC236}">
                <a16:creationId xmlns:a16="http://schemas.microsoft.com/office/drawing/2014/main" id="{F180BE74-CFCB-4A97-ACDA-736FE2659103}"/>
              </a:ext>
            </a:extLst>
          </p:cNvPr>
          <p:cNvSpPr>
            <a:spLocks xmlns:a="http://schemas.openxmlformats.org/drawingml/2006/main" noGrp="1"/>
          </p:cNvSpPr>
          <p:nvPr/>
        </p:nvSpPr>
        <p:spPr>
          <a:xfrm xmlns:a="http://schemas.openxmlformats.org/drawingml/2006/main">
            <a:off x="4552950" y="3771900"/>
            <a:ext cx="2724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4697"/>
          </a:bodyPr>
          <a:lstStyle xmlns:a="http://schemas.openxmlformats.org/drawingml/2006/main"/>
          <a:p xmlns:a="http://schemas.openxmlformats.org/drawingml/2006/main">
            <a:pPr algn="l">
              <a:lnSpc>
                <a:spcPct val="112000"/>
              </a:lnSpc>
              <a:buNone/>
              <a:defRPr sz="1650" b="1" i="0">
                <a:solidFill>
                  <a:srgbClr val="121522"/>
                </a:solidFill>
                <a:latin typeface="Arial"/>
                <a:ea typeface="Arial"/>
                <a:cs typeface="Arial"/>
              </a:defRPr>
            </a:pPr>
            <a:r>
              <a:rPr sz="1650" b="1" i="0">
                <a:solidFill>
                  <a:srgbClr val="121522"/>
                </a:solidFill>
                <a:latin typeface="Arial"/>
                <a:ea typeface="Arial"/>
                <a:cs typeface="Arial"/>
              </a:rPr>
              <a:t>Stronger policy verification</a:t>
            </a:r>
          </a:p>
        </p:txBody>
      </p:sp>
      <p:sp>
        <p:nvSpPr>
          <p:cNvPr id="18" name="">
            <a:extLst xmlns:a="http://schemas.openxmlformats.org/drawingml/2006/main">
              <a:ext uri="{FF2B5EF4-FFF2-40B4-BE49-F238E27FC236}">
                <a16:creationId xmlns:a16="http://schemas.microsoft.com/office/drawing/2014/main" id="{C90106F5-4DDE-47A1-A9AD-9A5CB33067AA}"/>
              </a:ext>
            </a:extLst>
          </p:cNvPr>
          <p:cNvSpPr>
            <a:spLocks xmlns:a="http://schemas.openxmlformats.org/drawingml/2006/main" noGrp="1"/>
          </p:cNvSpPr>
          <p:nvPr/>
        </p:nvSpPr>
        <p:spPr>
          <a:xfrm xmlns:a="http://schemas.openxmlformats.org/drawingml/2006/main">
            <a:off x="4552950" y="4210050"/>
            <a:ext cx="27241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2684"/>
          </a:bodyPr>
          <a:lstStyle xmlns:a="http://schemas.openxmlformats.org/drawingml/2006/main"/>
          <a:p xmlns:a="http://schemas.openxmlformats.org/drawingml/2006/main">
            <a:pPr algn="l">
              <a:lnSpc>
                <a:spcPct val="120000"/>
              </a:lnSpc>
              <a:buNone/>
              <a:defRPr sz="1200" b="0" i="0">
                <a:solidFill>
                  <a:srgbClr val="626A7C"/>
                </a:solidFill>
                <a:latin typeface="Arial"/>
                <a:ea typeface="Arial"/>
                <a:cs typeface="Arial"/>
              </a:defRPr>
            </a:pPr>
            <a:r>
              <a:rPr sz="1200" b="0" i="0">
                <a:solidFill>
                  <a:srgbClr val="626A7C"/>
                </a:solidFill>
                <a:latin typeface="Arial"/>
                <a:ea typeface="Arial"/>
                <a:cs typeface="Arial"/>
              </a:rPr>
              <a:t>Typed actor and tenant policies; framework and ORM adapters; call/return propagation; dominance-aware authorization</a:t>
            </a:r>
          </a:p>
        </p:txBody>
      </p:sp>
      <p:sp>
        <p:nvSpPr>
          <p:cNvPr id="19" name="">
            <a:extLst xmlns:a="http://schemas.openxmlformats.org/drawingml/2006/main">
              <a:ext uri="{FF2B5EF4-FFF2-40B4-BE49-F238E27FC236}">
                <a16:creationId xmlns:a16="http://schemas.microsoft.com/office/drawing/2014/main" id="{E68D6377-7AEF-4B93-A8C7-0C512601297F}"/>
              </a:ext>
            </a:extLst>
          </p:cNvPr>
          <p:cNvSpPr>
            <a:spLocks xmlns:a="http://schemas.openxmlformats.org/drawingml/2006/main" noGrp="1"/>
          </p:cNvSpPr>
          <p:nvPr/>
        </p:nvSpPr>
        <p:spPr>
          <a:xfrm xmlns:a="http://schemas.openxmlformats.org/drawingml/2006/main">
            <a:off x="7962900" y="3086100"/>
            <a:ext cx="3238500" cy="2181225"/>
          </a:xfrm>
          <a:prstGeom xmlns:a="http://schemas.openxmlformats.org/drawingml/2006/main" prst="roundRect">
            <a:avLst>
              <a:gd name="adj" fmla="val 6987"/>
            </a:avLst>
          </a:prstGeom>
          <a:solidFill xmlns:a="http://schemas.openxmlformats.org/drawingml/2006/main">
            <a:srgbClr val="E7F7F4"/>
          </a:solidFill>
          <a:ln xmlns:a="http://schemas.openxmlformats.org/drawingml/2006/main" w="9525">
            <a:solidFill>
              <a:srgbClr val="DEE1EC"/>
            </a:solidFill>
            <a:prstDash val="solid"/>
          </a:ln>
        </p:spPr>
      </p:sp>
      <p:sp>
        <p:nvSpPr>
          <p:cNvPr id="20" name="">
            <a:extLst xmlns:a="http://schemas.openxmlformats.org/drawingml/2006/main">
              <a:ext uri="{FF2B5EF4-FFF2-40B4-BE49-F238E27FC236}">
                <a16:creationId xmlns:a16="http://schemas.microsoft.com/office/drawing/2014/main" id="{FFAD5E54-BEF8-4A6A-B6F5-16F971C8E616}"/>
              </a:ext>
            </a:extLst>
          </p:cNvPr>
          <p:cNvSpPr>
            <a:spLocks xmlns:a="http://schemas.openxmlformats.org/drawingml/2006/main" noGrp="1"/>
          </p:cNvSpPr>
          <p:nvPr/>
        </p:nvSpPr>
        <p:spPr>
          <a:xfrm xmlns:a="http://schemas.openxmlformats.org/drawingml/2006/main">
            <a:off x="8191500" y="3314700"/>
            <a:ext cx="723900" cy="266700"/>
          </a:xfrm>
          <a:prstGeom xmlns:a="http://schemas.openxmlformats.org/drawingml/2006/main" prst="roundRect">
            <a:avLst>
              <a:gd name="adj" fmla="val 50000"/>
            </a:avLst>
          </a:prstGeom>
          <a:solidFill xmlns:a="http://schemas.openxmlformats.org/drawingml/2006/main">
            <a:srgbClr val="E7F7F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920FE9B-15FE-45F5-8966-20186C16FD98}"/>
              </a:ext>
            </a:extLst>
          </p:cNvPr>
          <p:cNvSpPr>
            <a:spLocks xmlns:a="http://schemas.openxmlformats.org/drawingml/2006/main" noGrp="1"/>
          </p:cNvSpPr>
          <p:nvPr/>
        </p:nvSpPr>
        <p:spPr>
          <a:xfrm xmlns:a="http://schemas.openxmlformats.org/drawingml/2006/main">
            <a:off x="8286750" y="3371850"/>
            <a:ext cx="5334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825" b="1" i="0">
                <a:solidFill>
                  <a:srgbClr val="087A71"/>
                </a:solidFill>
                <a:latin typeface="Arial"/>
                <a:ea typeface="Arial"/>
                <a:cs typeface="Arial"/>
              </a:defRPr>
            </a:pPr>
            <a:r>
              <a:rPr sz="825" b="1" i="0">
                <a:solidFill>
                  <a:srgbClr val="087A71"/>
                </a:solidFill>
                <a:latin typeface="Arial"/>
                <a:ea typeface="Arial"/>
                <a:cs typeface="Arial"/>
              </a:rPr>
              <a:t>THEN</a:t>
            </a:r>
          </a:p>
        </p:txBody>
      </p:sp>
      <p:sp>
        <p:nvSpPr>
          <p:cNvPr id="22" name="">
            <a:extLst xmlns:a="http://schemas.openxmlformats.org/drawingml/2006/main">
              <a:ext uri="{FF2B5EF4-FFF2-40B4-BE49-F238E27FC236}">
                <a16:creationId xmlns:a16="http://schemas.microsoft.com/office/drawing/2014/main" id="{481399A3-6C18-4D01-A211-03FF53A2D035}"/>
              </a:ext>
            </a:extLst>
          </p:cNvPr>
          <p:cNvSpPr>
            <a:spLocks xmlns:a="http://schemas.openxmlformats.org/drawingml/2006/main" noGrp="1"/>
          </p:cNvSpPr>
          <p:nvPr/>
        </p:nvSpPr>
        <p:spPr>
          <a:xfrm xmlns:a="http://schemas.openxmlformats.org/drawingml/2006/main">
            <a:off x="8191500" y="3771900"/>
            <a:ext cx="2724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4697"/>
          </a:bodyPr>
          <a:lstStyle xmlns:a="http://schemas.openxmlformats.org/drawingml/2006/main"/>
          <a:p xmlns:a="http://schemas.openxmlformats.org/drawingml/2006/main">
            <a:pPr algn="l">
              <a:lnSpc>
                <a:spcPct val="112000"/>
              </a:lnSpc>
              <a:buNone/>
              <a:defRPr sz="1650" b="1" i="0">
                <a:solidFill>
                  <a:srgbClr val="121522"/>
                </a:solidFill>
                <a:latin typeface="Arial"/>
                <a:ea typeface="Arial"/>
                <a:cs typeface="Arial"/>
              </a:defRPr>
            </a:pPr>
            <a:r>
              <a:rPr sz="1650" b="1" i="0">
                <a:solidFill>
                  <a:srgbClr val="121522"/>
                </a:solidFill>
                <a:latin typeface="Arial"/>
                <a:ea typeface="Arial"/>
                <a:cs typeface="Arial"/>
              </a:rPr>
              <a:t>Workflow and validation</a:t>
            </a:r>
          </a:p>
        </p:txBody>
      </p:sp>
      <p:sp>
        <p:nvSpPr>
          <p:cNvPr id="23" name="">
            <a:extLst xmlns:a="http://schemas.openxmlformats.org/drawingml/2006/main">
              <a:ext uri="{FF2B5EF4-FFF2-40B4-BE49-F238E27FC236}">
                <a16:creationId xmlns:a16="http://schemas.microsoft.com/office/drawing/2014/main" id="{380FF3CF-33EB-42EB-BC1D-96F4FD5271CE}"/>
              </a:ext>
            </a:extLst>
          </p:cNvPr>
          <p:cNvSpPr>
            <a:spLocks xmlns:a="http://schemas.openxmlformats.org/drawingml/2006/main" noGrp="1"/>
          </p:cNvSpPr>
          <p:nvPr/>
        </p:nvSpPr>
        <p:spPr>
          <a:xfrm xmlns:a="http://schemas.openxmlformats.org/drawingml/2006/main">
            <a:off x="8191500" y="4210050"/>
            <a:ext cx="27241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8916"/>
          </a:bodyPr>
          <a:lstStyle xmlns:a="http://schemas.openxmlformats.org/drawingml/2006/main"/>
          <a:p xmlns:a="http://schemas.openxmlformats.org/drawingml/2006/main">
            <a:pPr algn="l">
              <a:lnSpc>
                <a:spcPct val="120000"/>
              </a:lnSpc>
              <a:buNone/>
              <a:defRPr sz="1200" b="0" i="0">
                <a:solidFill>
                  <a:srgbClr val="626A7C"/>
                </a:solidFill>
                <a:latin typeface="Arial"/>
                <a:ea typeface="Arial"/>
                <a:cs typeface="Arial"/>
              </a:defRPr>
            </a:pPr>
            <a:r>
              <a:rPr sz="1200" b="0" i="0">
                <a:solidFill>
                  <a:srgbClr val="626A7C"/>
                </a:solidFill>
                <a:latin typeface="Arial"/>
                <a:ea typeface="Arial"/>
                <a:cs typeface="Arial"/>
              </a:rPr>
              <a:t>Multi-step state transitions; held-out evaluation; approved sandbox validation; remediation proposals and incremental scans</a:t>
            </a:r>
          </a:p>
        </p:txBody>
      </p:sp>
      <p:cxnSp>
        <p:nvCxnSpPr>
          <p:cNvPr id="52" name=""/>
          <p:cNvCxnSpPr>
            <a:stCxn xmlns:a="http://schemas.openxmlformats.org/drawingml/2006/main" id="9" idx="3"/>
            <a:endCxn xmlns:a="http://schemas.openxmlformats.org/drawingml/2006/main" id="14" idx="1"/>
          </p:cNvCxnSpPr>
          <p:nvPr/>
        </p:nvCxnSpPr>
        <p:spPr>
          <a:xfrm xmlns:a="http://schemas.openxmlformats.org/drawingml/2006/main">
            <a:off x="3924300" y="4176713"/>
            <a:ext cx="400050" cy="0"/>
          </a:xfrm>
          <a:prstGeom xmlns:a="http://schemas.openxmlformats.org/drawingml/2006/main" prst="straightConnector1">
            <a:avLst/>
          </a:prstGeom>
          <a:ln xmlns:a="http://schemas.openxmlformats.org/drawingml/2006/main" w="19050">
            <a:solidFill>
              <a:srgbClr val="7C71FF"/>
            </a:solidFill>
            <a:prstDash val="solid"/>
            <a:tailEnd type="triangle" w="sm" len="sm"/>
          </a:ln>
        </p:spPr>
      </p:cxnSp>
      <p:cxnSp>
        <p:nvCxnSpPr>
          <p:cNvPr id="53" name=""/>
          <p:cNvCxnSpPr>
            <a:stCxn xmlns:a="http://schemas.openxmlformats.org/drawingml/2006/main" id="14" idx="3"/>
            <a:endCxn xmlns:a="http://schemas.openxmlformats.org/drawingml/2006/main" id="19" idx="1"/>
          </p:cNvCxnSpPr>
          <p:nvPr/>
        </p:nvCxnSpPr>
        <p:spPr>
          <a:xfrm xmlns:a="http://schemas.openxmlformats.org/drawingml/2006/main">
            <a:off x="7562850" y="4176713"/>
            <a:ext cx="400050" cy="0"/>
          </a:xfrm>
          <a:prstGeom xmlns:a="http://schemas.openxmlformats.org/drawingml/2006/main" prst="straightConnector1">
            <a:avLst/>
          </a:prstGeom>
          <a:ln xmlns:a="http://schemas.openxmlformats.org/drawingml/2006/main" w="19050">
            <a:solidFill>
              <a:srgbClr val="7C71FF"/>
            </a:solidFill>
            <a:prstDash val="solid"/>
            <a:tailEnd type="triangle" w="sm" len="sm"/>
          </a:ln>
        </p:spPr>
      </p:cxnSp>
      <p:sp>
        <p:nvSpPr>
          <p:cNvPr id="26" name="">
            <a:extLst xmlns:a="http://schemas.openxmlformats.org/drawingml/2006/main">
              <a:ext uri="{FF2B5EF4-FFF2-40B4-BE49-F238E27FC236}">
                <a16:creationId xmlns:a16="http://schemas.microsoft.com/office/drawing/2014/main" id="{EDDDEFC9-A0EE-4C76-B371-E2217BE5A90E}"/>
              </a:ext>
            </a:extLst>
          </p:cNvPr>
          <p:cNvSpPr>
            <a:spLocks xmlns:a="http://schemas.openxmlformats.org/drawingml/2006/main" noGrp="1"/>
          </p:cNvSpPr>
          <p:nvPr/>
        </p:nvSpPr>
        <p:spPr>
          <a:xfrm xmlns:a="http://schemas.openxmlformats.org/drawingml/2006/main">
            <a:off x="685800" y="5619750"/>
            <a:ext cx="95059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74925"/>
          </a:bodyPr>
          <a:lstStyle xmlns:a="http://schemas.openxmlformats.org/drawingml/2006/main"/>
          <a:p xmlns:a="http://schemas.openxmlformats.org/drawingml/2006/main">
            <a:pPr algn="l">
              <a:lnSpc>
                <a:spcPct val="118000"/>
              </a:lnSpc>
              <a:buNone/>
              <a:defRPr sz="1350" b="1" i="0">
                <a:solidFill>
                  <a:srgbClr val="121522"/>
                </a:solidFill>
                <a:latin typeface="Arial"/>
                <a:ea typeface="Arial"/>
                <a:cs typeface="Arial"/>
              </a:defRPr>
            </a:pPr>
            <a:r>
              <a:rPr sz="1350" b="1" i="0">
                <a:solidFill>
                  <a:srgbClr val="121522"/>
                </a:solidFill>
                <a:latin typeface="Arial"/>
                <a:ea typeface="Arial"/>
                <a:cs typeface="Arial"/>
              </a:rPr>
              <a:t>Review focus: the next proof point is a frozen evaluation set showing where the engine reports correctly, where it does not, and what remains unsupported.</a:t>
            </a:r>
          </a:p>
        </p:txBody>
      </p:sp>
      <p:sp>
        <p:nvSpPr>
          <p:cNvPr id="27" name="">
            <a:extLst xmlns:a="http://schemas.openxmlformats.org/drawingml/2006/main">
              <a:ext uri="{FF2B5EF4-FFF2-40B4-BE49-F238E27FC236}">
                <a16:creationId xmlns:a16="http://schemas.microsoft.com/office/drawing/2014/main" id="{914197E2-8A97-45F3-9975-483BA87EC166}"/>
              </a:ext>
            </a:extLst>
          </p:cNvPr>
          <p:cNvSpPr>
            <a:spLocks xmlns:a="http://schemas.openxmlformats.org/drawingml/2006/main" noGrp="1"/>
          </p:cNvSpPr>
          <p:nvPr/>
        </p:nvSpPr>
        <p:spPr>
          <a:xfrm xmlns:a="http://schemas.openxmlformats.org/drawingml/2006/main">
            <a:off x="685800" y="6076950"/>
            <a:ext cx="11049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2237"/>
          </a:bodyPr>
          <a:lstStyle xmlns:a="http://schemas.openxmlformats.org/drawingml/2006/main"/>
          <a:p xmlns:a="http://schemas.openxmlformats.org/drawingml/2006/main">
            <a:pPr algn="l">
              <a:lnSpc>
                <a:spcPct val="112000"/>
              </a:lnSpc>
              <a:buNone/>
              <a:defRPr sz="1425" b="1" i="0">
                <a:solidFill>
                  <a:srgbClr val="5646E8"/>
                </a:solidFill>
                <a:latin typeface="Arial"/>
                <a:ea typeface="Arial"/>
                <a:cs typeface="Arial"/>
              </a:defRPr>
            </a:pPr>
            <a:r>
              <a:rPr sz="1425" b="1" i="0">
                <a:solidFill>
                  <a:srgbClr val="5646E8"/>
                </a:solidFill>
                <a:latin typeface="Arial"/>
                <a:ea typeface="Arial"/>
                <a:cs typeface="Arial"/>
              </a:rPr>
              <a:t>INVARIA</a:t>
            </a:r>
          </a:p>
        </p:txBody>
      </p:sp>
      <p:sp>
        <p:nvSpPr>
          <p:cNvPr id="28" name="">
            <a:extLst xmlns:a="http://schemas.openxmlformats.org/drawingml/2006/main">
              <a:ext uri="{FF2B5EF4-FFF2-40B4-BE49-F238E27FC236}">
                <a16:creationId xmlns:a16="http://schemas.microsoft.com/office/drawing/2014/main" id="{092B74F4-F903-4F79-96CF-85BF838C7AA3}"/>
              </a:ext>
            </a:extLst>
          </p:cNvPr>
          <p:cNvSpPr>
            <a:spLocks xmlns:a="http://schemas.openxmlformats.org/drawingml/2006/main" noGrp="1"/>
          </p:cNvSpPr>
          <p:nvPr/>
        </p:nvSpPr>
        <p:spPr>
          <a:xfrm xmlns:a="http://schemas.openxmlformats.org/drawingml/2006/main">
            <a:off x="1952625" y="6086475"/>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3006"/>
          </a:bodyPr>
          <a:lstStyle xmlns:a="http://schemas.openxmlformats.org/drawingml/2006/main"/>
          <a:p xmlns:a="http://schemas.openxmlformats.org/drawingml/2006/main">
            <a:pPr algn="l">
              <a:lnSpc>
                <a:spcPct val="112000"/>
              </a:lnSpc>
              <a:buNone/>
              <a:defRPr sz="1200" b="0" i="0">
                <a:solidFill>
                  <a:srgbClr val="626A7C"/>
                </a:solidFill>
                <a:latin typeface="Arial"/>
                <a:ea typeface="Arial"/>
                <a:cs typeface="Arial"/>
              </a:defRPr>
            </a:pPr>
            <a:r>
              <a:rPr sz="1200" b="0" i="0">
                <a:solidFill>
                  <a:srgbClr val="626A7C"/>
                </a:solidFill>
                <a:latin typeface="Arial"/>
                <a:ea typeface="Arial"/>
                <a:cs typeface="Arial"/>
              </a:rPr>
              <a:t>Evidence first. Human judgment retained.</a:t>
            </a:r>
          </a:p>
        </p:txBody>
      </p:sp>
    </p:spTree>
    <p:extLst>
      <p:ext uri="{BB962C8B-B14F-4D97-AF65-F5344CB8AC3E}">
        <p14:creationId xmlns:p14="http://schemas.microsoft.com/office/powerpoint/2010/main" val="15850380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2026-09-23T20:19:54.6800000Z</dcterms:created>
  <dcterms:modified xsi:type="dcterms:W3CDTF">2026-09-23T20:19:54.6810000Z</dcterms:modified>
</coreProperties>
</file>