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aadbb248844265" /><Relationship Type="http://schemas.openxmlformats.org/officeDocument/2006/relationships/extended-properties" Target="/docProps/app.xml" Id="Rdda433a787ae4853" /><Relationship Type="http://schemas.openxmlformats.org/officeDocument/2006/relationships/officeDocument" Target="/ppt/presentation.xml" Id="R82c89c69f0c646b0" /></Relationships>
</file>

<file path=ppt/presentation.xml><?xml version="1.0" encoding="utf-8"?>
<p:presentation xmlns:p="http://schemas.openxmlformats.org/presentationml/2006/main">
  <p:sldMasterIdLst>
    <p:sldMasterId xmlns:r="http://schemas.openxmlformats.org/officeDocument/2006/relationships" id="2147483648" r:id="R58fc169a40e74ae6"/>
  </p:sldMasterIdLst>
  <p:notesMasterIdLst>
    <p:notesMasterId xmlns:r="http://schemas.openxmlformats.org/officeDocument/2006/relationships" r:id="R8c561d29ed0f4bb0"/>
  </p:notesMasterIdLst>
  <p:sldIdLst>
    <p:sldId xmlns:r="http://schemas.openxmlformats.org/officeDocument/2006/relationships" id="256" r:id="Rb7cbc2fb21c044ca"/>
    <p:sldId xmlns:r="http://schemas.openxmlformats.org/officeDocument/2006/relationships" id="257" r:id="Re8c6de892a944fb7"/>
    <p:sldId xmlns:r="http://schemas.openxmlformats.org/officeDocument/2006/relationships" id="258" r:id="R3a4bbad9d35a4d95"/>
    <p:sldId xmlns:r="http://schemas.openxmlformats.org/officeDocument/2006/relationships" id="259" r:id="R237de46cc5b14394"/>
    <p:sldId xmlns:r="http://schemas.openxmlformats.org/officeDocument/2006/relationships" id="260" r:id="R9dc36dab6ec44f82"/>
    <p:sldId xmlns:r="http://schemas.openxmlformats.org/officeDocument/2006/relationships" id="261" r:id="Rdcea68cb3e8f4a13"/>
    <p:sldId xmlns:r="http://schemas.openxmlformats.org/officeDocument/2006/relationships" id="262" r:id="Re1e579ead6a741f9"/>
    <p:sldId xmlns:r="http://schemas.openxmlformats.org/officeDocument/2006/relationships" id="263" r:id="Rc718fd17325c44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375f3a14a94fe4" /><Relationship Type="http://schemas.openxmlformats.org/officeDocument/2006/relationships/slideMaster" Target="/ppt/slideMasters/slideMaster1.xml" Id="R58fc169a40e74ae6" /><Relationship Type="http://schemas.openxmlformats.org/officeDocument/2006/relationships/notesMaster" Target="/ppt/notesMasters/notesMaster1.xml" Id="R8c561d29ed0f4bb0" /><Relationship Type="http://schemas.openxmlformats.org/officeDocument/2006/relationships/presProps" Target="/ppt/presProps.xml" Id="R2dd2941c65294cd2" /><Relationship Type="http://schemas.openxmlformats.org/officeDocument/2006/relationships/tableStyles" Target="/ppt/tableStyles.xml" Id="R221aaa779de64b17" /><Relationship Type="http://schemas.openxmlformats.org/officeDocument/2006/relationships/slide" Target="/ppt/slides/slide1.xml" Id="Rb7cbc2fb21c044ca" /><Relationship Type="http://schemas.openxmlformats.org/officeDocument/2006/relationships/slide" Target="/ppt/slides/slide2.xml" Id="Re8c6de892a944fb7" /><Relationship Type="http://schemas.openxmlformats.org/officeDocument/2006/relationships/slide" Target="/ppt/slides/slide3.xml" Id="R3a4bbad9d35a4d95" /><Relationship Type="http://schemas.openxmlformats.org/officeDocument/2006/relationships/slide" Target="/ppt/slides/slide4.xml" Id="R237de46cc5b14394" /><Relationship Type="http://schemas.openxmlformats.org/officeDocument/2006/relationships/slide" Target="/ppt/slides/slide5.xml" Id="R9dc36dab6ec44f82" /><Relationship Type="http://schemas.openxmlformats.org/officeDocument/2006/relationships/slide" Target="/ppt/slides/slide6.xml" Id="Rdcea68cb3e8f4a13" /><Relationship Type="http://schemas.openxmlformats.org/officeDocument/2006/relationships/slide" Target="/ppt/slides/slide7.xml" Id="Re1e579ead6a741f9" /><Relationship Type="http://schemas.openxmlformats.org/officeDocument/2006/relationships/slide" Target="/ppt/slides/slide8.xml" Id="Rc718fd17325c44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b573a908b443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3a5264831f4074" /><Relationship Type="http://schemas.openxmlformats.org/officeDocument/2006/relationships/notesMaster" Target="/ppt/notesMasters/notesMaster1.xml" Id="Rc765c20567a349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3adf6a6cdc4c11" /><Relationship Type="http://schemas.openxmlformats.org/officeDocument/2006/relationships/notesMaster" Target="/ppt/notesMasters/notesMaster1.xml" Id="R8fbdf2dc489346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b05d65b6744ba7" /><Relationship Type="http://schemas.openxmlformats.org/officeDocument/2006/relationships/notesMaster" Target="/ppt/notesMasters/notesMaster1.xml" Id="R9f69416809904b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cc802688ad4b0b" /><Relationship Type="http://schemas.openxmlformats.org/officeDocument/2006/relationships/notesMaster" Target="/ppt/notesMasters/notesMaster1.xml" Id="R0c8040ae065540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e39268820943ab" /><Relationship Type="http://schemas.openxmlformats.org/officeDocument/2006/relationships/notesMaster" Target="/ppt/notesMasters/notesMaster1.xml" Id="R887f054d28ba4c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9b0438426b4603" /><Relationship Type="http://schemas.openxmlformats.org/officeDocument/2006/relationships/notesMaster" Target="/ppt/notesMasters/notesMaster1.xml" Id="Ra67aee4135a145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1ea6ff128c4246" /><Relationship Type="http://schemas.openxmlformats.org/officeDocument/2006/relationships/notesMaster" Target="/ppt/notesMasters/notesMaster1.xml" Id="R3c897849feba44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5cfc94264b410b" /><Relationship Type="http://schemas.openxmlformats.org/officeDocument/2006/relationships/notesMaster" Target="/ppt/notesMasters/notesMaster1.xml" Id="R91cfdccdbb23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sections 2 and 3.</a:t>
            </a:r>
          </a:p>
          <a:p xmlns:a="http://schemas.openxmlformats.org/drawingml/2006/main">
            <a:r>
              <a:t/>
            </a:r>
          </a:p>
          <a:p xmlns:a="http://schemas.openxmlformats.org/drawingml/2006/main">
            <a:r>
              <a:t>Talk track: Invaria focuses on security problems that appear when separate pieces of a product work together. One API might look safe by itself, but a request path can still expose another user's data or enable an unsafe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 2.</a:t>
            </a:r>
          </a:p>
          <a:p xmlns:a="http://schemas.openxmlformats.org/drawingml/2006/main">
            <a:r>
              <a:t/>
            </a:r>
          </a:p>
          <a:p xmlns:a="http://schemas.openxmlformats.org/drawingml/2006/main">
            <a:r>
              <a:t>Talk track: We do not position Invaria as a replacement for coding assistants. The blueprint says the key idea clearly: Invaria owns the security reasoning process and uses an LLM as one component inside that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 2. Screenshot: live local Invaria workspace.</a:t>
            </a:r>
          </a:p>
          <a:p xmlns:a="http://schemas.openxmlformats.org/drawingml/2006/main">
            <a:r>
              <a:t/>
            </a:r>
          </a:p>
          <a:p xmlns:a="http://schemas.openxmlformats.org/drawingml/2006/main">
            <a:r>
              <a:t>Talk track: This is the product in one sentence. A team connects a repository, Invaria understands the code and important data paths, then it produces a review that a developer or product owner can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 2.</a:t>
            </a:r>
          </a:p>
          <a:p xmlns:a="http://schemas.openxmlformats.org/drawingml/2006/main">
            <a:r>
              <a:t/>
            </a:r>
          </a:p>
          <a:p xmlns:a="http://schemas.openxmlformats.org/drawingml/2006/main">
            <a:r>
              <a:t>Talk track: This slide follows the blueprint exactly. We start with the repository, scan it, build a map of how the application works, ask security questions, verify the evidence, and create a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sections 2 and 3; docs/INVARIANT_ENGINE.md. Screenshot: live Invaria decision ledger.</a:t>
            </a:r>
          </a:p>
          <a:p xmlns:a="http://schemas.openxmlformats.org/drawingml/2006/main">
            <a:r>
              <a:t/>
            </a:r>
          </a:p>
          <a:p xmlns:a="http://schemas.openxmlformats.org/drawingml/2006/main">
            <a:r>
              <a:t>Talk track: INVARIANT is the product's decision engine. It starts with a rule, follows the relevant code path, and checks whether the code can prove that the rule is protected. If it cannot, it gives the reviewer the evidence instead of pretending that the issue is already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 3. Screenshot: live Invaria graph.</a:t>
            </a:r>
          </a:p>
          <a:p xmlns:a="http://schemas.openxmlformats.org/drawingml/2006/main">
            <a:r>
              <a:t/>
            </a:r>
          </a:p>
          <a:p xmlns:a="http://schemas.openxmlformats.org/drawingml/2006/main">
            <a:r>
              <a:t>Talk track: The blueprint gives these examples because the security idea stays the same across industries. Invaria asks who is making the request, what they are trying to access or change, and whether the code protects that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 3.</a:t>
            </a:r>
          </a:p>
          <a:p xmlns:a="http://schemas.openxmlformats.org/drawingml/2006/main">
            <a:r>
              <a:t/>
            </a:r>
          </a:p>
          <a:p xmlns:a="http://schemas.openxmlformats.org/drawingml/2006/main">
            <a:r>
              <a:t>Talk track: We start with teams that have real application risk but limited security capacity. The main user is the developer or engineering lead who needs a clear review before releasing a product or an important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sections 2 and 4.</a:t>
            </a:r>
          </a:p>
          <a:p xmlns:a="http://schemas.openxmlformats.org/drawingml/2006/main">
            <a:r>
              <a:t/>
            </a:r>
          </a:p>
          <a:p xmlns:a="http://schemas.openxmlformats.org/drawingml/2006/main">
            <a:r>
              <a:t>Talk track: The blueprint gives us a clear direction. Today the product can scan a repository, map its structure, find supported security issues, and report them. Next we will support more technologies, check deeper workflows, and help teams fix issues through future pull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48378eca9940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a3c637ad1444a2" /><Relationship Type="http://schemas.openxmlformats.org/officeDocument/2006/relationships/slideLayout" Target="/ppt/slideLayouts/slideLayout1.xml" Id="R2a3c13efa2da43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c13efa2da43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ead3b2472143b6" /><Relationship Type="http://schemas.openxmlformats.org/officeDocument/2006/relationships/notesSlide" Target="/ppt/notesSlides/notesSlide1.xml" Id="Re3b8090bdb474d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3cbbd4ce904ad0" /><Relationship Type="http://schemas.openxmlformats.org/officeDocument/2006/relationships/notesSlide" Target="/ppt/notesSlides/notesSlide2.xml" Id="Rf2f0ed474ee444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4131bcd29d494c" /><Relationship Type="http://schemas.openxmlformats.org/officeDocument/2006/relationships/image" Target="/ppt/media/image.jpeg" Id="Rfb212539377348a0" /><Relationship Type="http://schemas.openxmlformats.org/officeDocument/2006/relationships/notesSlide" Target="/ppt/notesSlides/notesSlide3.xml" Id="Reaf04921926c4e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314be29d334d3e" /><Relationship Type="http://schemas.openxmlformats.org/officeDocument/2006/relationships/notesSlide" Target="/ppt/notesSlides/notesSlide4.xml" Id="Rf1d2bd40e6e442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e2486dff93432b" /><Relationship Type="http://schemas.openxmlformats.org/officeDocument/2006/relationships/image" Target="/ppt/media/image2.jpeg" Id="Rad0eaae1540043b4" /><Relationship Type="http://schemas.openxmlformats.org/officeDocument/2006/relationships/notesSlide" Target="/ppt/notesSlides/notesSlide5.xml" Id="R2e8ed6012e91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9076b821bb4d96" /><Relationship Type="http://schemas.openxmlformats.org/officeDocument/2006/relationships/image" Target="/ppt/media/image3.jpeg" Id="Rc5b07df77fa24738" /><Relationship Type="http://schemas.openxmlformats.org/officeDocument/2006/relationships/notesSlide" Target="/ppt/notesSlides/notesSlide6.xml" Id="R8143fdca80e64a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9b4857c0724365" /><Relationship Type="http://schemas.openxmlformats.org/officeDocument/2006/relationships/notesSlide" Target="/ppt/notesSlides/notesSlide7.xml" Id="R7f609eeb8bc941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cc55c351e648e3" /><Relationship Type="http://schemas.openxmlformats.org/officeDocument/2006/relationships/notesSlide" Target="/ppt/notesSlides/notesSlide8.xml" Id="R2b2f4d03d7aa4fa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E2CB1FA-5E26-4C6E-8065-743F28516BE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DBA68EC7-674C-4D96-81B4-4851F3854FB1}"/>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821CF2E0-687F-4DF5-AF84-AAFA19276E10}"/>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a:t>
            </a:r>
          </a:p>
        </p:txBody>
      </p:sp>
      <p:sp>
        <p:nvSpPr>
          <p:cNvPr id="4" name="">
            <a:extLst xmlns:a="http://schemas.openxmlformats.org/drawingml/2006/main">
              <a:ext uri="{FF2B5EF4-FFF2-40B4-BE49-F238E27FC236}">
                <a16:creationId xmlns:a16="http://schemas.microsoft.com/office/drawing/2014/main" id="{81262F54-63D4-4C5F-9633-98ABADA8C5FE}"/>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C9FE153-0C6D-443B-9799-7EDF079F0BD1}"/>
              </a:ext>
            </a:extLst>
          </p:cNvPr>
          <p:cNvSpPr>
            <a:spLocks xmlns:a="http://schemas.openxmlformats.org/drawingml/2006/main" noGrp="1"/>
          </p:cNvSpPr>
          <p:nvPr/>
        </p:nvSpPr>
        <p:spPr>
          <a:xfrm xmlns:a="http://schemas.openxmlformats.org/drawingml/2006/main">
            <a:off x="685800" y="514350"/>
            <a:ext cx="14859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38AFE8-4C2A-477B-BC31-4587D93B0B88}"/>
              </a:ext>
            </a:extLst>
          </p:cNvPr>
          <p:cNvSpPr>
            <a:spLocks xmlns:a="http://schemas.openxmlformats.org/drawingml/2006/main" noGrp="1"/>
          </p:cNvSpPr>
          <p:nvPr/>
        </p:nvSpPr>
        <p:spPr>
          <a:xfrm xmlns:a="http://schemas.openxmlformats.org/drawingml/2006/main">
            <a:off x="771525" y="571500"/>
            <a:ext cx="13144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a:t>
            </a:r>
          </a:p>
        </p:txBody>
      </p:sp>
      <p:sp>
        <p:nvSpPr>
          <p:cNvPr id="7" name="">
            <a:extLst xmlns:a="http://schemas.openxmlformats.org/drawingml/2006/main">
              <a:ext uri="{FF2B5EF4-FFF2-40B4-BE49-F238E27FC236}">
                <a16:creationId xmlns:a16="http://schemas.microsoft.com/office/drawing/2014/main" id="{919FB2BE-0C37-4A7E-9502-E5DD23B3B1F1}"/>
              </a:ext>
            </a:extLst>
          </p:cNvPr>
          <p:cNvSpPr>
            <a:spLocks xmlns:a="http://schemas.openxmlformats.org/drawingml/2006/main" noGrp="1"/>
          </p:cNvSpPr>
          <p:nvPr/>
        </p:nvSpPr>
        <p:spPr>
          <a:xfrm xmlns:a="http://schemas.openxmlformats.org/drawingml/2006/main">
            <a:off x="685800" y="990600"/>
            <a:ext cx="5810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99"/>
          </a:bodyPr>
          <a:lstStyle xmlns:a="http://schemas.openxmlformats.org/drawingml/2006/main"/>
          <a:p xmlns:a="http://schemas.openxmlformats.org/drawingml/2006/main">
            <a:pPr algn="l">
              <a:lnSpc>
                <a:spcPct val="100000"/>
              </a:lnSpc>
              <a:buNone/>
              <a:defRPr sz="3525" b="1" i="0">
                <a:solidFill>
                  <a:srgbClr val="121522"/>
                </a:solidFill>
                <a:latin typeface="Arial"/>
                <a:ea typeface="Arial"/>
                <a:cs typeface="Arial"/>
              </a:defRPr>
            </a:pPr>
            <a:r>
              <a:rPr sz="3525" b="1" i="0">
                <a:solidFill>
                  <a:srgbClr val="121522"/>
                </a:solidFill>
                <a:latin typeface="Arial"/>
                <a:ea typeface="Arial"/>
                <a:cs typeface="Arial"/>
              </a:rPr>
              <a:t>AI-built apps can still</a:t>
            </a:r>
          </a:p>
          <a:p xmlns:a="http://schemas.openxmlformats.org/drawingml/2006/main">
            <a:pPr algn="l">
              <a:lnSpc>
                <a:spcPct val="100000"/>
              </a:lnSpc>
              <a:buNone/>
              <a:defRPr sz="3525" b="1" i="0">
                <a:solidFill>
                  <a:srgbClr val="121522"/>
                </a:solidFill>
                <a:latin typeface="Arial"/>
                <a:ea typeface="Arial"/>
                <a:cs typeface="Arial"/>
              </a:defRPr>
            </a:pPr>
            <a:r>
              <a:rPr sz="3525" b="1" i="0">
                <a:solidFill>
                  <a:srgbClr val="121522"/>
                </a:solidFill>
                <a:latin typeface="Arial"/>
                <a:ea typeface="Arial"/>
                <a:cs typeface="Arial"/>
              </a:rPr>
              <a:t>have security gaps</a:t>
            </a:r>
          </a:p>
        </p:txBody>
      </p:sp>
      <p:sp>
        <p:nvSpPr>
          <p:cNvPr id="8" name="">
            <a:extLst xmlns:a="http://schemas.openxmlformats.org/drawingml/2006/main">
              <a:ext uri="{FF2B5EF4-FFF2-40B4-BE49-F238E27FC236}">
                <a16:creationId xmlns:a16="http://schemas.microsoft.com/office/drawing/2014/main" id="{86789E31-3DD0-4898-9E33-1DB281B54001}"/>
              </a:ext>
            </a:extLst>
          </p:cNvPr>
          <p:cNvSpPr>
            <a:spLocks xmlns:a="http://schemas.openxmlformats.org/drawingml/2006/main" noGrp="1"/>
          </p:cNvSpPr>
          <p:nvPr/>
        </p:nvSpPr>
        <p:spPr>
          <a:xfrm xmlns:a="http://schemas.openxmlformats.org/drawingml/2006/main">
            <a:off x="685800" y="2238375"/>
            <a:ext cx="5381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500" b="0" i="0">
                <a:solidFill>
                  <a:srgbClr val="667086"/>
                </a:solidFill>
                <a:latin typeface="Arial"/>
                <a:ea typeface="Arial"/>
                <a:cs typeface="Arial"/>
              </a:defRPr>
            </a:pPr>
            <a:r>
              <a:rPr sz="1500" b="0" i="0">
                <a:solidFill>
                  <a:srgbClr val="667086"/>
                </a:solidFill>
                <a:latin typeface="Arial"/>
                <a:ea typeface="Arial"/>
                <a:cs typeface="Arial"/>
              </a:rPr>
              <a:t>A feature can work correctly and still let the wrong person see data, change a transaction, or access a sensitive action.</a:t>
            </a:r>
          </a:p>
        </p:txBody>
      </p:sp>
      <p:sp>
        <p:nvSpPr>
          <p:cNvPr id="9" name="">
            <a:extLst xmlns:a="http://schemas.openxmlformats.org/drawingml/2006/main">
              <a:ext uri="{FF2B5EF4-FFF2-40B4-BE49-F238E27FC236}">
                <a16:creationId xmlns:a16="http://schemas.microsoft.com/office/drawing/2014/main" id="{7A330540-7699-4ABA-8716-73AEFB216F2D}"/>
              </a:ext>
            </a:extLst>
          </p:cNvPr>
          <p:cNvSpPr>
            <a:spLocks xmlns:a="http://schemas.openxmlformats.org/drawingml/2006/main" noGrp="1"/>
          </p:cNvSpPr>
          <p:nvPr/>
        </p:nvSpPr>
        <p:spPr>
          <a:xfrm xmlns:a="http://schemas.openxmlformats.org/drawingml/2006/main">
            <a:off x="685800" y="3238500"/>
            <a:ext cx="5143500" cy="0"/>
          </a:xfrm>
          <a:prstGeom xmlns:a="http://schemas.openxmlformats.org/drawingml/2006/main" prst="line">
            <a:avLst/>
          </a:prstGeom>
          <a:noFill xmlns:a="http://schemas.openxmlformats.org/drawingml/2006/main"/>
          <a:ln xmlns:a="http://schemas.openxmlformats.org/drawingml/2006/main" w="28575">
            <a:solidFill>
              <a:srgbClr val="5646E8"/>
            </a:solidFill>
            <a:prstDash val="solid"/>
          </a:ln>
        </p:spPr>
      </p:sp>
      <p:sp>
        <p:nvSpPr>
          <p:cNvPr id="10" name="">
            <a:extLst xmlns:a="http://schemas.openxmlformats.org/drawingml/2006/main">
              <a:ext uri="{FF2B5EF4-FFF2-40B4-BE49-F238E27FC236}">
                <a16:creationId xmlns:a16="http://schemas.microsoft.com/office/drawing/2014/main" id="{6EA6A02A-16AC-4441-89E2-C2B64CBC3441}"/>
              </a:ext>
            </a:extLst>
          </p:cNvPr>
          <p:cNvSpPr>
            <a:spLocks xmlns:a="http://schemas.openxmlformats.org/drawingml/2006/main" noGrp="1"/>
          </p:cNvSpPr>
          <p:nvPr/>
        </p:nvSpPr>
        <p:spPr>
          <a:xfrm xmlns:a="http://schemas.openxmlformats.org/drawingml/2006/main">
            <a:off x="685800" y="3609975"/>
            <a:ext cx="190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Simple example</a:t>
            </a:r>
          </a:p>
        </p:txBody>
      </p:sp>
      <p:sp>
        <p:nvSpPr>
          <p:cNvPr id="11" name="">
            <a:extLst xmlns:a="http://schemas.openxmlformats.org/drawingml/2006/main">
              <a:ext uri="{FF2B5EF4-FFF2-40B4-BE49-F238E27FC236}">
                <a16:creationId xmlns:a16="http://schemas.microsoft.com/office/drawing/2014/main" id="{0C6BF324-B8D0-4614-B5F4-9B8DDFB8A1AF}"/>
              </a:ext>
            </a:extLst>
          </p:cNvPr>
          <p:cNvSpPr>
            <a:spLocks xmlns:a="http://schemas.openxmlformats.org/drawingml/2006/main" noGrp="1"/>
          </p:cNvSpPr>
          <p:nvPr/>
        </p:nvSpPr>
        <p:spPr>
          <a:xfrm xmlns:a="http://schemas.openxmlformats.org/drawingml/2006/main">
            <a:off x="685800" y="3962400"/>
            <a:ext cx="5191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5359"/>
          </a:bodyPr>
          <a:lstStyle xmlns:a="http://schemas.openxmlformats.org/drawingml/2006/main"/>
          <a:p xmlns:a="http://schemas.openxmlformats.org/drawingml/2006/main">
            <a:pPr algn="l">
              <a:lnSpc>
                <a:spcPct val="115000"/>
              </a:lnSpc>
              <a:buNone/>
              <a:defRPr sz="1725" b="1" i="0">
                <a:solidFill>
                  <a:srgbClr val="121522"/>
                </a:solidFill>
                <a:latin typeface="Arial"/>
                <a:ea typeface="Arial"/>
                <a:cs typeface="Arial"/>
              </a:defRPr>
            </a:pPr>
            <a:r>
              <a:rPr sz="1725" b="1" i="0">
                <a:solidFill>
                  <a:srgbClr val="121522"/>
                </a:solidFill>
                <a:latin typeface="Arial"/>
                <a:ea typeface="Arial"/>
                <a:cs typeface="Arial"/>
              </a:rPr>
              <a:t>A user changes an ID in a URL. The app shows another customer's record because it never checks who owns that record.</a:t>
            </a:r>
          </a:p>
        </p:txBody>
      </p:sp>
      <p:sp>
        <p:nvSpPr>
          <p:cNvPr id="12" name="">
            <a:extLst xmlns:a="http://schemas.openxmlformats.org/drawingml/2006/main">
              <a:ext uri="{FF2B5EF4-FFF2-40B4-BE49-F238E27FC236}">
                <a16:creationId xmlns:a16="http://schemas.microsoft.com/office/drawing/2014/main" id="{41778F8C-044D-44A5-8100-F549497CA469}"/>
              </a:ext>
            </a:extLst>
          </p:cNvPr>
          <p:cNvSpPr>
            <a:spLocks xmlns:a="http://schemas.openxmlformats.org/drawingml/2006/main" noGrp="1"/>
          </p:cNvSpPr>
          <p:nvPr/>
        </p:nvSpPr>
        <p:spPr>
          <a:xfrm xmlns:a="http://schemas.openxmlformats.org/drawingml/2006/main">
            <a:off x="685800" y="49911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The security issue sits in the full path from user request to database, not in only one line of code.</a:t>
            </a:r>
          </a:p>
        </p:txBody>
      </p:sp>
      <p:sp>
        <p:nvSpPr>
          <p:cNvPr id="13" name="">
            <a:extLst xmlns:a="http://schemas.openxmlformats.org/drawingml/2006/main">
              <a:ext uri="{FF2B5EF4-FFF2-40B4-BE49-F238E27FC236}">
                <a16:creationId xmlns:a16="http://schemas.microsoft.com/office/drawing/2014/main" id="{905F86BB-14AB-4AE0-A985-8C6A73E598DF}"/>
              </a:ext>
            </a:extLst>
          </p:cNvPr>
          <p:cNvSpPr>
            <a:spLocks xmlns:a="http://schemas.openxmlformats.org/drawingml/2006/main" noGrp="1"/>
          </p:cNvSpPr>
          <p:nvPr/>
        </p:nvSpPr>
        <p:spPr>
          <a:xfrm xmlns:a="http://schemas.openxmlformats.org/drawingml/2006/main">
            <a:off x="7048500" y="942975"/>
            <a:ext cx="4457700" cy="4429125"/>
          </a:xfrm>
          <a:prstGeom xmlns:a="http://schemas.openxmlformats.org/drawingml/2006/main" prst="roundRect">
            <a:avLst>
              <a:gd name="adj" fmla="val 2581"/>
            </a:avLst>
          </a:prstGeom>
          <a:solidFill xmlns:a="http://schemas.openxmlformats.org/drawingml/2006/main">
            <a:srgbClr val="12131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3796FB-43B3-4FC7-9CB4-89082394BAAD}"/>
              </a:ext>
            </a:extLst>
          </p:cNvPr>
          <p:cNvSpPr>
            <a:spLocks xmlns:a="http://schemas.openxmlformats.org/drawingml/2006/main" noGrp="1"/>
          </p:cNvSpPr>
          <p:nvPr/>
        </p:nvSpPr>
        <p:spPr>
          <a:xfrm xmlns:a="http://schemas.openxmlformats.org/drawingml/2006/main">
            <a:off x="7429500" y="1362075"/>
            <a:ext cx="2190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7C71FF"/>
                </a:solidFill>
                <a:latin typeface="Arial"/>
                <a:ea typeface="Arial"/>
                <a:cs typeface="Arial"/>
              </a:defRPr>
            </a:pPr>
            <a:r>
              <a:rPr sz="900" b="1" i="0">
                <a:solidFill>
                  <a:srgbClr val="7C71FF"/>
                </a:solidFill>
                <a:latin typeface="Arial"/>
                <a:ea typeface="Arial"/>
                <a:cs typeface="Arial"/>
              </a:rPr>
              <a:t>WHAT INVARIA DOES</a:t>
            </a:r>
          </a:p>
        </p:txBody>
      </p:sp>
      <p:sp>
        <p:nvSpPr>
          <p:cNvPr id="15" name="">
            <a:extLst xmlns:a="http://schemas.openxmlformats.org/drawingml/2006/main">
              <a:ext uri="{FF2B5EF4-FFF2-40B4-BE49-F238E27FC236}">
                <a16:creationId xmlns:a16="http://schemas.microsoft.com/office/drawing/2014/main" id="{C8647BF0-8DDA-4307-A6C5-B5E634D66CCF}"/>
              </a:ext>
            </a:extLst>
          </p:cNvPr>
          <p:cNvSpPr>
            <a:spLocks xmlns:a="http://schemas.openxmlformats.org/drawingml/2006/main" noGrp="1"/>
          </p:cNvSpPr>
          <p:nvPr/>
        </p:nvSpPr>
        <p:spPr>
          <a:xfrm xmlns:a="http://schemas.openxmlformats.org/drawingml/2006/main">
            <a:off x="7429500" y="18002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503"/>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It checks whether</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the app follows its</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important rules</a:t>
            </a:r>
          </a:p>
        </p:txBody>
      </p:sp>
      <p:sp>
        <p:nvSpPr>
          <p:cNvPr id="16" name="">
            <a:extLst xmlns:a="http://schemas.openxmlformats.org/drawingml/2006/main">
              <a:ext uri="{FF2B5EF4-FFF2-40B4-BE49-F238E27FC236}">
                <a16:creationId xmlns:a16="http://schemas.microsoft.com/office/drawing/2014/main" id="{38F5F4D8-C094-42A1-ABF9-A90CEAD559CC}"/>
              </a:ext>
            </a:extLst>
          </p:cNvPr>
          <p:cNvSpPr>
            <a:spLocks xmlns:a="http://schemas.openxmlformats.org/drawingml/2006/main" noGrp="1"/>
          </p:cNvSpPr>
          <p:nvPr/>
        </p:nvSpPr>
        <p:spPr>
          <a:xfrm xmlns:a="http://schemas.openxmlformats.org/drawingml/2006/main">
            <a:off x="7429500" y="33337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7C71FF"/>
                </a:solidFill>
                <a:latin typeface="Arial"/>
                <a:ea typeface="Arial"/>
                <a:cs typeface="Arial"/>
              </a:defRPr>
            </a:pPr>
            <a:r>
              <a:rPr sz="975" b="1" i="0">
                <a:solidFill>
                  <a:srgbClr val="7C71FF"/>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903FF711-E9B4-4250-82E8-5DDDA6EBDEF0}"/>
              </a:ext>
            </a:extLst>
          </p:cNvPr>
          <p:cNvSpPr>
            <a:spLocks xmlns:a="http://schemas.openxmlformats.org/drawingml/2006/main" noGrp="1"/>
          </p:cNvSpPr>
          <p:nvPr/>
        </p:nvSpPr>
        <p:spPr>
          <a:xfrm xmlns:a="http://schemas.openxmlformats.org/drawingml/2006/main">
            <a:off x="7877175" y="3333750"/>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989"/>
          </a:bodyPr>
          <a:lstStyle xmlns:a="http://schemas.openxmlformats.org/drawingml/2006/main"/>
          <a:p xmlns:a="http://schemas.openxmlformats.org/drawingml/2006/main">
            <a:pPr algn="l">
              <a:lnSpc>
                <a:spcPct val="115000"/>
              </a:lnSpc>
              <a:buNone/>
              <a:defRPr sz="1275" b="1" i="0">
                <a:solidFill>
                  <a:srgbClr val="FFFFFF"/>
                </a:solidFill>
                <a:latin typeface="Arial"/>
                <a:ea typeface="Arial"/>
                <a:cs typeface="Arial"/>
              </a:defRPr>
            </a:pPr>
            <a:r>
              <a:rPr sz="1275" b="1" i="0">
                <a:solidFill>
                  <a:srgbClr val="FFFFFF"/>
                </a:solidFill>
                <a:latin typeface="Arial"/>
                <a:ea typeface="Arial"/>
                <a:cs typeface="Arial"/>
              </a:rPr>
              <a:t>Understand the app</a:t>
            </a:r>
          </a:p>
        </p:txBody>
      </p:sp>
      <p:sp>
        <p:nvSpPr>
          <p:cNvPr id="18" name="">
            <a:extLst xmlns:a="http://schemas.openxmlformats.org/drawingml/2006/main">
              <a:ext uri="{FF2B5EF4-FFF2-40B4-BE49-F238E27FC236}">
                <a16:creationId xmlns:a16="http://schemas.microsoft.com/office/drawing/2014/main" id="{73AEAADF-3F6C-4E57-8C69-D92267AEBE31}"/>
              </a:ext>
            </a:extLst>
          </p:cNvPr>
          <p:cNvSpPr>
            <a:spLocks xmlns:a="http://schemas.openxmlformats.org/drawingml/2006/main" noGrp="1"/>
          </p:cNvSpPr>
          <p:nvPr/>
        </p:nvSpPr>
        <p:spPr>
          <a:xfrm xmlns:a="http://schemas.openxmlformats.org/drawingml/2006/main">
            <a:off x="7429500" y="37528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7C71FF"/>
                </a:solidFill>
                <a:latin typeface="Arial"/>
                <a:ea typeface="Arial"/>
                <a:cs typeface="Arial"/>
              </a:defRPr>
            </a:pPr>
            <a:r>
              <a:rPr sz="975" b="1" i="0">
                <a:solidFill>
                  <a:srgbClr val="7C71FF"/>
                </a:solidFill>
                <a:latin typeface="Arial"/>
                <a:ea typeface="Arial"/>
                <a:cs typeface="Arial"/>
              </a:rPr>
              <a:t>2</a:t>
            </a:r>
          </a:p>
        </p:txBody>
      </p:sp>
      <p:sp>
        <p:nvSpPr>
          <p:cNvPr id="19" name="">
            <a:extLst xmlns:a="http://schemas.openxmlformats.org/drawingml/2006/main">
              <a:ext uri="{FF2B5EF4-FFF2-40B4-BE49-F238E27FC236}">
                <a16:creationId xmlns:a16="http://schemas.microsoft.com/office/drawing/2014/main" id="{F521D24E-F9FB-4365-B926-7769F14AB641}"/>
              </a:ext>
            </a:extLst>
          </p:cNvPr>
          <p:cNvSpPr>
            <a:spLocks xmlns:a="http://schemas.openxmlformats.org/drawingml/2006/main" noGrp="1"/>
          </p:cNvSpPr>
          <p:nvPr/>
        </p:nvSpPr>
        <p:spPr>
          <a:xfrm xmlns:a="http://schemas.openxmlformats.org/drawingml/2006/main">
            <a:off x="7877175" y="3752850"/>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989"/>
          </a:bodyPr>
          <a:lstStyle xmlns:a="http://schemas.openxmlformats.org/drawingml/2006/main"/>
          <a:p xmlns:a="http://schemas.openxmlformats.org/drawingml/2006/main">
            <a:pPr algn="l">
              <a:lnSpc>
                <a:spcPct val="115000"/>
              </a:lnSpc>
              <a:buNone/>
              <a:defRPr sz="1275" b="1" i="0">
                <a:solidFill>
                  <a:srgbClr val="FFFFFF"/>
                </a:solidFill>
                <a:latin typeface="Arial"/>
                <a:ea typeface="Arial"/>
                <a:cs typeface="Arial"/>
              </a:defRPr>
            </a:pPr>
            <a:r>
              <a:rPr sz="1275" b="1" i="0">
                <a:solidFill>
                  <a:srgbClr val="FFFFFF"/>
                </a:solidFill>
                <a:latin typeface="Arial"/>
                <a:ea typeface="Arial"/>
                <a:cs typeface="Arial"/>
              </a:rPr>
              <a:t>Find a risky path</a:t>
            </a:r>
          </a:p>
        </p:txBody>
      </p:sp>
      <p:sp>
        <p:nvSpPr>
          <p:cNvPr id="20" name="">
            <a:extLst xmlns:a="http://schemas.openxmlformats.org/drawingml/2006/main">
              <a:ext uri="{FF2B5EF4-FFF2-40B4-BE49-F238E27FC236}">
                <a16:creationId xmlns:a16="http://schemas.microsoft.com/office/drawing/2014/main" id="{635F7415-FC09-4CDB-90EE-692593AB6D10}"/>
              </a:ext>
            </a:extLst>
          </p:cNvPr>
          <p:cNvSpPr>
            <a:spLocks xmlns:a="http://schemas.openxmlformats.org/drawingml/2006/main" noGrp="1"/>
          </p:cNvSpPr>
          <p:nvPr/>
        </p:nvSpPr>
        <p:spPr>
          <a:xfrm xmlns:a="http://schemas.openxmlformats.org/drawingml/2006/main">
            <a:off x="7429500" y="41719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7C71FF"/>
                </a:solidFill>
                <a:latin typeface="Arial"/>
                <a:ea typeface="Arial"/>
                <a:cs typeface="Arial"/>
              </a:defRPr>
            </a:pPr>
            <a:r>
              <a:rPr sz="975" b="1" i="0">
                <a:solidFill>
                  <a:srgbClr val="7C71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BB508054-5501-4861-97FC-37F401FA0392}"/>
              </a:ext>
            </a:extLst>
          </p:cNvPr>
          <p:cNvSpPr>
            <a:spLocks xmlns:a="http://schemas.openxmlformats.org/drawingml/2006/main" noGrp="1"/>
          </p:cNvSpPr>
          <p:nvPr/>
        </p:nvSpPr>
        <p:spPr>
          <a:xfrm xmlns:a="http://schemas.openxmlformats.org/drawingml/2006/main">
            <a:off x="7877175" y="4171950"/>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989"/>
          </a:bodyPr>
          <a:lstStyle xmlns:a="http://schemas.openxmlformats.org/drawingml/2006/main"/>
          <a:p xmlns:a="http://schemas.openxmlformats.org/drawingml/2006/main">
            <a:pPr algn="l">
              <a:lnSpc>
                <a:spcPct val="115000"/>
              </a:lnSpc>
              <a:buNone/>
              <a:defRPr sz="1275" b="1" i="0">
                <a:solidFill>
                  <a:srgbClr val="FFFFFF"/>
                </a:solidFill>
                <a:latin typeface="Arial"/>
                <a:ea typeface="Arial"/>
                <a:cs typeface="Arial"/>
              </a:defRPr>
            </a:pPr>
            <a:r>
              <a:rPr sz="1275" b="1" i="0">
                <a:solidFill>
                  <a:srgbClr val="FFFFFF"/>
                </a:solidFill>
                <a:latin typeface="Arial"/>
                <a:ea typeface="Arial"/>
                <a:cs typeface="Arial"/>
              </a:rPr>
              <a:t>Show the proof</a:t>
            </a:r>
          </a:p>
        </p:txBody>
      </p:sp>
      <p:sp>
        <p:nvSpPr>
          <p:cNvPr id="22" name="">
            <a:extLst xmlns:a="http://schemas.openxmlformats.org/drawingml/2006/main">
              <a:ext uri="{FF2B5EF4-FFF2-40B4-BE49-F238E27FC236}">
                <a16:creationId xmlns:a16="http://schemas.microsoft.com/office/drawing/2014/main" id="{265FA757-5D2A-48C6-821D-42E4FFBC3FE7}"/>
              </a:ext>
            </a:extLst>
          </p:cNvPr>
          <p:cNvSpPr>
            <a:spLocks xmlns:a="http://schemas.openxmlformats.org/drawingml/2006/main" noGrp="1"/>
          </p:cNvSpPr>
          <p:nvPr/>
        </p:nvSpPr>
        <p:spPr>
          <a:xfrm xmlns:a="http://schemas.openxmlformats.org/drawingml/2006/main">
            <a:off x="7429500" y="4591050"/>
            <a:ext cx="266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7C71FF"/>
                </a:solidFill>
                <a:latin typeface="Arial"/>
                <a:ea typeface="Arial"/>
                <a:cs typeface="Arial"/>
              </a:defRPr>
            </a:pPr>
            <a:r>
              <a:rPr sz="975" b="1" i="0">
                <a:solidFill>
                  <a:srgbClr val="7C71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BD0A9FAF-2665-4455-91DE-D26417A9918C}"/>
              </a:ext>
            </a:extLst>
          </p:cNvPr>
          <p:cNvSpPr>
            <a:spLocks xmlns:a="http://schemas.openxmlformats.org/drawingml/2006/main" noGrp="1"/>
          </p:cNvSpPr>
          <p:nvPr/>
        </p:nvSpPr>
        <p:spPr>
          <a:xfrm xmlns:a="http://schemas.openxmlformats.org/drawingml/2006/main">
            <a:off x="7877175" y="4591050"/>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989"/>
          </a:bodyPr>
          <a:lstStyle xmlns:a="http://schemas.openxmlformats.org/drawingml/2006/main"/>
          <a:p xmlns:a="http://schemas.openxmlformats.org/drawingml/2006/main">
            <a:pPr algn="l">
              <a:lnSpc>
                <a:spcPct val="115000"/>
              </a:lnSpc>
              <a:buNone/>
              <a:defRPr sz="1275" b="1" i="0">
                <a:solidFill>
                  <a:srgbClr val="FFFFFF"/>
                </a:solidFill>
                <a:latin typeface="Arial"/>
                <a:ea typeface="Arial"/>
                <a:cs typeface="Arial"/>
              </a:defRPr>
            </a:pPr>
            <a:r>
              <a:rPr sz="1275" b="1" i="0">
                <a:solidFill>
                  <a:srgbClr val="FFFFFF"/>
                </a:solidFill>
                <a:latin typeface="Arial"/>
                <a:ea typeface="Arial"/>
                <a:cs typeface="Arial"/>
              </a:rPr>
              <a:t>Help a human decide</a:t>
            </a:r>
          </a:p>
        </p:txBody>
      </p:sp>
    </p:spTree>
    <p:extLst>
      <p:ext uri="{BB962C8B-B14F-4D97-AF65-F5344CB8AC3E}">
        <p14:creationId xmlns:p14="http://schemas.microsoft.com/office/powerpoint/2010/main" val="20695689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FC37BA8-5985-489C-84D6-D1AB64E032E3}"/>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863AFD9-A10F-466E-9DFA-ABB1FCBB7966}"/>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39759250-B290-43E7-B477-50BF68E9A2E6}"/>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a:t>
            </a:r>
          </a:p>
        </p:txBody>
      </p:sp>
      <p:sp>
        <p:nvSpPr>
          <p:cNvPr id="4" name="">
            <a:extLst xmlns:a="http://schemas.openxmlformats.org/drawingml/2006/main">
              <a:ext uri="{FF2B5EF4-FFF2-40B4-BE49-F238E27FC236}">
                <a16:creationId xmlns:a16="http://schemas.microsoft.com/office/drawing/2014/main" id="{DAF93993-46EB-4869-A3B3-73A8B33DD148}"/>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AC29CA2-F781-4C5E-82A7-6692399AAC88}"/>
              </a:ext>
            </a:extLst>
          </p:cNvPr>
          <p:cNvSpPr>
            <a:spLocks xmlns:a="http://schemas.openxmlformats.org/drawingml/2006/main" noGrp="1"/>
          </p:cNvSpPr>
          <p:nvPr/>
        </p:nvSpPr>
        <p:spPr>
          <a:xfrm xmlns:a="http://schemas.openxmlformats.org/drawingml/2006/main">
            <a:off x="685800" y="514350"/>
            <a:ext cx="10668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BBD833-09A3-4208-BBD9-C0690F8A71B9}"/>
              </a:ext>
            </a:extLst>
          </p:cNvPr>
          <p:cNvSpPr>
            <a:spLocks xmlns:a="http://schemas.openxmlformats.org/drawingml/2006/main" noGrp="1"/>
          </p:cNvSpPr>
          <p:nvPr/>
        </p:nvSpPr>
        <p:spPr>
          <a:xfrm xmlns:a="http://schemas.openxmlformats.org/drawingml/2006/main">
            <a:off x="771525" y="571500"/>
            <a:ext cx="8953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GAP</a:t>
            </a:r>
          </a:p>
        </p:txBody>
      </p:sp>
      <p:sp>
        <p:nvSpPr>
          <p:cNvPr id="7" name="">
            <a:extLst xmlns:a="http://schemas.openxmlformats.org/drawingml/2006/main">
              <a:ext uri="{FF2B5EF4-FFF2-40B4-BE49-F238E27FC236}">
                <a16:creationId xmlns:a16="http://schemas.microsoft.com/office/drawing/2014/main" id="{3CED34C9-D0A0-4514-BEF2-94828CCF92A3}"/>
              </a:ext>
            </a:extLst>
          </p:cNvPr>
          <p:cNvSpPr>
            <a:spLocks xmlns:a="http://schemas.openxmlformats.org/drawingml/2006/main" noGrp="1"/>
          </p:cNvSpPr>
          <p:nvPr/>
        </p:nvSpPr>
        <p:spPr>
          <a:xfrm xmlns:a="http://schemas.openxmlformats.org/drawingml/2006/main">
            <a:off x="685800" y="990600"/>
            <a:ext cx="8096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820"/>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Coding tools help write code.</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Security review needs to understand the app.</a:t>
            </a:r>
          </a:p>
        </p:txBody>
      </p:sp>
      <p:sp>
        <p:nvSpPr>
          <p:cNvPr id="8" name="">
            <a:extLst xmlns:a="http://schemas.openxmlformats.org/drawingml/2006/main">
              <a:ext uri="{FF2B5EF4-FFF2-40B4-BE49-F238E27FC236}">
                <a16:creationId xmlns:a16="http://schemas.microsoft.com/office/drawing/2014/main" id="{4EFBDF92-7041-43B0-9AA5-988E4B6419BE}"/>
              </a:ext>
            </a:extLst>
          </p:cNvPr>
          <p:cNvSpPr>
            <a:spLocks xmlns:a="http://schemas.openxmlformats.org/drawingml/2006/main" noGrp="1"/>
          </p:cNvSpPr>
          <p:nvPr/>
        </p:nvSpPr>
        <p:spPr>
          <a:xfrm xmlns:a="http://schemas.openxmlformats.org/drawingml/2006/main">
            <a:off x="685800" y="219075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667086"/>
                </a:solidFill>
                <a:latin typeface="Arial"/>
                <a:ea typeface="Arial"/>
                <a:cs typeface="Arial"/>
              </a:defRPr>
            </a:pPr>
            <a:r>
              <a:rPr sz="1425" b="0" i="0">
                <a:solidFill>
                  <a:srgbClr val="667086"/>
                </a:solidFill>
                <a:latin typeface="Arial"/>
                <a:ea typeface="Arial"/>
                <a:cs typeface="Arial"/>
              </a:rPr>
              <a:t>The gap is not a lack of code generation. The gap is knowing what users are allowed to do and checking that the code follows those rules.</a:t>
            </a:r>
          </a:p>
        </p:txBody>
      </p:sp>
      <p:sp>
        <p:nvSpPr>
          <p:cNvPr id="9" name="">
            <a:extLst xmlns:a="http://schemas.openxmlformats.org/drawingml/2006/main">
              <a:ext uri="{FF2B5EF4-FFF2-40B4-BE49-F238E27FC236}">
                <a16:creationId xmlns:a16="http://schemas.microsoft.com/office/drawing/2014/main" id="{70110D1D-B85A-435D-8C53-5437FC73B9C4}"/>
              </a:ext>
            </a:extLst>
          </p:cNvPr>
          <p:cNvSpPr>
            <a:spLocks xmlns:a="http://schemas.openxmlformats.org/drawingml/2006/main" noGrp="1"/>
          </p:cNvSpPr>
          <p:nvPr/>
        </p:nvSpPr>
        <p:spPr>
          <a:xfrm xmlns:a="http://schemas.openxmlformats.org/drawingml/2006/main">
            <a:off x="685800" y="3200400"/>
            <a:ext cx="4857750" cy="2038350"/>
          </a:xfrm>
          <a:prstGeom xmlns:a="http://schemas.openxmlformats.org/drawingml/2006/main" prst="roundRect">
            <a:avLst>
              <a:gd name="adj" fmla="val 5607"/>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6B922917-F62B-45F9-9667-491FB27330C8}"/>
              </a:ext>
            </a:extLst>
          </p:cNvPr>
          <p:cNvSpPr>
            <a:spLocks xmlns:a="http://schemas.openxmlformats.org/drawingml/2006/main" noGrp="1"/>
          </p:cNvSpPr>
          <p:nvPr/>
        </p:nvSpPr>
        <p:spPr>
          <a:xfrm xmlns:a="http://schemas.openxmlformats.org/drawingml/2006/main">
            <a:off x="990600" y="352425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667086"/>
                </a:solidFill>
                <a:latin typeface="Arial"/>
                <a:ea typeface="Arial"/>
                <a:cs typeface="Arial"/>
              </a:defRPr>
            </a:pPr>
            <a:r>
              <a:rPr sz="900" b="1" i="0">
                <a:solidFill>
                  <a:srgbClr val="667086"/>
                </a:solidFill>
                <a:latin typeface="Arial"/>
                <a:ea typeface="Arial"/>
                <a:cs typeface="Arial"/>
              </a:rPr>
              <a:t>CODING ASSISTANTS</a:t>
            </a:r>
          </a:p>
        </p:txBody>
      </p:sp>
      <p:sp>
        <p:nvSpPr>
          <p:cNvPr id="11" name="">
            <a:extLst xmlns:a="http://schemas.openxmlformats.org/drawingml/2006/main">
              <a:ext uri="{FF2B5EF4-FFF2-40B4-BE49-F238E27FC236}">
                <a16:creationId xmlns:a16="http://schemas.microsoft.com/office/drawing/2014/main" id="{9E2D18FC-6430-4BDA-9342-6152907965FD}"/>
              </a:ext>
            </a:extLst>
          </p:cNvPr>
          <p:cNvSpPr>
            <a:spLocks xmlns:a="http://schemas.openxmlformats.org/drawingml/2006/main" noGrp="1"/>
          </p:cNvSpPr>
          <p:nvPr/>
        </p:nvSpPr>
        <p:spPr>
          <a:xfrm xmlns:a="http://schemas.openxmlformats.org/drawingml/2006/main">
            <a:off x="990600" y="38862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956"/>
          </a:bodyPr>
          <a:lstStyle xmlns:a="http://schemas.openxmlformats.org/drawingml/2006/main"/>
          <a:p xmlns:a="http://schemas.openxmlformats.org/drawingml/2006/main">
            <a:pPr algn="l">
              <a:lnSpc>
                <a:spcPct val="115000"/>
              </a:lnSpc>
              <a:buNone/>
              <a:defRPr sz="1875" b="1" i="0">
                <a:solidFill>
                  <a:srgbClr val="121522"/>
                </a:solidFill>
                <a:latin typeface="Arial"/>
                <a:ea typeface="Arial"/>
                <a:cs typeface="Arial"/>
              </a:defRPr>
            </a:pPr>
            <a:r>
              <a:rPr sz="1875" b="1" i="0">
                <a:solidFill>
                  <a:srgbClr val="121522"/>
                </a:solidFill>
                <a:latin typeface="Arial"/>
                <a:ea typeface="Arial"/>
                <a:cs typeface="Arial"/>
              </a:rPr>
              <a:t>Codex and Claude Code</a:t>
            </a:r>
          </a:p>
        </p:txBody>
      </p:sp>
      <p:sp>
        <p:nvSpPr>
          <p:cNvPr id="12" name="">
            <a:extLst xmlns:a="http://schemas.openxmlformats.org/drawingml/2006/main">
              <a:ext uri="{FF2B5EF4-FFF2-40B4-BE49-F238E27FC236}">
                <a16:creationId xmlns:a16="http://schemas.microsoft.com/office/drawing/2014/main" id="{F4127F7D-5260-4AC5-985B-C557A8388DD0}"/>
              </a:ext>
            </a:extLst>
          </p:cNvPr>
          <p:cNvSpPr>
            <a:spLocks xmlns:a="http://schemas.openxmlformats.org/drawingml/2006/main" noGrp="1"/>
          </p:cNvSpPr>
          <p:nvPr/>
        </p:nvSpPr>
        <p:spPr>
          <a:xfrm xmlns:a="http://schemas.openxmlformats.org/drawingml/2006/main">
            <a:off x="990600" y="43434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780"/>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They help developers write, explain, and review code.</a:t>
            </a:r>
          </a:p>
        </p:txBody>
      </p:sp>
      <p:sp>
        <p:nvSpPr>
          <p:cNvPr id="13" name="">
            <a:extLst xmlns:a="http://schemas.openxmlformats.org/drawingml/2006/main">
              <a:ext uri="{FF2B5EF4-FFF2-40B4-BE49-F238E27FC236}">
                <a16:creationId xmlns:a16="http://schemas.microsoft.com/office/drawing/2014/main" id="{31D817B3-A474-4502-BA80-8A951E5728A7}"/>
              </a:ext>
            </a:extLst>
          </p:cNvPr>
          <p:cNvSpPr>
            <a:spLocks xmlns:a="http://schemas.openxmlformats.org/drawingml/2006/main" noGrp="1"/>
          </p:cNvSpPr>
          <p:nvPr/>
        </p:nvSpPr>
        <p:spPr>
          <a:xfrm xmlns:a="http://schemas.openxmlformats.org/drawingml/2006/main">
            <a:off x="5962650" y="3200400"/>
            <a:ext cx="5543550" cy="2038350"/>
          </a:xfrm>
          <a:prstGeom xmlns:a="http://schemas.openxmlformats.org/drawingml/2006/main" prst="roundRect">
            <a:avLst>
              <a:gd name="adj" fmla="val 5607"/>
            </a:avLst>
          </a:prstGeom>
          <a:solidFill xmlns:a="http://schemas.openxmlformats.org/drawingml/2006/main">
            <a:srgbClr val="F1F0FF"/>
          </a:solidFill>
          <a:ln xmlns:a="http://schemas.openxmlformats.org/drawingml/2006/main" w="19050">
            <a:solidFill>
              <a:srgbClr val="7C71FF"/>
            </a:solidFill>
            <a:prstDash val="solid"/>
          </a:ln>
        </p:spPr>
      </p:sp>
      <p:sp>
        <p:nvSpPr>
          <p:cNvPr id="14" name="">
            <a:extLst xmlns:a="http://schemas.openxmlformats.org/drawingml/2006/main">
              <a:ext uri="{FF2B5EF4-FFF2-40B4-BE49-F238E27FC236}">
                <a16:creationId xmlns:a16="http://schemas.microsoft.com/office/drawing/2014/main" id="{22C3376A-C86C-41B4-9DBE-459977CA4925}"/>
              </a:ext>
            </a:extLst>
          </p:cNvPr>
          <p:cNvSpPr>
            <a:spLocks xmlns:a="http://schemas.openxmlformats.org/drawingml/2006/main" noGrp="1"/>
          </p:cNvSpPr>
          <p:nvPr/>
        </p:nvSpPr>
        <p:spPr>
          <a:xfrm xmlns:a="http://schemas.openxmlformats.org/drawingml/2006/main">
            <a:off x="6286500" y="35242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5646E8"/>
                </a:solidFill>
                <a:latin typeface="Arial"/>
                <a:ea typeface="Arial"/>
                <a:cs typeface="Arial"/>
              </a:defRPr>
            </a:pPr>
            <a:r>
              <a:rPr sz="900" b="1" i="0">
                <a:solidFill>
                  <a:srgbClr val="5646E8"/>
                </a:solidFill>
                <a:latin typeface="Arial"/>
                <a:ea typeface="Arial"/>
                <a:cs typeface="Arial"/>
              </a:rPr>
              <a:t>INVARIA</a:t>
            </a:r>
          </a:p>
        </p:txBody>
      </p:sp>
      <p:sp>
        <p:nvSpPr>
          <p:cNvPr id="15" name="">
            <a:extLst xmlns:a="http://schemas.openxmlformats.org/drawingml/2006/main">
              <a:ext uri="{FF2B5EF4-FFF2-40B4-BE49-F238E27FC236}">
                <a16:creationId xmlns:a16="http://schemas.microsoft.com/office/drawing/2014/main" id="{1B380289-6211-46A0-834F-73EC24E433B3}"/>
              </a:ext>
            </a:extLst>
          </p:cNvPr>
          <p:cNvSpPr>
            <a:spLocks xmlns:a="http://schemas.openxmlformats.org/drawingml/2006/main" noGrp="1"/>
          </p:cNvSpPr>
          <p:nvPr/>
        </p:nvSpPr>
        <p:spPr>
          <a:xfrm xmlns:a="http://schemas.openxmlformats.org/drawingml/2006/main">
            <a:off x="6286500" y="3886200"/>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956"/>
          </a:bodyPr>
          <a:lstStyle xmlns:a="http://schemas.openxmlformats.org/drawingml/2006/main"/>
          <a:p xmlns:a="http://schemas.openxmlformats.org/drawingml/2006/main">
            <a:pPr algn="l">
              <a:lnSpc>
                <a:spcPct val="115000"/>
              </a:lnSpc>
              <a:buNone/>
              <a:defRPr sz="1875" b="1" i="0">
                <a:solidFill>
                  <a:srgbClr val="121522"/>
                </a:solidFill>
                <a:latin typeface="Arial"/>
                <a:ea typeface="Arial"/>
                <a:cs typeface="Arial"/>
              </a:defRPr>
            </a:pPr>
            <a:r>
              <a:rPr sz="1875" b="1" i="0">
                <a:solidFill>
                  <a:srgbClr val="121522"/>
                </a:solidFill>
                <a:latin typeface="Arial"/>
                <a:ea typeface="Arial"/>
                <a:cs typeface="Arial"/>
              </a:rPr>
              <a:t>A focused security review</a:t>
            </a:r>
          </a:p>
        </p:txBody>
      </p:sp>
      <p:sp>
        <p:nvSpPr>
          <p:cNvPr id="16" name="">
            <a:extLst xmlns:a="http://schemas.openxmlformats.org/drawingml/2006/main">
              <a:ext uri="{FF2B5EF4-FFF2-40B4-BE49-F238E27FC236}">
                <a16:creationId xmlns:a16="http://schemas.microsoft.com/office/drawing/2014/main" id="{1604D736-0C29-4C9D-97CB-620666C41E1A}"/>
              </a:ext>
            </a:extLst>
          </p:cNvPr>
          <p:cNvSpPr>
            <a:spLocks xmlns:a="http://schemas.openxmlformats.org/drawingml/2006/main" noGrp="1"/>
          </p:cNvSpPr>
          <p:nvPr/>
        </p:nvSpPr>
        <p:spPr>
          <a:xfrm xmlns:a="http://schemas.openxmlformats.org/drawingml/2006/main">
            <a:off x="6286500" y="434340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554"/>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It maps the app, asks security questions, and shows the code path behind each possible issue.</a:t>
            </a:r>
          </a:p>
        </p:txBody>
      </p:sp>
      <p:sp>
        <p:nvSpPr>
          <p:cNvPr id="17" name="">
            <a:extLst xmlns:a="http://schemas.openxmlformats.org/drawingml/2006/main">
              <a:ext uri="{FF2B5EF4-FFF2-40B4-BE49-F238E27FC236}">
                <a16:creationId xmlns:a16="http://schemas.microsoft.com/office/drawing/2014/main" id="{AA08E697-57D8-422C-9071-D9D17F599DCC}"/>
              </a:ext>
            </a:extLst>
          </p:cNvPr>
          <p:cNvSpPr>
            <a:spLocks xmlns:a="http://schemas.openxmlformats.org/drawingml/2006/main" noGrp="1"/>
          </p:cNvSpPr>
          <p:nvPr/>
        </p:nvSpPr>
        <p:spPr>
          <a:xfrm xmlns:a="http://schemas.openxmlformats.org/drawingml/2006/main">
            <a:off x="685800" y="56769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500" b="1" i="0">
                <a:solidFill>
                  <a:srgbClr val="121522"/>
                </a:solidFill>
                <a:latin typeface="Arial"/>
                <a:ea typeface="Arial"/>
                <a:cs typeface="Arial"/>
              </a:defRPr>
            </a:pPr>
            <a:r>
              <a:rPr sz="1500" b="1" i="0">
                <a:solidFill>
                  <a:srgbClr val="121522"/>
                </a:solidFill>
                <a:latin typeface="Arial"/>
                <a:ea typeface="Arial"/>
                <a:cs typeface="Arial"/>
              </a:rPr>
              <a:t>The model helps reason about evidence. Invaria owns the security process around it.</a:t>
            </a:r>
          </a:p>
        </p:txBody>
      </p:sp>
    </p:spTree>
    <p:extLst>
      <p:ext uri="{BB962C8B-B14F-4D97-AF65-F5344CB8AC3E}">
        <p14:creationId xmlns:p14="http://schemas.microsoft.com/office/powerpoint/2010/main" val="17579926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677536-8E15-4305-BAED-9FAB46E7B17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376B1D2A-0E2B-4C60-8DBF-FE6B95A96367}"/>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653C3EF0-1C9C-44A3-B6B6-9672C0A7ACDD}"/>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Screenshot: live local Invaria workspace, captured 24 Sep 2026</a:t>
            </a:r>
          </a:p>
        </p:txBody>
      </p:sp>
      <p:sp>
        <p:nvSpPr>
          <p:cNvPr id="4" name="">
            <a:extLst xmlns:a="http://schemas.openxmlformats.org/drawingml/2006/main">
              <a:ext uri="{FF2B5EF4-FFF2-40B4-BE49-F238E27FC236}">
                <a16:creationId xmlns:a16="http://schemas.microsoft.com/office/drawing/2014/main" id="{D6387A9D-765D-4359-B964-80FCE58C6463}"/>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BE095CF-26B5-4BB0-A29B-B776F157CB8B}"/>
              </a:ext>
            </a:extLst>
          </p:cNvPr>
          <p:cNvSpPr>
            <a:spLocks xmlns:a="http://schemas.openxmlformats.org/drawingml/2006/main" noGrp="1"/>
          </p:cNvSpPr>
          <p:nvPr/>
        </p:nvSpPr>
        <p:spPr>
          <a:xfrm xmlns:a="http://schemas.openxmlformats.org/drawingml/2006/main">
            <a:off x="685800" y="514350"/>
            <a:ext cx="1143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F4E550-9D2E-4A43-98AB-90A2E157124A}"/>
              </a:ext>
            </a:extLst>
          </p:cNvPr>
          <p:cNvSpPr>
            <a:spLocks xmlns:a="http://schemas.openxmlformats.org/drawingml/2006/main" noGrp="1"/>
          </p:cNvSpPr>
          <p:nvPr/>
        </p:nvSpPr>
        <p:spPr>
          <a:xfrm xmlns:a="http://schemas.openxmlformats.org/drawingml/2006/main">
            <a:off x="771525" y="571500"/>
            <a:ext cx="971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OUR PLATFORM</a:t>
            </a:r>
          </a:p>
        </p:txBody>
      </p:sp>
      <p:sp>
        <p:nvSpPr>
          <p:cNvPr id="7" name="">
            <a:extLst xmlns:a="http://schemas.openxmlformats.org/drawingml/2006/main">
              <a:ext uri="{FF2B5EF4-FFF2-40B4-BE49-F238E27FC236}">
                <a16:creationId xmlns:a16="http://schemas.microsoft.com/office/drawing/2014/main" id="{6E8CEB45-FF1E-44DF-B6C0-D6DC6D0C614E}"/>
              </a:ext>
            </a:extLst>
          </p:cNvPr>
          <p:cNvSpPr>
            <a:spLocks xmlns:a="http://schemas.openxmlformats.org/drawingml/2006/main" noGrp="1"/>
          </p:cNvSpPr>
          <p:nvPr/>
        </p:nvSpPr>
        <p:spPr>
          <a:xfrm xmlns:a="http://schemas.openxmlformats.org/drawingml/2006/main">
            <a:off x="685800" y="10001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736"/>
          </a:bodyPr>
          <a:lstStyle xmlns:a="http://schemas.openxmlformats.org/drawingml/2006/main"/>
          <a:p xmlns:a="http://schemas.openxmlformats.org/drawingml/2006/main">
            <a:pPr algn="l">
              <a:lnSpc>
                <a:spcPct val="115000"/>
              </a:lnSpc>
              <a:buNone/>
              <a:defRPr sz="3375" b="1" i="0">
                <a:solidFill>
                  <a:srgbClr val="121522"/>
                </a:solidFill>
                <a:latin typeface="Arial"/>
                <a:ea typeface="Arial"/>
                <a:cs typeface="Arial"/>
              </a:defRPr>
            </a:pPr>
            <a:r>
              <a:rPr sz="3375" b="1" i="0">
                <a:solidFill>
                  <a:srgbClr val="121522"/>
                </a:solidFill>
                <a:latin typeface="Arial"/>
                <a:ea typeface="Arial"/>
                <a:cs typeface="Arial"/>
              </a:rPr>
              <a:t>What is Invaria?</a:t>
            </a:r>
          </a:p>
        </p:txBody>
      </p:sp>
      <p:sp>
        <p:nvSpPr>
          <p:cNvPr id="8" name="">
            <a:extLst xmlns:a="http://schemas.openxmlformats.org/drawingml/2006/main">
              <a:ext uri="{FF2B5EF4-FFF2-40B4-BE49-F238E27FC236}">
                <a16:creationId xmlns:a16="http://schemas.microsoft.com/office/drawing/2014/main" id="{D8EADFB7-7969-4A5B-A09F-29001A398053}"/>
              </a:ext>
            </a:extLst>
          </p:cNvPr>
          <p:cNvSpPr>
            <a:spLocks xmlns:a="http://schemas.openxmlformats.org/drawingml/2006/main" noGrp="1"/>
          </p:cNvSpPr>
          <p:nvPr/>
        </p:nvSpPr>
        <p:spPr>
          <a:xfrm xmlns:a="http://schemas.openxmlformats.org/drawingml/2006/main">
            <a:off x="685800" y="17049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956"/>
          </a:bodyPr>
          <a:lstStyle xmlns:a="http://schemas.openxmlformats.org/drawingml/2006/main"/>
          <a:p xmlns:a="http://schemas.openxmlformats.org/drawingml/2006/main">
            <a:pPr algn="l">
              <a:lnSpc>
                <a:spcPct val="115000"/>
              </a:lnSpc>
              <a:buNone/>
              <a:defRPr sz="1500" b="0" i="0">
                <a:solidFill>
                  <a:srgbClr val="667086"/>
                </a:solidFill>
                <a:latin typeface="Arial"/>
                <a:ea typeface="Arial"/>
                <a:cs typeface="Arial"/>
              </a:defRPr>
            </a:pPr>
            <a:r>
              <a:rPr sz="1500" b="0" i="0">
                <a:solidFill>
                  <a:srgbClr val="667086"/>
                </a:solidFill>
                <a:latin typeface="Arial"/>
                <a:ea typeface="Arial"/>
                <a:cs typeface="Arial"/>
              </a:rPr>
              <a:t>Invaria reads a software repository and gives the team a clear security review.</a:t>
            </a:r>
          </a:p>
        </p:txBody>
      </p:sp>
      <p:sp>
        <p:nvSpPr>
          <p:cNvPr id="9" name="">
            <a:extLst xmlns:a="http://schemas.openxmlformats.org/drawingml/2006/main">
              <a:ext uri="{FF2B5EF4-FFF2-40B4-BE49-F238E27FC236}">
                <a16:creationId xmlns:a16="http://schemas.microsoft.com/office/drawing/2014/main" id="{6DAD141E-7B89-4286-934D-E8F96D7A1BC3}"/>
              </a:ext>
            </a:extLst>
          </p:cNvPr>
          <p:cNvSpPr>
            <a:spLocks xmlns:a="http://schemas.openxmlformats.org/drawingml/2006/main" noGrp="1"/>
          </p:cNvSpPr>
          <p:nvPr/>
        </p:nvSpPr>
        <p:spPr>
          <a:xfrm xmlns:a="http://schemas.openxmlformats.org/drawingml/2006/main">
            <a:off x="685800" y="2800350"/>
            <a:ext cx="247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66165ACC-1857-4740-B3AD-52F91D5509CE}"/>
              </a:ext>
            </a:extLst>
          </p:cNvPr>
          <p:cNvSpPr>
            <a:spLocks xmlns:a="http://schemas.openxmlformats.org/drawingml/2006/main" noGrp="1"/>
          </p:cNvSpPr>
          <p:nvPr/>
        </p:nvSpPr>
        <p:spPr>
          <a:xfrm xmlns:a="http://schemas.openxmlformats.org/drawingml/2006/main">
            <a:off x="1104900" y="27622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816"/>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Repository</a:t>
            </a:r>
          </a:p>
        </p:txBody>
      </p:sp>
      <p:sp>
        <p:nvSpPr>
          <p:cNvPr id="11" name="">
            <a:extLst xmlns:a="http://schemas.openxmlformats.org/drawingml/2006/main">
              <a:ext uri="{FF2B5EF4-FFF2-40B4-BE49-F238E27FC236}">
                <a16:creationId xmlns:a16="http://schemas.microsoft.com/office/drawing/2014/main" id="{1C30B3B9-77FA-48DA-A3EC-D3A3795C4386}"/>
              </a:ext>
            </a:extLst>
          </p:cNvPr>
          <p:cNvSpPr>
            <a:spLocks xmlns:a="http://schemas.openxmlformats.org/drawingml/2006/main" noGrp="1"/>
          </p:cNvSpPr>
          <p:nvPr/>
        </p:nvSpPr>
        <p:spPr>
          <a:xfrm xmlns:a="http://schemas.openxmlformats.org/drawingml/2006/main">
            <a:off x="1104900" y="30670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Connect a GitHub or GitLab project</a:t>
            </a:r>
          </a:p>
        </p:txBody>
      </p:sp>
      <p:sp>
        <p:nvSpPr>
          <p:cNvPr id="12" name="">
            <a:extLst xmlns:a="http://schemas.openxmlformats.org/drawingml/2006/main">
              <a:ext uri="{FF2B5EF4-FFF2-40B4-BE49-F238E27FC236}">
                <a16:creationId xmlns:a16="http://schemas.microsoft.com/office/drawing/2014/main" id="{E72E503F-5354-4097-BA55-C7005CE363AB}"/>
              </a:ext>
            </a:extLst>
          </p:cNvPr>
          <p:cNvSpPr>
            <a:spLocks xmlns:a="http://schemas.openxmlformats.org/drawingml/2006/main" noGrp="1"/>
          </p:cNvSpPr>
          <p:nvPr/>
        </p:nvSpPr>
        <p:spPr>
          <a:xfrm xmlns:a="http://schemas.openxmlformats.org/drawingml/2006/main">
            <a:off x="685800" y="3590925"/>
            <a:ext cx="247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D0484A29-2B44-4EB9-861C-5BE4A3BC25FB}"/>
              </a:ext>
            </a:extLst>
          </p:cNvPr>
          <p:cNvSpPr>
            <a:spLocks xmlns:a="http://schemas.openxmlformats.org/drawingml/2006/main" noGrp="1"/>
          </p:cNvSpPr>
          <p:nvPr/>
        </p:nvSpPr>
        <p:spPr>
          <a:xfrm xmlns:a="http://schemas.openxmlformats.org/drawingml/2006/main">
            <a:off x="1104900" y="3552825"/>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816"/>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Analysis</a:t>
            </a:r>
          </a:p>
        </p:txBody>
      </p:sp>
      <p:sp>
        <p:nvSpPr>
          <p:cNvPr id="14" name="">
            <a:extLst xmlns:a="http://schemas.openxmlformats.org/drawingml/2006/main">
              <a:ext uri="{FF2B5EF4-FFF2-40B4-BE49-F238E27FC236}">
                <a16:creationId xmlns:a16="http://schemas.microsoft.com/office/drawing/2014/main" id="{D80398D3-D43E-43B1-9B5A-B626EF6E35DC}"/>
              </a:ext>
            </a:extLst>
          </p:cNvPr>
          <p:cNvSpPr>
            <a:spLocks xmlns:a="http://schemas.openxmlformats.org/drawingml/2006/main" noGrp="1"/>
          </p:cNvSpPr>
          <p:nvPr/>
        </p:nvSpPr>
        <p:spPr>
          <a:xfrm xmlns:a="http://schemas.openxmlformats.org/drawingml/2006/main">
            <a:off x="1104900" y="385762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Read code, APIs, data, and access rules</a:t>
            </a:r>
          </a:p>
        </p:txBody>
      </p:sp>
      <p:sp>
        <p:nvSpPr>
          <p:cNvPr id="15" name="">
            <a:extLst xmlns:a="http://schemas.openxmlformats.org/drawingml/2006/main">
              <a:ext uri="{FF2B5EF4-FFF2-40B4-BE49-F238E27FC236}">
                <a16:creationId xmlns:a16="http://schemas.microsoft.com/office/drawing/2014/main" id="{84CB9CFC-3C5D-44A9-94B3-DD5572E5DA10}"/>
              </a:ext>
            </a:extLst>
          </p:cNvPr>
          <p:cNvSpPr>
            <a:spLocks xmlns:a="http://schemas.openxmlformats.org/drawingml/2006/main" noGrp="1"/>
          </p:cNvSpPr>
          <p:nvPr/>
        </p:nvSpPr>
        <p:spPr>
          <a:xfrm xmlns:a="http://schemas.openxmlformats.org/drawingml/2006/main">
            <a:off x="685800" y="4381500"/>
            <a:ext cx="247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99ED5795-87C4-4860-B7EA-D3DFF18489B3}"/>
              </a:ext>
            </a:extLst>
          </p:cNvPr>
          <p:cNvSpPr>
            <a:spLocks xmlns:a="http://schemas.openxmlformats.org/drawingml/2006/main" noGrp="1"/>
          </p:cNvSpPr>
          <p:nvPr/>
        </p:nvSpPr>
        <p:spPr>
          <a:xfrm xmlns:a="http://schemas.openxmlformats.org/drawingml/2006/main">
            <a:off x="1104900" y="43434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816"/>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Report</a:t>
            </a:r>
          </a:p>
        </p:txBody>
      </p:sp>
      <p:sp>
        <p:nvSpPr>
          <p:cNvPr id="17" name="">
            <a:extLst xmlns:a="http://schemas.openxmlformats.org/drawingml/2006/main">
              <a:ext uri="{FF2B5EF4-FFF2-40B4-BE49-F238E27FC236}">
                <a16:creationId xmlns:a16="http://schemas.microsoft.com/office/drawing/2014/main" id="{EBFABE32-B531-4D54-8B15-31ED7E5263FE}"/>
              </a:ext>
            </a:extLst>
          </p:cNvPr>
          <p:cNvSpPr>
            <a:spLocks xmlns:a="http://schemas.openxmlformats.org/drawingml/2006/main" noGrp="1"/>
          </p:cNvSpPr>
          <p:nvPr/>
        </p:nvSpPr>
        <p:spPr>
          <a:xfrm xmlns:a="http://schemas.openxmlformats.org/drawingml/2006/main">
            <a:off x="1104900" y="464820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Show possible risks, proof, and suggested fixes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b212539377348a0"/>
          <a:srcRect xmlns:a="http://schemas.openxmlformats.org/drawingml/2006/main" l="12134" t="0" r="12134" b="0"/>
          <a:stretch xmlns:a="http://schemas.openxmlformats.org/drawingml/2006/main">
            <a:fillRect l="0" t="0" r="0" b="0"/>
          </a:stretch>
        </p:blipFill>
        <p:spPr>
          <a:xfrm xmlns:a="http://schemas.openxmlformats.org/drawingml/2006/main">
            <a:off x="6238875" y="885825"/>
            <a:ext cx="5267325" cy="3695700"/>
          </a:xfrm>
          <a:prstGeom xmlns:a="http://schemas.openxmlformats.org/drawingml/2006/main" prst="roundRect">
            <a:avLst>
              <a:gd name="adj" fmla="val 3093"/>
            </a:avLst>
          </a:prstGeom>
        </p:spPr>
      </p:pic>
      <p:sp>
        <p:nvSpPr>
          <p:cNvPr id="19" name="">
            <a:extLst xmlns:a="http://schemas.openxmlformats.org/drawingml/2006/main">
              <a:ext uri="{FF2B5EF4-FFF2-40B4-BE49-F238E27FC236}">
                <a16:creationId xmlns:a16="http://schemas.microsoft.com/office/drawing/2014/main" id="{76677489-D737-4D39-A532-B9CD30B29DEB}"/>
              </a:ext>
            </a:extLst>
          </p:cNvPr>
          <p:cNvSpPr>
            <a:spLocks xmlns:a="http://schemas.openxmlformats.org/drawingml/2006/main" noGrp="1"/>
          </p:cNvSpPr>
          <p:nvPr/>
        </p:nvSpPr>
        <p:spPr>
          <a:xfrm xmlns:a="http://schemas.openxmlformats.org/drawingml/2006/main">
            <a:off x="6238875" y="48101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7232"/>
          </a:bodyPr>
          <a:lstStyle xmlns:a="http://schemas.openxmlformats.org/drawingml/2006/main"/>
          <a:p xmlns:a="http://schemas.openxmlformats.org/drawingml/2006/main">
            <a:pPr algn="l">
              <a:lnSpc>
                <a:spcPct val="115000"/>
              </a:lnSpc>
              <a:buNone/>
              <a:defRPr sz="1275" b="0" i="0">
                <a:solidFill>
                  <a:srgbClr val="667086"/>
                </a:solidFill>
                <a:latin typeface="Arial"/>
                <a:ea typeface="Arial"/>
                <a:cs typeface="Arial"/>
              </a:defRPr>
            </a:pPr>
            <a:r>
              <a:rPr sz="1275" b="0" i="0">
                <a:solidFill>
                  <a:srgbClr val="667086"/>
                </a:solidFill>
                <a:latin typeface="Arial"/>
                <a:ea typeface="Arial"/>
                <a:cs typeface="Arial"/>
              </a:rPr>
              <a:t>The dashboard can show both the technical evidence and the business impact.</a:t>
            </a:r>
          </a:p>
        </p:txBody>
      </p:sp>
    </p:spTree>
    <p:extLst>
      <p:ext uri="{BB962C8B-B14F-4D97-AF65-F5344CB8AC3E}">
        <p14:creationId xmlns:p14="http://schemas.microsoft.com/office/powerpoint/2010/main" val="1827980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6F4A85D-1714-42C8-A4A2-A1CBB56AAE9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ECFF503A-FA4E-4AE2-B949-CCEEAD876638}"/>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A768394A-B849-4E1F-B4E3-B436213D2C31}"/>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a:t>
            </a:r>
          </a:p>
        </p:txBody>
      </p:sp>
      <p:sp>
        <p:nvSpPr>
          <p:cNvPr id="4" name="">
            <a:extLst xmlns:a="http://schemas.openxmlformats.org/drawingml/2006/main">
              <a:ext uri="{FF2B5EF4-FFF2-40B4-BE49-F238E27FC236}">
                <a16:creationId xmlns:a16="http://schemas.microsoft.com/office/drawing/2014/main" id="{5B67A5E2-20F9-4D6D-81C0-F4F7AECE1C32}"/>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9E2E21E-9B7E-4C4F-B0BE-12CBEF66B075}"/>
              </a:ext>
            </a:extLst>
          </p:cNvPr>
          <p:cNvSpPr>
            <a:spLocks xmlns:a="http://schemas.openxmlformats.org/drawingml/2006/main" noGrp="1"/>
          </p:cNvSpPr>
          <p:nvPr/>
        </p:nvSpPr>
        <p:spPr>
          <a:xfrm xmlns:a="http://schemas.openxmlformats.org/drawingml/2006/main">
            <a:off x="685800" y="514350"/>
            <a:ext cx="1143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5598DE-910F-4CCE-8358-74E36548BFC6}"/>
              </a:ext>
            </a:extLst>
          </p:cNvPr>
          <p:cNvSpPr>
            <a:spLocks xmlns:a="http://schemas.openxmlformats.org/drawingml/2006/main" noGrp="1"/>
          </p:cNvSpPr>
          <p:nvPr/>
        </p:nvSpPr>
        <p:spPr>
          <a:xfrm xmlns:a="http://schemas.openxmlformats.org/drawingml/2006/main">
            <a:off x="771525" y="571500"/>
            <a:ext cx="971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HOW IT WORKS</a:t>
            </a:r>
          </a:p>
        </p:txBody>
      </p:sp>
      <p:sp>
        <p:nvSpPr>
          <p:cNvPr id="7" name="">
            <a:extLst xmlns:a="http://schemas.openxmlformats.org/drawingml/2006/main">
              <a:ext uri="{FF2B5EF4-FFF2-40B4-BE49-F238E27FC236}">
                <a16:creationId xmlns:a16="http://schemas.microsoft.com/office/drawing/2014/main" id="{6950CC44-4C3C-4CDF-BBFC-A07FAD0CC3B3}"/>
              </a:ext>
            </a:extLst>
          </p:cNvPr>
          <p:cNvSpPr>
            <a:spLocks xmlns:a="http://schemas.openxmlformats.org/drawingml/2006/main" noGrp="1"/>
          </p:cNvSpPr>
          <p:nvPr/>
        </p:nvSpPr>
        <p:spPr>
          <a:xfrm xmlns:a="http://schemas.openxmlformats.org/drawingml/2006/main">
            <a:off x="685800" y="1000125"/>
            <a:ext cx="7620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7286"/>
          </a:bodyPr>
          <a:lstStyle xmlns:a="http://schemas.openxmlformats.org/drawingml/2006/main"/>
          <a:p xmlns:a="http://schemas.openxmlformats.org/drawingml/2006/main">
            <a:pPr algn="l">
              <a:lnSpc>
                <a:spcPct val="115000"/>
              </a:lnSpc>
              <a:buNone/>
              <a:defRPr sz="3300" b="1" i="0">
                <a:solidFill>
                  <a:srgbClr val="121522"/>
                </a:solidFill>
                <a:latin typeface="Arial"/>
                <a:ea typeface="Arial"/>
                <a:cs typeface="Arial"/>
              </a:defRPr>
            </a:pPr>
            <a:r>
              <a:rPr sz="3300" b="1" i="0">
                <a:solidFill>
                  <a:srgbClr val="121522"/>
                </a:solidFill>
                <a:latin typeface="Arial"/>
                <a:ea typeface="Arial"/>
                <a:cs typeface="Arial"/>
              </a:rPr>
              <a:t>From repository to security report</a:t>
            </a:r>
          </a:p>
        </p:txBody>
      </p:sp>
      <p:sp>
        <p:nvSpPr>
          <p:cNvPr id="8" name="">
            <a:extLst xmlns:a="http://schemas.openxmlformats.org/drawingml/2006/main">
              <a:ext uri="{FF2B5EF4-FFF2-40B4-BE49-F238E27FC236}">
                <a16:creationId xmlns:a16="http://schemas.microsoft.com/office/drawing/2014/main" id="{59DF7765-0FB7-47EA-977D-0C3D5180D36F}"/>
              </a:ext>
            </a:extLst>
          </p:cNvPr>
          <p:cNvSpPr>
            <a:spLocks xmlns:a="http://schemas.openxmlformats.org/drawingml/2006/main" noGrp="1"/>
          </p:cNvSpPr>
          <p:nvPr/>
        </p:nvSpPr>
        <p:spPr>
          <a:xfrm xmlns:a="http://schemas.openxmlformats.org/drawingml/2006/main">
            <a:off x="685800" y="170497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500" b="0" i="0">
                <a:solidFill>
                  <a:srgbClr val="667086"/>
                </a:solidFill>
                <a:latin typeface="Arial"/>
                <a:ea typeface="Arial"/>
                <a:cs typeface="Arial"/>
              </a:defRPr>
            </a:pPr>
            <a:r>
              <a:rPr sz="1500" b="0" i="0">
                <a:solidFill>
                  <a:srgbClr val="667086"/>
                </a:solidFill>
                <a:latin typeface="Arial"/>
                <a:ea typeface="Arial"/>
                <a:cs typeface="Arial"/>
              </a:rPr>
              <a:t>The blueprint describes one simple flow.</a:t>
            </a:r>
          </a:p>
        </p:txBody>
      </p:sp>
      <p:sp>
        <p:nvSpPr>
          <p:cNvPr id="9" name="">
            <a:extLst xmlns:a="http://schemas.openxmlformats.org/drawingml/2006/main">
              <a:ext uri="{FF2B5EF4-FFF2-40B4-BE49-F238E27FC236}">
                <a16:creationId xmlns:a16="http://schemas.microsoft.com/office/drawing/2014/main" id="{A932768C-8FF5-425B-8848-1F234F17A286}"/>
              </a:ext>
            </a:extLst>
          </p:cNvPr>
          <p:cNvSpPr>
            <a:spLocks xmlns:a="http://schemas.openxmlformats.org/drawingml/2006/main" noGrp="1"/>
          </p:cNvSpPr>
          <p:nvPr/>
        </p:nvSpPr>
        <p:spPr>
          <a:xfrm xmlns:a="http://schemas.openxmlformats.org/drawingml/2006/main">
            <a:off x="685800" y="2762250"/>
            <a:ext cx="1809750" cy="190500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BAFDA253-EA5F-44E9-81B6-BC4D39CDA42B}"/>
              </a:ext>
            </a:extLst>
          </p:cNvPr>
          <p:cNvSpPr>
            <a:spLocks xmlns:a="http://schemas.openxmlformats.org/drawingml/2006/main" noGrp="1"/>
          </p:cNvSpPr>
          <p:nvPr/>
        </p:nvSpPr>
        <p:spPr>
          <a:xfrm xmlns:a="http://schemas.openxmlformats.org/drawingml/2006/main">
            <a:off x="876300" y="30003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2BBCA22C-187F-4A2F-8C51-447666B6A370}"/>
              </a:ext>
            </a:extLst>
          </p:cNvPr>
          <p:cNvSpPr>
            <a:spLocks xmlns:a="http://schemas.openxmlformats.org/drawingml/2006/main" noGrp="1"/>
          </p:cNvSpPr>
          <p:nvPr/>
        </p:nvSpPr>
        <p:spPr>
          <a:xfrm xmlns:a="http://schemas.openxmlformats.org/drawingml/2006/main">
            <a:off x="876300" y="3371850"/>
            <a:ext cx="147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45"/>
          </a:bodyPr>
          <a:lstStyle xmlns:a="http://schemas.openxmlformats.org/drawingml/2006/main"/>
          <a:p xmlns:a="http://schemas.openxmlformats.org/drawingml/2006/main">
            <a:pPr algn="l">
              <a:lnSpc>
                <a:spcPct val="115000"/>
              </a:lnSpc>
              <a:buNone/>
              <a:defRPr sz="1650" b="1" i="0">
                <a:solidFill>
                  <a:srgbClr val="121522"/>
                </a:solidFill>
                <a:latin typeface="Arial"/>
                <a:ea typeface="Arial"/>
                <a:cs typeface="Arial"/>
              </a:defRPr>
            </a:pPr>
            <a:r>
              <a:rPr sz="1650" b="1" i="0">
                <a:solidFill>
                  <a:srgbClr val="121522"/>
                </a:solidFill>
                <a:latin typeface="Arial"/>
                <a:ea typeface="Arial"/>
                <a:cs typeface="Arial"/>
              </a:rPr>
              <a:t>Repository</a:t>
            </a:r>
          </a:p>
        </p:txBody>
      </p:sp>
      <p:sp>
        <p:nvSpPr>
          <p:cNvPr id="12" name="">
            <a:extLst xmlns:a="http://schemas.openxmlformats.org/drawingml/2006/main">
              <a:ext uri="{FF2B5EF4-FFF2-40B4-BE49-F238E27FC236}">
                <a16:creationId xmlns:a16="http://schemas.microsoft.com/office/drawing/2014/main" id="{D7773B6B-D16F-4F17-BEE0-917DE25726A1}"/>
              </a:ext>
            </a:extLst>
          </p:cNvPr>
          <p:cNvSpPr>
            <a:spLocks xmlns:a="http://schemas.openxmlformats.org/drawingml/2006/main" noGrp="1"/>
          </p:cNvSpPr>
          <p:nvPr/>
        </p:nvSpPr>
        <p:spPr>
          <a:xfrm xmlns:a="http://schemas.openxmlformats.org/drawingml/2006/main">
            <a:off x="876300" y="3810000"/>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A company connects its code</a:t>
            </a:r>
          </a:p>
        </p:txBody>
      </p:sp>
      <p:sp>
        <p:nvSpPr>
          <p:cNvPr id="13" name="">
            <a:extLst xmlns:a="http://schemas.openxmlformats.org/drawingml/2006/main">
              <a:ext uri="{FF2B5EF4-FFF2-40B4-BE49-F238E27FC236}">
                <a16:creationId xmlns:a16="http://schemas.microsoft.com/office/drawing/2014/main" id="{04ED9C80-F17E-47F1-9ED5-AED091C9A200}"/>
              </a:ext>
            </a:extLst>
          </p:cNvPr>
          <p:cNvSpPr>
            <a:spLocks xmlns:a="http://schemas.openxmlformats.org/drawingml/2006/main" noGrp="1"/>
          </p:cNvSpPr>
          <p:nvPr/>
        </p:nvSpPr>
        <p:spPr>
          <a:xfrm xmlns:a="http://schemas.openxmlformats.org/drawingml/2006/main">
            <a:off x="2838450" y="2762250"/>
            <a:ext cx="1809750" cy="190500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11AD8935-FA2A-425D-B342-B9A1D12C5943}"/>
              </a:ext>
            </a:extLst>
          </p:cNvPr>
          <p:cNvSpPr>
            <a:spLocks xmlns:a="http://schemas.openxmlformats.org/drawingml/2006/main" noGrp="1"/>
          </p:cNvSpPr>
          <p:nvPr/>
        </p:nvSpPr>
        <p:spPr>
          <a:xfrm xmlns:a="http://schemas.openxmlformats.org/drawingml/2006/main">
            <a:off x="3028950" y="30003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44A40944-B6B7-4507-ACFB-B96A9ABC6E84}"/>
              </a:ext>
            </a:extLst>
          </p:cNvPr>
          <p:cNvSpPr>
            <a:spLocks xmlns:a="http://schemas.openxmlformats.org/drawingml/2006/main" noGrp="1"/>
          </p:cNvSpPr>
          <p:nvPr/>
        </p:nvSpPr>
        <p:spPr>
          <a:xfrm xmlns:a="http://schemas.openxmlformats.org/drawingml/2006/main">
            <a:off x="3028950" y="3371850"/>
            <a:ext cx="147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45"/>
          </a:bodyPr>
          <a:lstStyle xmlns:a="http://schemas.openxmlformats.org/drawingml/2006/main"/>
          <a:p xmlns:a="http://schemas.openxmlformats.org/drawingml/2006/main">
            <a:pPr algn="l">
              <a:lnSpc>
                <a:spcPct val="115000"/>
              </a:lnSpc>
              <a:buNone/>
              <a:defRPr sz="1650" b="1" i="0">
                <a:solidFill>
                  <a:srgbClr val="121522"/>
                </a:solidFill>
                <a:latin typeface="Arial"/>
                <a:ea typeface="Arial"/>
                <a:cs typeface="Arial"/>
              </a:defRPr>
            </a:pPr>
            <a:r>
              <a:rPr sz="1650" b="1" i="0">
                <a:solidFill>
                  <a:srgbClr val="121522"/>
                </a:solidFill>
                <a:latin typeface="Arial"/>
                <a:ea typeface="Arial"/>
                <a:cs typeface="Arial"/>
              </a:rPr>
              <a:t>Scan</a:t>
            </a:r>
          </a:p>
        </p:txBody>
      </p:sp>
      <p:sp>
        <p:nvSpPr>
          <p:cNvPr id="16" name="">
            <a:extLst xmlns:a="http://schemas.openxmlformats.org/drawingml/2006/main">
              <a:ext uri="{FF2B5EF4-FFF2-40B4-BE49-F238E27FC236}">
                <a16:creationId xmlns:a16="http://schemas.microsoft.com/office/drawing/2014/main" id="{E3122F8F-AE0C-45F7-B11B-24F5F07106C0}"/>
              </a:ext>
            </a:extLst>
          </p:cNvPr>
          <p:cNvSpPr>
            <a:spLocks xmlns:a="http://schemas.openxmlformats.org/drawingml/2006/main" noGrp="1"/>
          </p:cNvSpPr>
          <p:nvPr/>
        </p:nvSpPr>
        <p:spPr>
          <a:xfrm xmlns:a="http://schemas.openxmlformats.org/drawingml/2006/main">
            <a:off x="3028950" y="3810000"/>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Invaria reads the code and APIs</a:t>
            </a:r>
          </a:p>
        </p:txBody>
      </p:sp>
      <p:sp>
        <p:nvSpPr>
          <p:cNvPr id="17" name="">
            <a:extLst xmlns:a="http://schemas.openxmlformats.org/drawingml/2006/main">
              <a:ext uri="{FF2B5EF4-FFF2-40B4-BE49-F238E27FC236}">
                <a16:creationId xmlns:a16="http://schemas.microsoft.com/office/drawing/2014/main" id="{9EB74D11-134D-4B9C-BB0F-2843F24225FE}"/>
              </a:ext>
            </a:extLst>
          </p:cNvPr>
          <p:cNvSpPr>
            <a:spLocks xmlns:a="http://schemas.openxmlformats.org/drawingml/2006/main" noGrp="1"/>
          </p:cNvSpPr>
          <p:nvPr/>
        </p:nvSpPr>
        <p:spPr>
          <a:xfrm xmlns:a="http://schemas.openxmlformats.org/drawingml/2006/main">
            <a:off x="4991100" y="2762250"/>
            <a:ext cx="1809750" cy="190500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18" name="">
            <a:extLst xmlns:a="http://schemas.openxmlformats.org/drawingml/2006/main">
              <a:ext uri="{FF2B5EF4-FFF2-40B4-BE49-F238E27FC236}">
                <a16:creationId xmlns:a16="http://schemas.microsoft.com/office/drawing/2014/main" id="{21F53EA0-7D85-43D3-AFD1-BF112290FD50}"/>
              </a:ext>
            </a:extLst>
          </p:cNvPr>
          <p:cNvSpPr>
            <a:spLocks xmlns:a="http://schemas.openxmlformats.org/drawingml/2006/main" noGrp="1"/>
          </p:cNvSpPr>
          <p:nvPr/>
        </p:nvSpPr>
        <p:spPr>
          <a:xfrm xmlns:a="http://schemas.openxmlformats.org/drawingml/2006/main">
            <a:off x="5181600" y="30003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5B5B6E4C-D6FC-445B-ABF0-7B3AEA5EA8F4}"/>
              </a:ext>
            </a:extLst>
          </p:cNvPr>
          <p:cNvSpPr>
            <a:spLocks xmlns:a="http://schemas.openxmlformats.org/drawingml/2006/main" noGrp="1"/>
          </p:cNvSpPr>
          <p:nvPr/>
        </p:nvSpPr>
        <p:spPr>
          <a:xfrm xmlns:a="http://schemas.openxmlformats.org/drawingml/2006/main">
            <a:off x="5181600" y="3371850"/>
            <a:ext cx="147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45"/>
          </a:bodyPr>
          <a:lstStyle xmlns:a="http://schemas.openxmlformats.org/drawingml/2006/main"/>
          <a:p xmlns:a="http://schemas.openxmlformats.org/drawingml/2006/main">
            <a:pPr algn="l">
              <a:lnSpc>
                <a:spcPct val="115000"/>
              </a:lnSpc>
              <a:buNone/>
              <a:defRPr sz="1650" b="1" i="0">
                <a:solidFill>
                  <a:srgbClr val="121522"/>
                </a:solidFill>
                <a:latin typeface="Arial"/>
                <a:ea typeface="Arial"/>
                <a:cs typeface="Arial"/>
              </a:defRPr>
            </a:pPr>
            <a:r>
              <a:rPr sz="1650" b="1" i="0">
                <a:solidFill>
                  <a:srgbClr val="121522"/>
                </a:solidFill>
                <a:latin typeface="Arial"/>
                <a:ea typeface="Arial"/>
                <a:cs typeface="Arial"/>
              </a:rPr>
              <a:t>App map</a:t>
            </a:r>
          </a:p>
        </p:txBody>
      </p:sp>
      <p:sp>
        <p:nvSpPr>
          <p:cNvPr id="20" name="">
            <a:extLst xmlns:a="http://schemas.openxmlformats.org/drawingml/2006/main">
              <a:ext uri="{FF2B5EF4-FFF2-40B4-BE49-F238E27FC236}">
                <a16:creationId xmlns:a16="http://schemas.microsoft.com/office/drawing/2014/main" id="{282ACF54-9CC4-4678-AB19-34E1B59D829D}"/>
              </a:ext>
            </a:extLst>
          </p:cNvPr>
          <p:cNvSpPr>
            <a:spLocks xmlns:a="http://schemas.openxmlformats.org/drawingml/2006/main" noGrp="1"/>
          </p:cNvSpPr>
          <p:nvPr/>
        </p:nvSpPr>
        <p:spPr>
          <a:xfrm xmlns:a="http://schemas.openxmlformats.org/drawingml/2006/main">
            <a:off x="5181600" y="3810000"/>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It maps users, data, and routes</a:t>
            </a:r>
          </a:p>
        </p:txBody>
      </p:sp>
      <p:sp>
        <p:nvSpPr>
          <p:cNvPr id="21" name="">
            <a:extLst xmlns:a="http://schemas.openxmlformats.org/drawingml/2006/main">
              <a:ext uri="{FF2B5EF4-FFF2-40B4-BE49-F238E27FC236}">
                <a16:creationId xmlns:a16="http://schemas.microsoft.com/office/drawing/2014/main" id="{6EF0DE5B-9C70-47D2-A786-F2BC41526C14}"/>
              </a:ext>
            </a:extLst>
          </p:cNvPr>
          <p:cNvSpPr>
            <a:spLocks xmlns:a="http://schemas.openxmlformats.org/drawingml/2006/main" noGrp="1"/>
          </p:cNvSpPr>
          <p:nvPr/>
        </p:nvSpPr>
        <p:spPr>
          <a:xfrm xmlns:a="http://schemas.openxmlformats.org/drawingml/2006/main">
            <a:off x="7143750" y="2762250"/>
            <a:ext cx="1809750" cy="1905000"/>
          </a:xfrm>
          <a:prstGeom xmlns:a="http://schemas.openxmlformats.org/drawingml/2006/main" prst="roundRect">
            <a:avLst>
              <a:gd name="adj" fmla="val 6316"/>
            </a:avLst>
          </a:prstGeom>
          <a:solidFill xmlns:a="http://schemas.openxmlformats.org/drawingml/2006/main">
            <a:srgbClr val="F1F0FF"/>
          </a:solidFill>
          <a:ln xmlns:a="http://schemas.openxmlformats.org/drawingml/2006/main" w="19050">
            <a:solidFill>
              <a:srgbClr val="7C71FF"/>
            </a:solidFill>
            <a:prstDash val="solid"/>
          </a:ln>
        </p:spPr>
      </p:sp>
      <p:sp>
        <p:nvSpPr>
          <p:cNvPr id="22" name="">
            <a:extLst xmlns:a="http://schemas.openxmlformats.org/drawingml/2006/main">
              <a:ext uri="{FF2B5EF4-FFF2-40B4-BE49-F238E27FC236}">
                <a16:creationId xmlns:a16="http://schemas.microsoft.com/office/drawing/2014/main" id="{23360397-15C2-4763-A307-494818A7CF21}"/>
              </a:ext>
            </a:extLst>
          </p:cNvPr>
          <p:cNvSpPr>
            <a:spLocks xmlns:a="http://schemas.openxmlformats.org/drawingml/2006/main" noGrp="1"/>
          </p:cNvSpPr>
          <p:nvPr/>
        </p:nvSpPr>
        <p:spPr>
          <a:xfrm xmlns:a="http://schemas.openxmlformats.org/drawingml/2006/main">
            <a:off x="7334250" y="30003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8F2B5D92-8D2F-4BFB-AF29-C4C1A70E7A9B}"/>
              </a:ext>
            </a:extLst>
          </p:cNvPr>
          <p:cNvSpPr>
            <a:spLocks xmlns:a="http://schemas.openxmlformats.org/drawingml/2006/main" noGrp="1"/>
          </p:cNvSpPr>
          <p:nvPr/>
        </p:nvSpPr>
        <p:spPr>
          <a:xfrm xmlns:a="http://schemas.openxmlformats.org/drawingml/2006/main">
            <a:off x="7334250" y="3371850"/>
            <a:ext cx="147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45"/>
          </a:bodyPr>
          <a:lstStyle xmlns:a="http://schemas.openxmlformats.org/drawingml/2006/main"/>
          <a:p xmlns:a="http://schemas.openxmlformats.org/drawingml/2006/main">
            <a:pPr algn="l">
              <a:lnSpc>
                <a:spcPct val="115000"/>
              </a:lnSpc>
              <a:buNone/>
              <a:defRPr sz="1650" b="1" i="0">
                <a:solidFill>
                  <a:srgbClr val="121522"/>
                </a:solidFill>
                <a:latin typeface="Arial"/>
                <a:ea typeface="Arial"/>
                <a:cs typeface="Arial"/>
              </a:defRPr>
            </a:pPr>
            <a:r>
              <a:rPr sz="1650" b="1" i="0">
                <a:solidFill>
                  <a:srgbClr val="121522"/>
                </a:solidFill>
                <a:latin typeface="Arial"/>
                <a:ea typeface="Arial"/>
                <a:cs typeface="Arial"/>
              </a:rPr>
              <a:t>Questions</a:t>
            </a:r>
          </a:p>
        </p:txBody>
      </p:sp>
      <p:sp>
        <p:nvSpPr>
          <p:cNvPr id="24" name="">
            <a:extLst xmlns:a="http://schemas.openxmlformats.org/drawingml/2006/main">
              <a:ext uri="{FF2B5EF4-FFF2-40B4-BE49-F238E27FC236}">
                <a16:creationId xmlns:a16="http://schemas.microsoft.com/office/drawing/2014/main" id="{EBF43352-3CE9-4639-9C0F-2479768898B9}"/>
              </a:ext>
            </a:extLst>
          </p:cNvPr>
          <p:cNvSpPr>
            <a:spLocks xmlns:a="http://schemas.openxmlformats.org/drawingml/2006/main" noGrp="1"/>
          </p:cNvSpPr>
          <p:nvPr/>
        </p:nvSpPr>
        <p:spPr>
          <a:xfrm xmlns:a="http://schemas.openxmlformats.org/drawingml/2006/main">
            <a:off x="7334250" y="3810000"/>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It asks what could go wrong</a:t>
            </a:r>
          </a:p>
        </p:txBody>
      </p:sp>
      <p:sp>
        <p:nvSpPr>
          <p:cNvPr id="25" name="">
            <a:extLst xmlns:a="http://schemas.openxmlformats.org/drawingml/2006/main">
              <a:ext uri="{FF2B5EF4-FFF2-40B4-BE49-F238E27FC236}">
                <a16:creationId xmlns:a16="http://schemas.microsoft.com/office/drawing/2014/main" id="{257353A2-1E2E-4225-BF6C-296A61E40253}"/>
              </a:ext>
            </a:extLst>
          </p:cNvPr>
          <p:cNvSpPr>
            <a:spLocks xmlns:a="http://schemas.openxmlformats.org/drawingml/2006/main" noGrp="1"/>
          </p:cNvSpPr>
          <p:nvPr/>
        </p:nvSpPr>
        <p:spPr>
          <a:xfrm xmlns:a="http://schemas.openxmlformats.org/drawingml/2006/main">
            <a:off x="9296400" y="2762250"/>
            <a:ext cx="1809750" cy="190500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26" name="">
            <a:extLst xmlns:a="http://schemas.openxmlformats.org/drawingml/2006/main">
              <a:ext uri="{FF2B5EF4-FFF2-40B4-BE49-F238E27FC236}">
                <a16:creationId xmlns:a16="http://schemas.microsoft.com/office/drawing/2014/main" id="{245B3714-1627-46FF-ACC5-1CECF30092D6}"/>
              </a:ext>
            </a:extLst>
          </p:cNvPr>
          <p:cNvSpPr>
            <a:spLocks xmlns:a="http://schemas.openxmlformats.org/drawingml/2006/main" noGrp="1"/>
          </p:cNvSpPr>
          <p:nvPr/>
        </p:nvSpPr>
        <p:spPr>
          <a:xfrm xmlns:a="http://schemas.openxmlformats.org/drawingml/2006/main">
            <a:off x="9486900" y="3000375"/>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7CF4D9A0-8B68-4B2B-AAE9-B527E8E7B622}"/>
              </a:ext>
            </a:extLst>
          </p:cNvPr>
          <p:cNvSpPr>
            <a:spLocks xmlns:a="http://schemas.openxmlformats.org/drawingml/2006/main" noGrp="1"/>
          </p:cNvSpPr>
          <p:nvPr/>
        </p:nvSpPr>
        <p:spPr>
          <a:xfrm xmlns:a="http://schemas.openxmlformats.org/drawingml/2006/main">
            <a:off x="9486900" y="3371850"/>
            <a:ext cx="147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45"/>
          </a:bodyPr>
          <a:lstStyle xmlns:a="http://schemas.openxmlformats.org/drawingml/2006/main"/>
          <a:p xmlns:a="http://schemas.openxmlformats.org/drawingml/2006/main">
            <a:pPr algn="l">
              <a:lnSpc>
                <a:spcPct val="115000"/>
              </a:lnSpc>
              <a:buNone/>
              <a:defRPr sz="1650" b="1" i="0">
                <a:solidFill>
                  <a:srgbClr val="121522"/>
                </a:solidFill>
                <a:latin typeface="Arial"/>
                <a:ea typeface="Arial"/>
                <a:cs typeface="Arial"/>
              </a:defRPr>
            </a:pPr>
            <a:r>
              <a:rPr sz="1650" b="1" i="0">
                <a:solidFill>
                  <a:srgbClr val="121522"/>
                </a:solidFill>
                <a:latin typeface="Arial"/>
                <a:ea typeface="Arial"/>
                <a:cs typeface="Arial"/>
              </a:rPr>
              <a:t>Report</a:t>
            </a:r>
          </a:p>
        </p:txBody>
      </p:sp>
      <p:sp>
        <p:nvSpPr>
          <p:cNvPr id="28" name="">
            <a:extLst xmlns:a="http://schemas.openxmlformats.org/drawingml/2006/main">
              <a:ext uri="{FF2B5EF4-FFF2-40B4-BE49-F238E27FC236}">
                <a16:creationId xmlns:a16="http://schemas.microsoft.com/office/drawing/2014/main" id="{2D9FF9CE-A509-4CE7-83B6-B9795C867379}"/>
              </a:ext>
            </a:extLst>
          </p:cNvPr>
          <p:cNvSpPr>
            <a:spLocks xmlns:a="http://schemas.openxmlformats.org/drawingml/2006/main" noGrp="1"/>
          </p:cNvSpPr>
          <p:nvPr/>
        </p:nvSpPr>
        <p:spPr>
          <a:xfrm xmlns:a="http://schemas.openxmlformats.org/drawingml/2006/main">
            <a:off x="9486900" y="3810000"/>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It shows evidence and a fix</a:t>
            </a:r>
          </a:p>
        </p:txBody>
      </p: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2495550" y="3714750"/>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4" name=""/>
          <p:cNvCxnSpPr>
            <a:stCxn xmlns:a="http://schemas.openxmlformats.org/drawingml/2006/main" id="13" idx="3"/>
            <a:endCxn xmlns:a="http://schemas.openxmlformats.org/drawingml/2006/main" id="17" idx="1"/>
          </p:cNvCxnSpPr>
          <p:nvPr/>
        </p:nvCxnSpPr>
        <p:spPr>
          <a:xfrm xmlns:a="http://schemas.openxmlformats.org/drawingml/2006/main">
            <a:off x="4648200" y="3714750"/>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5" name=""/>
          <p:cNvCxnSpPr>
            <a:stCxn xmlns:a="http://schemas.openxmlformats.org/drawingml/2006/main" id="17" idx="3"/>
            <a:endCxn xmlns:a="http://schemas.openxmlformats.org/drawingml/2006/main" id="21" idx="1"/>
          </p:cNvCxnSpPr>
          <p:nvPr/>
        </p:nvCxnSpPr>
        <p:spPr>
          <a:xfrm xmlns:a="http://schemas.openxmlformats.org/drawingml/2006/main">
            <a:off x="6800850" y="3714750"/>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6" name=""/>
          <p:cNvCxnSpPr>
            <a:stCxn xmlns:a="http://schemas.openxmlformats.org/drawingml/2006/main" id="21" idx="3"/>
            <a:endCxn xmlns:a="http://schemas.openxmlformats.org/drawingml/2006/main" id="25" idx="1"/>
          </p:cNvCxnSpPr>
          <p:nvPr/>
        </p:nvCxnSpPr>
        <p:spPr>
          <a:xfrm xmlns:a="http://schemas.openxmlformats.org/drawingml/2006/main">
            <a:off x="8953500" y="3714750"/>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33" name="">
            <a:extLst xmlns:a="http://schemas.openxmlformats.org/drawingml/2006/main">
              <a:ext uri="{FF2B5EF4-FFF2-40B4-BE49-F238E27FC236}">
                <a16:creationId xmlns:a16="http://schemas.microsoft.com/office/drawing/2014/main" id="{DE1E0DB7-DEAD-4CCB-93D9-18797114BF1A}"/>
              </a:ext>
            </a:extLst>
          </p:cNvPr>
          <p:cNvSpPr>
            <a:spLocks xmlns:a="http://schemas.openxmlformats.org/drawingml/2006/main" noGrp="1"/>
          </p:cNvSpPr>
          <p:nvPr/>
        </p:nvSpPr>
        <p:spPr>
          <a:xfrm xmlns:a="http://schemas.openxmlformats.org/drawingml/2006/main">
            <a:off x="685800" y="5191125"/>
            <a:ext cx="10820400" cy="676275"/>
          </a:xfrm>
          <a:prstGeom xmlns:a="http://schemas.openxmlformats.org/drawingml/2006/main" prst="roundRect">
            <a:avLst>
              <a:gd name="adj" fmla="val 16901"/>
            </a:avLst>
          </a:prstGeom>
          <a:solidFill xmlns:a="http://schemas.openxmlformats.org/drawingml/2006/main">
            <a:srgbClr val="12131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968AF4A-2686-433D-BC53-17FACCCA8BA3}"/>
              </a:ext>
            </a:extLst>
          </p:cNvPr>
          <p:cNvSpPr>
            <a:spLocks xmlns:a="http://schemas.openxmlformats.org/drawingml/2006/main" noGrp="1"/>
          </p:cNvSpPr>
          <p:nvPr/>
        </p:nvSpPr>
        <p:spPr>
          <a:xfrm xmlns:a="http://schemas.openxmlformats.org/drawingml/2006/main">
            <a:off x="1000125" y="53816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500" b="1" i="0">
                <a:solidFill>
                  <a:srgbClr val="FFFFFF"/>
                </a:solidFill>
                <a:latin typeface="Arial"/>
                <a:ea typeface="Arial"/>
                <a:cs typeface="Arial"/>
              </a:defRPr>
            </a:pPr>
            <a:r>
              <a:rPr sz="1500" b="1" i="0">
                <a:solidFill>
                  <a:srgbClr val="FFFFFF"/>
                </a:solidFill>
                <a:latin typeface="Arial"/>
                <a:ea typeface="Arial"/>
                <a:cs typeface="Arial"/>
              </a:rPr>
              <a:t>The LLM helps with reasoning, but the final report must have code and data-flow evidence.</a:t>
            </a:r>
          </a:p>
        </p:txBody>
      </p:sp>
    </p:spTree>
    <p:extLst>
      <p:ext uri="{BB962C8B-B14F-4D97-AF65-F5344CB8AC3E}">
        <p14:creationId xmlns:p14="http://schemas.microsoft.com/office/powerpoint/2010/main" val="20686463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69F62EA-EB6D-4BBD-85F2-EB0F1E27FF4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968BA1C9-13F6-4F46-82E2-5A770CA09346}"/>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450CE1BD-5745-4EEE-A1C4-55774C25EAEF}"/>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Screenshot: live INVARIANT decision ledger, captured 24 Sep 2026</a:t>
            </a:r>
          </a:p>
        </p:txBody>
      </p:sp>
      <p:sp>
        <p:nvSpPr>
          <p:cNvPr id="4" name="">
            <a:extLst xmlns:a="http://schemas.openxmlformats.org/drawingml/2006/main">
              <a:ext uri="{FF2B5EF4-FFF2-40B4-BE49-F238E27FC236}">
                <a16:creationId xmlns:a16="http://schemas.microsoft.com/office/drawing/2014/main" id="{05879BB4-4C45-4023-AF71-EE6D92ED2179}"/>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093FEB9-2579-4664-9633-926075D03A40}"/>
              </a:ext>
            </a:extLst>
          </p:cNvPr>
          <p:cNvSpPr>
            <a:spLocks xmlns:a="http://schemas.openxmlformats.org/drawingml/2006/main" noGrp="1"/>
          </p:cNvSpPr>
          <p:nvPr/>
        </p:nvSpPr>
        <p:spPr>
          <a:xfrm xmlns:a="http://schemas.openxmlformats.org/drawingml/2006/main">
            <a:off x="685800" y="514350"/>
            <a:ext cx="21145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2BFB4-AECE-4123-AC6C-A11FCF4539EE}"/>
              </a:ext>
            </a:extLst>
          </p:cNvPr>
          <p:cNvSpPr>
            <a:spLocks xmlns:a="http://schemas.openxmlformats.org/drawingml/2006/main" noGrp="1"/>
          </p:cNvSpPr>
          <p:nvPr/>
        </p:nvSpPr>
        <p:spPr>
          <a:xfrm xmlns:a="http://schemas.openxmlformats.org/drawingml/2006/main">
            <a:off x="771525" y="571500"/>
            <a:ext cx="19431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THE INVARIANT ALGORITHM</a:t>
            </a:r>
          </a:p>
        </p:txBody>
      </p:sp>
      <p:sp>
        <p:nvSpPr>
          <p:cNvPr id="7" name="">
            <a:extLst xmlns:a="http://schemas.openxmlformats.org/drawingml/2006/main">
              <a:ext uri="{FF2B5EF4-FFF2-40B4-BE49-F238E27FC236}">
                <a16:creationId xmlns:a16="http://schemas.microsoft.com/office/drawing/2014/main" id="{0DB4B49D-BBC3-4B91-ADE8-40E73BE3C4E7}"/>
              </a:ext>
            </a:extLst>
          </p:cNvPr>
          <p:cNvSpPr>
            <a:spLocks xmlns:a="http://schemas.openxmlformats.org/drawingml/2006/main" noGrp="1"/>
          </p:cNvSpPr>
          <p:nvPr/>
        </p:nvSpPr>
        <p:spPr>
          <a:xfrm xmlns:a="http://schemas.openxmlformats.org/drawingml/2006/main">
            <a:off x="685800" y="1000125"/>
            <a:ext cx="571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085"/>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It checks the rules</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that must always be true</a:t>
            </a:r>
          </a:p>
        </p:txBody>
      </p:sp>
      <p:sp>
        <p:nvSpPr>
          <p:cNvPr id="8" name="">
            <a:extLst xmlns:a="http://schemas.openxmlformats.org/drawingml/2006/main">
              <a:ext uri="{FF2B5EF4-FFF2-40B4-BE49-F238E27FC236}">
                <a16:creationId xmlns:a16="http://schemas.microsoft.com/office/drawing/2014/main" id="{E2FA6A4D-2886-4BE6-A774-116CDA84D750}"/>
              </a:ext>
            </a:extLst>
          </p:cNvPr>
          <p:cNvSpPr>
            <a:spLocks xmlns:a="http://schemas.openxmlformats.org/drawingml/2006/main" noGrp="1"/>
          </p:cNvSpPr>
          <p:nvPr/>
        </p:nvSpPr>
        <p:spPr>
          <a:xfrm xmlns:a="http://schemas.openxmlformats.org/drawingml/2006/main">
            <a:off x="685800" y="2095500"/>
            <a:ext cx="5238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667086"/>
                </a:solidFill>
                <a:latin typeface="Arial"/>
                <a:ea typeface="Arial"/>
                <a:cs typeface="Arial"/>
              </a:defRPr>
            </a:pPr>
            <a:r>
              <a:rPr sz="1425" b="0" i="0">
                <a:solidFill>
                  <a:srgbClr val="667086"/>
                </a:solidFill>
                <a:latin typeface="Arial"/>
                <a:ea typeface="Arial"/>
                <a:cs typeface="Arial"/>
              </a:rPr>
              <a:t>An invariant is a simple security rule for the application.</a:t>
            </a:r>
          </a:p>
        </p:txBody>
      </p:sp>
      <p:sp>
        <p:nvSpPr>
          <p:cNvPr id="9" name="">
            <a:extLst xmlns:a="http://schemas.openxmlformats.org/drawingml/2006/main">
              <a:ext uri="{FF2B5EF4-FFF2-40B4-BE49-F238E27FC236}">
                <a16:creationId xmlns:a16="http://schemas.microsoft.com/office/drawing/2014/main" id="{1BA84B09-D8C1-44DD-A822-C736670CDD8D}"/>
              </a:ext>
            </a:extLst>
          </p:cNvPr>
          <p:cNvSpPr>
            <a:spLocks xmlns:a="http://schemas.openxmlformats.org/drawingml/2006/main" noGrp="1"/>
          </p:cNvSpPr>
          <p:nvPr/>
        </p:nvSpPr>
        <p:spPr>
          <a:xfrm xmlns:a="http://schemas.openxmlformats.org/drawingml/2006/main">
            <a:off x="685800" y="2895600"/>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EE96A958-2657-4321-9DC2-4EEFFCD2C0E4}"/>
              </a:ext>
            </a:extLst>
          </p:cNvPr>
          <p:cNvSpPr>
            <a:spLocks xmlns:a="http://schemas.openxmlformats.org/drawingml/2006/main" noGrp="1"/>
          </p:cNvSpPr>
          <p:nvPr/>
        </p:nvSpPr>
        <p:spPr>
          <a:xfrm xmlns:a="http://schemas.openxmlformats.org/drawingml/2006/main">
            <a:off x="1095375" y="287655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5000"/>
              </a:lnSpc>
              <a:buNone/>
              <a:defRPr sz="1500" b="1" i="0">
                <a:solidFill>
                  <a:srgbClr val="121522"/>
                </a:solidFill>
                <a:latin typeface="Arial"/>
                <a:ea typeface="Arial"/>
                <a:cs typeface="Arial"/>
              </a:defRPr>
            </a:pPr>
            <a:r>
              <a:rPr sz="1500" b="1" i="0">
                <a:solidFill>
                  <a:srgbClr val="121522"/>
                </a:solidFill>
                <a:latin typeface="Arial"/>
                <a:ea typeface="Arial"/>
                <a:cs typeface="Arial"/>
              </a:rPr>
              <a:t>User data</a:t>
            </a:r>
          </a:p>
        </p:txBody>
      </p:sp>
      <p:sp>
        <p:nvSpPr>
          <p:cNvPr id="11" name="">
            <a:extLst xmlns:a="http://schemas.openxmlformats.org/drawingml/2006/main">
              <a:ext uri="{FF2B5EF4-FFF2-40B4-BE49-F238E27FC236}">
                <a16:creationId xmlns:a16="http://schemas.microsoft.com/office/drawing/2014/main" id="{F3BAA907-6CB9-407B-A4DC-91D3EC4275BF}"/>
              </a:ext>
            </a:extLst>
          </p:cNvPr>
          <p:cNvSpPr>
            <a:spLocks xmlns:a="http://schemas.openxmlformats.org/drawingml/2006/main" noGrp="1"/>
          </p:cNvSpPr>
          <p:nvPr/>
        </p:nvSpPr>
        <p:spPr>
          <a:xfrm xmlns:a="http://schemas.openxmlformats.org/drawingml/2006/main">
            <a:off x="1095375" y="317182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A user should only see their own data</a:t>
            </a:r>
          </a:p>
        </p:txBody>
      </p:sp>
      <p:sp>
        <p:nvSpPr>
          <p:cNvPr id="12" name="">
            <a:extLst xmlns:a="http://schemas.openxmlformats.org/drawingml/2006/main">
              <a:ext uri="{FF2B5EF4-FFF2-40B4-BE49-F238E27FC236}">
                <a16:creationId xmlns:a16="http://schemas.microsoft.com/office/drawing/2014/main" id="{7C7CFE06-AD37-420E-BC02-2D8802CA5892}"/>
              </a:ext>
            </a:extLst>
          </p:cNvPr>
          <p:cNvSpPr>
            <a:spLocks xmlns:a="http://schemas.openxmlformats.org/drawingml/2006/main" noGrp="1"/>
          </p:cNvSpPr>
          <p:nvPr/>
        </p:nvSpPr>
        <p:spPr>
          <a:xfrm xmlns:a="http://schemas.openxmlformats.org/drawingml/2006/main">
            <a:off x="685800" y="3638550"/>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F611DFB5-E127-450F-8AA6-9953F5104352}"/>
              </a:ext>
            </a:extLst>
          </p:cNvPr>
          <p:cNvSpPr>
            <a:spLocks xmlns:a="http://schemas.openxmlformats.org/drawingml/2006/main" noGrp="1"/>
          </p:cNvSpPr>
          <p:nvPr/>
        </p:nvSpPr>
        <p:spPr>
          <a:xfrm xmlns:a="http://schemas.openxmlformats.org/drawingml/2006/main">
            <a:off x="1095375" y="361950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5000"/>
              </a:lnSpc>
              <a:buNone/>
              <a:defRPr sz="1500" b="1" i="0">
                <a:solidFill>
                  <a:srgbClr val="121522"/>
                </a:solidFill>
                <a:latin typeface="Arial"/>
                <a:ea typeface="Arial"/>
                <a:cs typeface="Arial"/>
              </a:defRPr>
            </a:pPr>
            <a:r>
              <a:rPr sz="1500" b="1" i="0">
                <a:solidFill>
                  <a:srgbClr val="121522"/>
                </a:solidFill>
                <a:latin typeface="Arial"/>
                <a:ea typeface="Arial"/>
                <a:cs typeface="Arial"/>
              </a:rPr>
              <a:t>Money actions</a:t>
            </a:r>
          </a:p>
        </p:txBody>
      </p:sp>
      <p:sp>
        <p:nvSpPr>
          <p:cNvPr id="14" name="">
            <a:extLst xmlns:a="http://schemas.openxmlformats.org/drawingml/2006/main">
              <a:ext uri="{FF2B5EF4-FFF2-40B4-BE49-F238E27FC236}">
                <a16:creationId xmlns:a16="http://schemas.microsoft.com/office/drawing/2014/main" id="{1CEDC151-41E2-4579-8E3E-65741C591BBA}"/>
              </a:ext>
            </a:extLst>
          </p:cNvPr>
          <p:cNvSpPr>
            <a:spLocks xmlns:a="http://schemas.openxmlformats.org/drawingml/2006/main" noGrp="1"/>
          </p:cNvSpPr>
          <p:nvPr/>
        </p:nvSpPr>
        <p:spPr>
          <a:xfrm xmlns:a="http://schemas.openxmlformats.org/drawingml/2006/main">
            <a:off x="1095375" y="391477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A refund or withdrawal should follow the right checks</a:t>
            </a:r>
          </a:p>
        </p:txBody>
      </p:sp>
      <p:sp>
        <p:nvSpPr>
          <p:cNvPr id="15" name="">
            <a:extLst xmlns:a="http://schemas.openxmlformats.org/drawingml/2006/main">
              <a:ext uri="{FF2B5EF4-FFF2-40B4-BE49-F238E27FC236}">
                <a16:creationId xmlns:a16="http://schemas.microsoft.com/office/drawing/2014/main" id="{16A4DB18-17E4-4060-834D-2C9AF07B22C1}"/>
              </a:ext>
            </a:extLst>
          </p:cNvPr>
          <p:cNvSpPr>
            <a:spLocks xmlns:a="http://schemas.openxmlformats.org/drawingml/2006/main" noGrp="1"/>
          </p:cNvSpPr>
          <p:nvPr/>
        </p:nvSpPr>
        <p:spPr>
          <a:xfrm xmlns:a="http://schemas.openxmlformats.org/drawingml/2006/main">
            <a:off x="685800" y="4381500"/>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F2E1D1C0-D8AF-4A34-9464-A24B6108F4D3}"/>
              </a:ext>
            </a:extLst>
          </p:cNvPr>
          <p:cNvSpPr>
            <a:spLocks xmlns:a="http://schemas.openxmlformats.org/drawingml/2006/main" noGrp="1"/>
          </p:cNvSpPr>
          <p:nvPr/>
        </p:nvSpPr>
        <p:spPr>
          <a:xfrm xmlns:a="http://schemas.openxmlformats.org/drawingml/2006/main">
            <a:off x="1095375" y="436245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5000"/>
              </a:lnSpc>
              <a:buNone/>
              <a:defRPr sz="1500" b="1" i="0">
                <a:solidFill>
                  <a:srgbClr val="121522"/>
                </a:solidFill>
                <a:latin typeface="Arial"/>
                <a:ea typeface="Arial"/>
                <a:cs typeface="Arial"/>
              </a:defRPr>
            </a:pPr>
            <a:r>
              <a:rPr sz="1500" b="1" i="0">
                <a:solidFill>
                  <a:srgbClr val="121522"/>
                </a:solidFill>
                <a:latin typeface="Arial"/>
                <a:ea typeface="Arial"/>
                <a:cs typeface="Arial"/>
              </a:rPr>
              <a:t>Secrets</a:t>
            </a:r>
          </a:p>
        </p:txBody>
      </p:sp>
      <p:sp>
        <p:nvSpPr>
          <p:cNvPr id="17" name="">
            <a:extLst xmlns:a="http://schemas.openxmlformats.org/drawingml/2006/main">
              <a:ext uri="{FF2B5EF4-FFF2-40B4-BE49-F238E27FC236}">
                <a16:creationId xmlns:a16="http://schemas.microsoft.com/office/drawing/2014/main" id="{E1071D2F-B0BA-4394-AB1E-336AD182638C}"/>
              </a:ext>
            </a:extLst>
          </p:cNvPr>
          <p:cNvSpPr>
            <a:spLocks xmlns:a="http://schemas.openxmlformats.org/drawingml/2006/main" noGrp="1"/>
          </p:cNvSpPr>
          <p:nvPr/>
        </p:nvSpPr>
        <p:spPr>
          <a:xfrm xmlns:a="http://schemas.openxmlformats.org/drawingml/2006/main">
            <a:off x="1095375" y="465772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Passwords and keys should not sit in source code</a:t>
            </a:r>
          </a:p>
        </p:txBody>
      </p:sp>
      <p:sp>
        <p:nvSpPr>
          <p:cNvPr id="18" name="">
            <a:extLst xmlns:a="http://schemas.openxmlformats.org/drawingml/2006/main">
              <a:ext uri="{FF2B5EF4-FFF2-40B4-BE49-F238E27FC236}">
                <a16:creationId xmlns:a16="http://schemas.microsoft.com/office/drawing/2014/main" id="{8718D86E-D022-4D74-8246-AEF39693C1CD}"/>
              </a:ext>
            </a:extLst>
          </p:cNvPr>
          <p:cNvSpPr>
            <a:spLocks xmlns:a="http://schemas.openxmlformats.org/drawingml/2006/main" noGrp="1"/>
          </p:cNvSpPr>
          <p:nvPr/>
        </p:nvSpPr>
        <p:spPr>
          <a:xfrm xmlns:a="http://schemas.openxmlformats.org/drawingml/2006/main">
            <a:off x="685800" y="5314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6087"/>
          </a:bodyPr>
          <a:lstStyle xmlns:a="http://schemas.openxmlformats.org/drawingml/2006/main"/>
          <a:p xmlns:a="http://schemas.openxmlformats.org/drawingml/2006/main">
            <a:pPr algn="l">
              <a:lnSpc>
                <a:spcPct val="115000"/>
              </a:lnSpc>
              <a:buNone/>
              <a:defRPr sz="1500" b="1" i="0">
                <a:solidFill>
                  <a:srgbClr val="121522"/>
                </a:solidFill>
                <a:latin typeface="Arial"/>
                <a:ea typeface="Arial"/>
                <a:cs typeface="Arial"/>
              </a:defRPr>
            </a:pPr>
            <a:r>
              <a:rPr sz="1500" b="1" i="0">
                <a:solidFill>
                  <a:srgbClr val="121522"/>
                </a:solidFill>
                <a:latin typeface="Arial"/>
                <a:ea typeface="Arial"/>
                <a:cs typeface="Arial"/>
              </a:rPr>
              <a:t>INVARIANT follows the code path and checks whether the rule is being followed.</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d0eaae1540043b4"/>
          <a:stretch xmlns:a="http://schemas.openxmlformats.org/drawingml/2006/main"/>
        </p:blipFill>
        <p:spPr>
          <a:xfrm xmlns:a="http://schemas.openxmlformats.org/drawingml/2006/main">
            <a:off x="6496050" y="1650275"/>
            <a:ext cx="5010150" cy="2662101"/>
          </a:xfrm>
          <a:prstGeom xmlns:a="http://schemas.openxmlformats.org/drawingml/2006/main" prst="roundRect">
            <a:avLst>
              <a:gd name="adj" fmla="val 2927"/>
            </a:avLst>
          </a:prstGeom>
        </p:spPr>
      </p:pic>
      <p:sp>
        <p:nvSpPr>
          <p:cNvPr id="20" name="">
            <a:extLst xmlns:a="http://schemas.openxmlformats.org/drawingml/2006/main">
              <a:ext uri="{FF2B5EF4-FFF2-40B4-BE49-F238E27FC236}">
                <a16:creationId xmlns:a16="http://schemas.microsoft.com/office/drawing/2014/main" id="{BCE91EE9-311E-4DF5-BDE7-790AC59A16DA}"/>
              </a:ext>
            </a:extLst>
          </p:cNvPr>
          <p:cNvSpPr>
            <a:spLocks xmlns:a="http://schemas.openxmlformats.org/drawingml/2006/main" noGrp="1"/>
          </p:cNvSpPr>
          <p:nvPr/>
        </p:nvSpPr>
        <p:spPr>
          <a:xfrm xmlns:a="http://schemas.openxmlformats.org/drawingml/2006/main">
            <a:off x="6496050" y="5143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908"/>
          </a:bodyPr>
          <a:lstStyle xmlns:a="http://schemas.openxmlformats.org/drawingml/2006/main"/>
          <a:p xmlns:a="http://schemas.openxmlformats.org/drawingml/2006/main">
            <a:pPr algn="l">
              <a:lnSpc>
                <a:spcPct val="115000"/>
              </a:lnSpc>
              <a:buNone/>
              <a:defRPr sz="1275" b="0" i="0">
                <a:solidFill>
                  <a:srgbClr val="667086"/>
                </a:solidFill>
                <a:latin typeface="Arial"/>
                <a:ea typeface="Arial"/>
                <a:cs typeface="Arial"/>
              </a:defRPr>
            </a:pPr>
            <a:r>
              <a:rPr sz="1275" b="0" i="0">
                <a:solidFill>
                  <a:srgbClr val="667086"/>
                </a:solidFill>
                <a:latin typeface="Arial"/>
                <a:ea typeface="Arial"/>
                <a:cs typeface="Arial"/>
              </a:rPr>
              <a:t>For every possible issue, the tool records the evidence and what a human still needs to check.</a:t>
            </a:r>
          </a:p>
        </p:txBody>
      </p:sp>
    </p:spTree>
    <p:extLst>
      <p:ext uri="{BB962C8B-B14F-4D97-AF65-F5344CB8AC3E}">
        <p14:creationId xmlns:p14="http://schemas.microsoft.com/office/powerpoint/2010/main" val="13270422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29A1D8-C97C-4C42-B14B-A8158FE9EC0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323B59D-5913-4EC7-B125-6DF488A9C9F0}"/>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4F06BD2C-30F1-4693-9C10-3B606BA9B7F1}"/>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 section 3</a:t>
            </a:r>
          </a:p>
        </p:txBody>
      </p:sp>
      <p:sp>
        <p:nvSpPr>
          <p:cNvPr id="4" name="">
            <a:extLst xmlns:a="http://schemas.openxmlformats.org/drawingml/2006/main">
              <a:ext uri="{FF2B5EF4-FFF2-40B4-BE49-F238E27FC236}">
                <a16:creationId xmlns:a16="http://schemas.microsoft.com/office/drawing/2014/main" id="{47C6BA60-8CDE-44C5-9F0A-A507D6FFB126}"/>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E649007-80B7-445F-94A1-1C2768899250}"/>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2A279E-71E4-4CB1-8106-94E5ECFDF180}"/>
              </a:ext>
            </a:extLst>
          </p:cNvPr>
          <p:cNvSpPr>
            <a:spLocks xmlns:a="http://schemas.openxmlformats.org/drawingml/2006/main" noGrp="1"/>
          </p:cNvSpPr>
          <p:nvPr/>
        </p:nvSpPr>
        <p:spPr>
          <a:xfrm xmlns:a="http://schemas.openxmlformats.org/drawingml/2006/main">
            <a:off x="771525" y="571500"/>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EXAMPLES</a:t>
            </a:r>
          </a:p>
        </p:txBody>
      </p:sp>
      <p:sp>
        <p:nvSpPr>
          <p:cNvPr id="7" name="">
            <a:extLst xmlns:a="http://schemas.openxmlformats.org/drawingml/2006/main">
              <a:ext uri="{FF2B5EF4-FFF2-40B4-BE49-F238E27FC236}">
                <a16:creationId xmlns:a16="http://schemas.microsoft.com/office/drawing/2014/main" id="{48E3778D-2BD1-47B3-9915-43342C1D5DE5}"/>
              </a:ext>
            </a:extLst>
          </p:cNvPr>
          <p:cNvSpPr>
            <a:spLocks xmlns:a="http://schemas.openxmlformats.org/drawingml/2006/main" noGrp="1"/>
          </p:cNvSpPr>
          <p:nvPr/>
        </p:nvSpPr>
        <p:spPr>
          <a:xfrm xmlns:a="http://schemas.openxmlformats.org/drawingml/2006/main">
            <a:off x="685800" y="1000125"/>
            <a:ext cx="857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316"/>
          </a:bodyPr>
          <a:lstStyle xmlns:a="http://schemas.openxmlformats.org/drawingml/2006/main"/>
          <a:p xmlns:a="http://schemas.openxmlformats.org/drawingml/2006/main">
            <a:pPr algn="l">
              <a:lnSpc>
                <a:spcPct val="115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same idea works in many applications</a:t>
            </a:r>
          </a:p>
        </p:txBody>
      </p:sp>
      <p:sp>
        <p:nvSpPr>
          <p:cNvPr id="8" name="">
            <a:extLst xmlns:a="http://schemas.openxmlformats.org/drawingml/2006/main">
              <a:ext uri="{FF2B5EF4-FFF2-40B4-BE49-F238E27FC236}">
                <a16:creationId xmlns:a16="http://schemas.microsoft.com/office/drawing/2014/main" id="{610A8179-73EE-4551-B25C-EA2E99C34F02}"/>
              </a:ext>
            </a:extLst>
          </p:cNvPr>
          <p:cNvSpPr>
            <a:spLocks xmlns:a="http://schemas.openxmlformats.org/drawingml/2006/main" noGrp="1"/>
          </p:cNvSpPr>
          <p:nvPr/>
        </p:nvSpPr>
        <p:spPr>
          <a:xfrm xmlns:a="http://schemas.openxmlformats.org/drawingml/2006/main">
            <a:off x="685800" y="2333625"/>
            <a:ext cx="3162300" cy="180975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9" name="">
            <a:extLst xmlns:a="http://schemas.openxmlformats.org/drawingml/2006/main">
              <a:ext uri="{FF2B5EF4-FFF2-40B4-BE49-F238E27FC236}">
                <a16:creationId xmlns:a16="http://schemas.microsoft.com/office/drawing/2014/main" id="{380483ED-7930-4F26-A21A-F3EE4A12D45A}"/>
              </a:ext>
            </a:extLst>
          </p:cNvPr>
          <p:cNvSpPr>
            <a:spLocks xmlns:a="http://schemas.openxmlformats.org/drawingml/2006/main" noGrp="1"/>
          </p:cNvSpPr>
          <p:nvPr/>
        </p:nvSpPr>
        <p:spPr>
          <a:xfrm xmlns:a="http://schemas.openxmlformats.org/drawingml/2006/main">
            <a:off x="952500" y="26289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59"/>
          </a:bodyPr>
          <a:lstStyle xmlns:a="http://schemas.openxmlformats.org/drawingml/2006/main"/>
          <a:p xmlns:a="http://schemas.openxmlformats.org/drawingml/2006/main">
            <a:pPr algn="l">
              <a:lnSpc>
                <a:spcPct val="115000"/>
              </a:lnSpc>
              <a:buNone/>
              <a:defRPr sz="1875" b="1" i="0">
                <a:solidFill>
                  <a:srgbClr val="C36A12"/>
                </a:solidFill>
                <a:latin typeface="Arial"/>
                <a:ea typeface="Arial"/>
                <a:cs typeface="Arial"/>
              </a:defRPr>
            </a:pPr>
            <a:r>
              <a:rPr sz="1875" b="1" i="0">
                <a:solidFill>
                  <a:srgbClr val="C36A12"/>
                </a:solidFill>
                <a:latin typeface="Arial"/>
                <a:ea typeface="Arial"/>
                <a:cs typeface="Arial"/>
              </a:rPr>
              <a:t>Fintech</a:t>
            </a:r>
          </a:p>
        </p:txBody>
      </p:sp>
      <p:sp>
        <p:nvSpPr>
          <p:cNvPr id="10" name="">
            <a:extLst xmlns:a="http://schemas.openxmlformats.org/drawingml/2006/main">
              <a:ext uri="{FF2B5EF4-FFF2-40B4-BE49-F238E27FC236}">
                <a16:creationId xmlns:a16="http://schemas.microsoft.com/office/drawing/2014/main" id="{32EB2C12-220B-4509-87D6-C5A69CE9CED8}"/>
              </a:ext>
            </a:extLst>
          </p:cNvPr>
          <p:cNvSpPr>
            <a:spLocks xmlns:a="http://schemas.openxmlformats.org/drawingml/2006/main" noGrp="1"/>
          </p:cNvSpPr>
          <p:nvPr/>
        </p:nvSpPr>
        <p:spPr>
          <a:xfrm xmlns:a="http://schemas.openxmlformats.org/drawingml/2006/main">
            <a:off x="952500" y="31432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025"/>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Can a user change a refund or withdraw money that is not theirs?</a:t>
            </a:r>
          </a:p>
        </p:txBody>
      </p:sp>
      <p:sp>
        <p:nvSpPr>
          <p:cNvPr id="11" name="">
            <a:extLst xmlns:a="http://schemas.openxmlformats.org/drawingml/2006/main">
              <a:ext uri="{FF2B5EF4-FFF2-40B4-BE49-F238E27FC236}">
                <a16:creationId xmlns:a16="http://schemas.microsoft.com/office/drawing/2014/main" id="{9919FC27-ED5B-4585-B316-26FED7444AAE}"/>
              </a:ext>
            </a:extLst>
          </p:cNvPr>
          <p:cNvSpPr>
            <a:spLocks xmlns:a="http://schemas.openxmlformats.org/drawingml/2006/main" noGrp="1"/>
          </p:cNvSpPr>
          <p:nvPr/>
        </p:nvSpPr>
        <p:spPr>
          <a:xfrm xmlns:a="http://schemas.openxmlformats.org/drawingml/2006/main">
            <a:off x="4219575" y="2333625"/>
            <a:ext cx="3162300" cy="180975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12" name="">
            <a:extLst xmlns:a="http://schemas.openxmlformats.org/drawingml/2006/main">
              <a:ext uri="{FF2B5EF4-FFF2-40B4-BE49-F238E27FC236}">
                <a16:creationId xmlns:a16="http://schemas.microsoft.com/office/drawing/2014/main" id="{4E7CAE39-6789-4193-9CDD-CB6F15E73B62}"/>
              </a:ext>
            </a:extLst>
          </p:cNvPr>
          <p:cNvSpPr>
            <a:spLocks xmlns:a="http://schemas.openxmlformats.org/drawingml/2006/main" noGrp="1"/>
          </p:cNvSpPr>
          <p:nvPr/>
        </p:nvSpPr>
        <p:spPr>
          <a:xfrm xmlns:a="http://schemas.openxmlformats.org/drawingml/2006/main">
            <a:off x="4486275" y="26289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59"/>
          </a:bodyPr>
          <a:lstStyle xmlns:a="http://schemas.openxmlformats.org/drawingml/2006/main"/>
          <a:p xmlns:a="http://schemas.openxmlformats.org/drawingml/2006/main">
            <a:pPr algn="l">
              <a:lnSpc>
                <a:spcPct val="115000"/>
              </a:lnSpc>
              <a:buNone/>
              <a:defRPr sz="1875" b="1" i="0">
                <a:solidFill>
                  <a:srgbClr val="087A71"/>
                </a:solidFill>
                <a:latin typeface="Arial"/>
                <a:ea typeface="Arial"/>
                <a:cs typeface="Arial"/>
              </a:defRPr>
            </a:pPr>
            <a:r>
              <a:rPr sz="1875" b="1" i="0">
                <a:solidFill>
                  <a:srgbClr val="087A71"/>
                </a:solidFill>
                <a:latin typeface="Arial"/>
                <a:ea typeface="Arial"/>
                <a:cs typeface="Arial"/>
              </a:rPr>
              <a:t>Healthcare</a:t>
            </a:r>
          </a:p>
        </p:txBody>
      </p:sp>
      <p:sp>
        <p:nvSpPr>
          <p:cNvPr id="13" name="">
            <a:extLst xmlns:a="http://schemas.openxmlformats.org/drawingml/2006/main">
              <a:ext uri="{FF2B5EF4-FFF2-40B4-BE49-F238E27FC236}">
                <a16:creationId xmlns:a16="http://schemas.microsoft.com/office/drawing/2014/main" id="{985D9044-48EF-4526-9911-C6B3E32E38BC}"/>
              </a:ext>
            </a:extLst>
          </p:cNvPr>
          <p:cNvSpPr>
            <a:spLocks xmlns:a="http://schemas.openxmlformats.org/drawingml/2006/main" noGrp="1"/>
          </p:cNvSpPr>
          <p:nvPr/>
        </p:nvSpPr>
        <p:spPr>
          <a:xfrm xmlns:a="http://schemas.openxmlformats.org/drawingml/2006/main">
            <a:off x="4486275" y="31432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Can one patient open another patient's medical record?</a:t>
            </a:r>
          </a:p>
        </p:txBody>
      </p:sp>
      <p:sp>
        <p:nvSpPr>
          <p:cNvPr id="14" name="">
            <a:extLst xmlns:a="http://schemas.openxmlformats.org/drawingml/2006/main">
              <a:ext uri="{FF2B5EF4-FFF2-40B4-BE49-F238E27FC236}">
                <a16:creationId xmlns:a16="http://schemas.microsoft.com/office/drawing/2014/main" id="{16E8D618-F93A-4F69-A084-D836BDD6A8A9}"/>
              </a:ext>
            </a:extLst>
          </p:cNvPr>
          <p:cNvSpPr>
            <a:spLocks xmlns:a="http://schemas.openxmlformats.org/drawingml/2006/main" noGrp="1"/>
          </p:cNvSpPr>
          <p:nvPr/>
        </p:nvSpPr>
        <p:spPr>
          <a:xfrm xmlns:a="http://schemas.openxmlformats.org/drawingml/2006/main">
            <a:off x="7753350" y="2333625"/>
            <a:ext cx="3162300" cy="1809750"/>
          </a:xfrm>
          <a:prstGeom xmlns:a="http://schemas.openxmlformats.org/drawingml/2006/main" prst="roundRect">
            <a:avLst>
              <a:gd name="adj" fmla="val 6316"/>
            </a:avLst>
          </a:prstGeom>
          <a:solidFill xmlns:a="http://schemas.openxmlformats.org/drawingml/2006/main">
            <a:srgbClr val="F7F8FC"/>
          </a:solidFill>
          <a:ln xmlns:a="http://schemas.openxmlformats.org/drawingml/2006/main" w="9525">
            <a:solidFill>
              <a:srgbClr val="DEE1EC"/>
            </a:solidFill>
            <a:prstDash val="solid"/>
          </a:ln>
        </p:spPr>
      </p:sp>
      <p:sp>
        <p:nvSpPr>
          <p:cNvPr id="15" name="">
            <a:extLst xmlns:a="http://schemas.openxmlformats.org/drawingml/2006/main">
              <a:ext uri="{FF2B5EF4-FFF2-40B4-BE49-F238E27FC236}">
                <a16:creationId xmlns:a16="http://schemas.microsoft.com/office/drawing/2014/main" id="{DE5BB763-9500-43E2-A870-2C7116568D6F}"/>
              </a:ext>
            </a:extLst>
          </p:cNvPr>
          <p:cNvSpPr>
            <a:spLocks xmlns:a="http://schemas.openxmlformats.org/drawingml/2006/main" noGrp="1"/>
          </p:cNvSpPr>
          <p:nvPr/>
        </p:nvSpPr>
        <p:spPr>
          <a:xfrm xmlns:a="http://schemas.openxmlformats.org/drawingml/2006/main">
            <a:off x="8020050" y="26289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59"/>
          </a:bodyPr>
          <a:lstStyle xmlns:a="http://schemas.openxmlformats.org/drawingml/2006/main"/>
          <a:p xmlns:a="http://schemas.openxmlformats.org/drawingml/2006/main">
            <a:pPr algn="l">
              <a:lnSpc>
                <a:spcPct val="115000"/>
              </a:lnSpc>
              <a:buNone/>
              <a:defRPr sz="1875" b="1" i="0">
                <a:solidFill>
                  <a:srgbClr val="5646E8"/>
                </a:solidFill>
                <a:latin typeface="Arial"/>
                <a:ea typeface="Arial"/>
                <a:cs typeface="Arial"/>
              </a:defRPr>
            </a:pPr>
            <a:r>
              <a:rPr sz="1875" b="1" i="0">
                <a:solidFill>
                  <a:srgbClr val="5646E8"/>
                </a:solidFill>
                <a:latin typeface="Arial"/>
                <a:ea typeface="Arial"/>
                <a:cs typeface="Arial"/>
              </a:rPr>
              <a:t>SaaS</a:t>
            </a:r>
          </a:p>
        </p:txBody>
      </p:sp>
      <p:sp>
        <p:nvSpPr>
          <p:cNvPr id="16" name="">
            <a:extLst xmlns:a="http://schemas.openxmlformats.org/drawingml/2006/main">
              <a:ext uri="{FF2B5EF4-FFF2-40B4-BE49-F238E27FC236}">
                <a16:creationId xmlns:a16="http://schemas.microsoft.com/office/drawing/2014/main" id="{85AAEDD3-7D71-4E6E-AADE-DB1B35CDB4D5}"/>
              </a:ext>
            </a:extLst>
          </p:cNvPr>
          <p:cNvSpPr>
            <a:spLocks xmlns:a="http://schemas.openxmlformats.org/drawingml/2006/main" noGrp="1"/>
          </p:cNvSpPr>
          <p:nvPr/>
        </p:nvSpPr>
        <p:spPr>
          <a:xfrm xmlns:a="http://schemas.openxmlformats.org/drawingml/2006/main">
            <a:off x="8020050" y="31432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181"/>
          </a:bodyPr>
          <a:lstStyle xmlns:a="http://schemas.openxmlformats.org/drawingml/2006/main"/>
          <a:p xmlns:a="http://schemas.openxmlformats.org/drawingml/2006/main">
            <a:pPr algn="l">
              <a:lnSpc>
                <a:spcPct val="115000"/>
              </a:lnSpc>
              <a:buNone/>
              <a:defRPr sz="1350" b="0" i="0">
                <a:solidFill>
                  <a:srgbClr val="667086"/>
                </a:solidFill>
                <a:latin typeface="Arial"/>
                <a:ea typeface="Arial"/>
                <a:cs typeface="Arial"/>
              </a:defRPr>
            </a:pPr>
            <a:r>
              <a:rPr sz="1350" b="0" i="0">
                <a:solidFill>
                  <a:srgbClr val="667086"/>
                </a:solidFill>
                <a:latin typeface="Arial"/>
                <a:ea typeface="Arial"/>
                <a:cs typeface="Arial"/>
              </a:rPr>
              <a:t>Can changing an ID reveal another company's files or invoices?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5b07df77fa24738"/>
          <a:srcRect xmlns:a="http://schemas.openxmlformats.org/drawingml/2006/main" l="0" t="29323" r="0" b="29323"/>
          <a:stretch xmlns:a="http://schemas.openxmlformats.org/drawingml/2006/main">
            <a:fillRect l="0" t="0" r="0" b="0"/>
          </a:stretch>
        </p:blipFill>
        <p:spPr>
          <a:xfrm xmlns:a="http://schemas.openxmlformats.org/drawingml/2006/main">
            <a:off x="685800" y="4676775"/>
            <a:ext cx="5934075" cy="1171575"/>
          </a:xfrm>
          <a:prstGeom xmlns:a="http://schemas.openxmlformats.org/drawingml/2006/main" prst="roundRect">
            <a:avLst>
              <a:gd name="adj" fmla="val 9756"/>
            </a:avLst>
          </a:prstGeom>
        </p:spPr>
      </p:pic>
      <p:sp>
        <p:nvSpPr>
          <p:cNvPr id="18" name="">
            <a:extLst xmlns:a="http://schemas.openxmlformats.org/drawingml/2006/main">
              <a:ext uri="{FF2B5EF4-FFF2-40B4-BE49-F238E27FC236}">
                <a16:creationId xmlns:a16="http://schemas.microsoft.com/office/drawing/2014/main" id="{61A197BC-4872-4A0E-9C70-E5884946436D}"/>
              </a:ext>
            </a:extLst>
          </p:cNvPr>
          <p:cNvSpPr>
            <a:spLocks xmlns:a="http://schemas.openxmlformats.org/drawingml/2006/main" noGrp="1"/>
          </p:cNvSpPr>
          <p:nvPr/>
        </p:nvSpPr>
        <p:spPr>
          <a:xfrm xmlns:a="http://schemas.openxmlformats.org/drawingml/2006/main">
            <a:off x="7010400" y="48958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5914"/>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Invaria maps the path from a user request to the sensitive data or action.</a:t>
            </a:r>
          </a:p>
        </p:txBody>
      </p:sp>
      <p:sp>
        <p:nvSpPr>
          <p:cNvPr id="19" name="">
            <a:extLst xmlns:a="http://schemas.openxmlformats.org/drawingml/2006/main">
              <a:ext uri="{FF2B5EF4-FFF2-40B4-BE49-F238E27FC236}">
                <a16:creationId xmlns:a16="http://schemas.microsoft.com/office/drawing/2014/main" id="{DC2C73EF-A512-4E3D-8A6F-394742E25668}"/>
              </a:ext>
            </a:extLst>
          </p:cNvPr>
          <p:cNvSpPr>
            <a:spLocks xmlns:a="http://schemas.openxmlformats.org/drawingml/2006/main" noGrp="1"/>
          </p:cNvSpPr>
          <p:nvPr/>
        </p:nvSpPr>
        <p:spPr>
          <a:xfrm xmlns:a="http://schemas.openxmlformats.org/drawingml/2006/main">
            <a:off x="7010400" y="54673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450"/>
          </a:bodyPr>
          <a:lstStyle xmlns:a="http://schemas.openxmlformats.org/drawingml/2006/main"/>
          <a:p xmlns:a="http://schemas.openxmlformats.org/drawingml/2006/main">
            <a:pPr algn="l">
              <a:lnSpc>
                <a:spcPct val="115000"/>
              </a:lnSpc>
              <a:buNone/>
              <a:defRPr sz="1275" b="0" i="0">
                <a:solidFill>
                  <a:srgbClr val="667086"/>
                </a:solidFill>
                <a:latin typeface="Arial"/>
                <a:ea typeface="Arial"/>
                <a:cs typeface="Arial"/>
              </a:defRPr>
            </a:pPr>
            <a:r>
              <a:rPr sz="1275" b="0" i="0">
                <a:solidFill>
                  <a:srgbClr val="667086"/>
                </a:solidFill>
                <a:latin typeface="Arial"/>
                <a:ea typeface="Arial"/>
                <a:cs typeface="Arial"/>
              </a:rPr>
              <a:t>Then it asks whether the app has the right security check in that path.</a:t>
            </a:r>
          </a:p>
        </p:txBody>
      </p:sp>
    </p:spTree>
    <p:extLst>
      <p:ext uri="{BB962C8B-B14F-4D97-AF65-F5344CB8AC3E}">
        <p14:creationId xmlns:p14="http://schemas.microsoft.com/office/powerpoint/2010/main" val="17264191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591915F-59A2-4FC3-AE50-FF3C4629CB3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80BA2BC4-02F6-430D-B3B9-A2B848B64634}"/>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B8FCA4E-9C7E-427A-BF7D-35E9C2E245A9}"/>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a:t>
            </a:r>
          </a:p>
        </p:txBody>
      </p:sp>
      <p:sp>
        <p:nvSpPr>
          <p:cNvPr id="4" name="">
            <a:extLst xmlns:a="http://schemas.openxmlformats.org/drawingml/2006/main">
              <a:ext uri="{FF2B5EF4-FFF2-40B4-BE49-F238E27FC236}">
                <a16:creationId xmlns:a16="http://schemas.microsoft.com/office/drawing/2014/main" id="{0D62BCA8-346F-4B09-AE07-C25467F1260B}"/>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15D71CD-0973-45B1-91F1-979556B55672}"/>
              </a:ext>
            </a:extLst>
          </p:cNvPr>
          <p:cNvSpPr>
            <a:spLocks xmlns:a="http://schemas.openxmlformats.org/drawingml/2006/main" noGrp="1"/>
          </p:cNvSpPr>
          <p:nvPr/>
        </p:nvSpPr>
        <p:spPr>
          <a:xfrm xmlns:a="http://schemas.openxmlformats.org/drawingml/2006/main">
            <a:off x="685800" y="514350"/>
            <a:ext cx="147637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F8E24C-945D-40D1-87BF-6E32463AE7AF}"/>
              </a:ext>
            </a:extLst>
          </p:cNvPr>
          <p:cNvSpPr>
            <a:spLocks xmlns:a="http://schemas.openxmlformats.org/drawingml/2006/main" noGrp="1"/>
          </p:cNvSpPr>
          <p:nvPr/>
        </p:nvSpPr>
        <p:spPr>
          <a:xfrm xmlns:a="http://schemas.openxmlformats.org/drawingml/2006/main">
            <a:off x="771525" y="571500"/>
            <a:ext cx="13049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
            <a:extLst xmlns:a="http://schemas.openxmlformats.org/drawingml/2006/main">
              <a:ext uri="{FF2B5EF4-FFF2-40B4-BE49-F238E27FC236}">
                <a16:creationId xmlns:a16="http://schemas.microsoft.com/office/drawing/2014/main" id="{829B0799-F845-4649-9FFF-5FD1C45C8FF8}"/>
              </a:ext>
            </a:extLst>
          </p:cNvPr>
          <p:cNvSpPr>
            <a:spLocks xmlns:a="http://schemas.openxmlformats.org/drawingml/2006/main" noGrp="1"/>
          </p:cNvSpPr>
          <p:nvPr/>
        </p:nvSpPr>
        <p:spPr>
          <a:xfrm xmlns:a="http://schemas.openxmlformats.org/drawingml/2006/main">
            <a:off x="685800" y="10001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736"/>
          </a:bodyPr>
          <a:lstStyle xmlns:a="http://schemas.openxmlformats.org/drawingml/2006/main"/>
          <a:p xmlns:a="http://schemas.openxmlformats.org/drawingml/2006/main">
            <a:pPr algn="l">
              <a:lnSpc>
                <a:spcPct val="115000"/>
              </a:lnSpc>
              <a:buNone/>
              <a:defRPr sz="3375" b="1" i="0">
                <a:solidFill>
                  <a:srgbClr val="121522"/>
                </a:solidFill>
                <a:latin typeface="Arial"/>
                <a:ea typeface="Arial"/>
                <a:cs typeface="Arial"/>
              </a:defRPr>
            </a:pPr>
            <a:r>
              <a:rPr sz="3375" b="1" i="0">
                <a:solidFill>
                  <a:srgbClr val="121522"/>
                </a:solidFill>
                <a:latin typeface="Arial"/>
                <a:ea typeface="Arial"/>
                <a:cs typeface="Arial"/>
              </a:rPr>
              <a:t>Who will use Invaria?</a:t>
            </a:r>
          </a:p>
        </p:txBody>
      </p:sp>
      <p:sp>
        <p:nvSpPr>
          <p:cNvPr id="8" name="">
            <a:extLst xmlns:a="http://schemas.openxmlformats.org/drawingml/2006/main">
              <a:ext uri="{FF2B5EF4-FFF2-40B4-BE49-F238E27FC236}">
                <a16:creationId xmlns:a16="http://schemas.microsoft.com/office/drawing/2014/main" id="{8C40DB5E-80D1-4EAF-9C0A-4B1DB10632EA}"/>
              </a:ext>
            </a:extLst>
          </p:cNvPr>
          <p:cNvSpPr>
            <a:spLocks xmlns:a="http://schemas.openxmlformats.org/drawingml/2006/main" noGrp="1"/>
          </p:cNvSpPr>
          <p:nvPr/>
        </p:nvSpPr>
        <p:spPr>
          <a:xfrm xmlns:a="http://schemas.openxmlformats.org/drawingml/2006/main">
            <a:off x="685800" y="1704975"/>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768"/>
          </a:bodyPr>
          <a:lstStyle xmlns:a="http://schemas.openxmlformats.org/drawingml/2006/main"/>
          <a:p xmlns:a="http://schemas.openxmlformats.org/drawingml/2006/main">
            <a:pPr algn="l">
              <a:lnSpc>
                <a:spcPct val="115000"/>
              </a:lnSpc>
              <a:buNone/>
              <a:defRPr sz="1500" b="0" i="0">
                <a:solidFill>
                  <a:srgbClr val="667086"/>
                </a:solidFill>
                <a:latin typeface="Arial"/>
                <a:ea typeface="Arial"/>
                <a:cs typeface="Arial"/>
              </a:defRPr>
            </a:pPr>
            <a:r>
              <a:rPr sz="1500" b="0" i="0">
                <a:solidFill>
                  <a:srgbClr val="667086"/>
                </a:solidFill>
                <a:latin typeface="Arial"/>
                <a:ea typeface="Arial"/>
                <a:cs typeface="Arial"/>
              </a:rPr>
              <a:t>Teams that build products with user data, money movement, or important business actions.</a:t>
            </a:r>
          </a:p>
        </p:txBody>
      </p:sp>
      <p:sp>
        <p:nvSpPr>
          <p:cNvPr id="9" name="">
            <a:extLst xmlns:a="http://schemas.openxmlformats.org/drawingml/2006/main">
              <a:ext uri="{FF2B5EF4-FFF2-40B4-BE49-F238E27FC236}">
                <a16:creationId xmlns:a16="http://schemas.microsoft.com/office/drawing/2014/main" id="{70943933-6A13-4B0A-A979-F00777F60ECF}"/>
              </a:ext>
            </a:extLst>
          </p:cNvPr>
          <p:cNvSpPr>
            <a:spLocks xmlns:a="http://schemas.openxmlformats.org/drawingml/2006/main" noGrp="1"/>
          </p:cNvSpPr>
          <p:nvPr/>
        </p:nvSpPr>
        <p:spPr>
          <a:xfrm xmlns:a="http://schemas.openxmlformats.org/drawingml/2006/main">
            <a:off x="685800" y="2705100"/>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37F6850-CFA3-4656-BE16-1855FD1A9F6E}"/>
              </a:ext>
            </a:extLst>
          </p:cNvPr>
          <p:cNvSpPr>
            <a:spLocks xmlns:a="http://schemas.openxmlformats.org/drawingml/2006/main" noGrp="1"/>
          </p:cNvSpPr>
          <p:nvPr/>
        </p:nvSpPr>
        <p:spPr>
          <a:xfrm xmlns:a="http://schemas.openxmlformats.org/drawingml/2006/main">
            <a:off x="1104900" y="2676525"/>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365"/>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AI-built startups</a:t>
            </a:r>
          </a:p>
        </p:txBody>
      </p:sp>
      <p:sp>
        <p:nvSpPr>
          <p:cNvPr id="11" name="">
            <a:extLst xmlns:a="http://schemas.openxmlformats.org/drawingml/2006/main">
              <a:ext uri="{FF2B5EF4-FFF2-40B4-BE49-F238E27FC236}">
                <a16:creationId xmlns:a16="http://schemas.microsoft.com/office/drawing/2014/main" id="{255109D3-13DB-445E-9BF6-DEF7BE4D1CCE}"/>
              </a:ext>
            </a:extLst>
          </p:cNvPr>
          <p:cNvSpPr>
            <a:spLocks xmlns:a="http://schemas.openxmlformats.org/drawingml/2006/main" noGrp="1"/>
          </p:cNvSpPr>
          <p:nvPr/>
        </p:nvSpPr>
        <p:spPr>
          <a:xfrm xmlns:a="http://schemas.openxmlformats.org/drawingml/2006/main">
            <a:off x="1104900" y="297180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Fast-moving teams without a dedicated security team</a:t>
            </a:r>
          </a:p>
        </p:txBody>
      </p:sp>
      <p:sp>
        <p:nvSpPr>
          <p:cNvPr id="12" name="">
            <a:extLst xmlns:a="http://schemas.openxmlformats.org/drawingml/2006/main">
              <a:ext uri="{FF2B5EF4-FFF2-40B4-BE49-F238E27FC236}">
                <a16:creationId xmlns:a16="http://schemas.microsoft.com/office/drawing/2014/main" id="{A0AAA5CF-87CD-489B-BDAC-F8219E085B9C}"/>
              </a:ext>
            </a:extLst>
          </p:cNvPr>
          <p:cNvSpPr>
            <a:spLocks xmlns:a="http://schemas.openxmlformats.org/drawingml/2006/main" noGrp="1"/>
          </p:cNvSpPr>
          <p:nvPr/>
        </p:nvSpPr>
        <p:spPr>
          <a:xfrm xmlns:a="http://schemas.openxmlformats.org/drawingml/2006/main">
            <a:off x="685800" y="3238500"/>
            <a:ext cx="54292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3" name="">
            <a:extLst xmlns:a="http://schemas.openxmlformats.org/drawingml/2006/main">
              <a:ext uri="{FF2B5EF4-FFF2-40B4-BE49-F238E27FC236}">
                <a16:creationId xmlns:a16="http://schemas.microsoft.com/office/drawing/2014/main" id="{C8F09850-9BD7-44F9-98F3-406B9CF2AB38}"/>
              </a:ext>
            </a:extLst>
          </p:cNvPr>
          <p:cNvSpPr>
            <a:spLocks xmlns:a="http://schemas.openxmlformats.org/drawingml/2006/main" noGrp="1"/>
          </p:cNvSpPr>
          <p:nvPr/>
        </p:nvSpPr>
        <p:spPr>
          <a:xfrm xmlns:a="http://schemas.openxmlformats.org/drawingml/2006/main">
            <a:off x="685800" y="338137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AA1C3C68-4E46-42BD-ADB3-3A5283B520F3}"/>
              </a:ext>
            </a:extLst>
          </p:cNvPr>
          <p:cNvSpPr>
            <a:spLocks xmlns:a="http://schemas.openxmlformats.org/drawingml/2006/main" noGrp="1"/>
          </p:cNvSpPr>
          <p:nvPr/>
        </p:nvSpPr>
        <p:spPr>
          <a:xfrm xmlns:a="http://schemas.openxmlformats.org/drawingml/2006/main">
            <a:off x="1104900" y="3352800"/>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365"/>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SaaS companies</a:t>
            </a:r>
          </a:p>
        </p:txBody>
      </p:sp>
      <p:sp>
        <p:nvSpPr>
          <p:cNvPr id="15" name="">
            <a:extLst xmlns:a="http://schemas.openxmlformats.org/drawingml/2006/main">
              <a:ext uri="{FF2B5EF4-FFF2-40B4-BE49-F238E27FC236}">
                <a16:creationId xmlns:a16="http://schemas.microsoft.com/office/drawing/2014/main" id="{C54DEADB-6988-4568-98EC-E1CD83F7B296}"/>
              </a:ext>
            </a:extLst>
          </p:cNvPr>
          <p:cNvSpPr>
            <a:spLocks xmlns:a="http://schemas.openxmlformats.org/drawingml/2006/main" noGrp="1"/>
          </p:cNvSpPr>
          <p:nvPr/>
        </p:nvSpPr>
        <p:spPr>
          <a:xfrm xmlns:a="http://schemas.openxmlformats.org/drawingml/2006/main">
            <a:off x="1104900" y="3648075"/>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Teams responsible for keeping customer data separate</a:t>
            </a:r>
          </a:p>
        </p:txBody>
      </p:sp>
      <p:sp>
        <p:nvSpPr>
          <p:cNvPr id="16" name="">
            <a:extLst xmlns:a="http://schemas.openxmlformats.org/drawingml/2006/main">
              <a:ext uri="{FF2B5EF4-FFF2-40B4-BE49-F238E27FC236}">
                <a16:creationId xmlns:a16="http://schemas.microsoft.com/office/drawing/2014/main" id="{D67F0A9C-C78D-49E6-A284-92AB2EE33E11}"/>
              </a:ext>
            </a:extLst>
          </p:cNvPr>
          <p:cNvSpPr>
            <a:spLocks xmlns:a="http://schemas.openxmlformats.org/drawingml/2006/main" noGrp="1"/>
          </p:cNvSpPr>
          <p:nvPr/>
        </p:nvSpPr>
        <p:spPr>
          <a:xfrm xmlns:a="http://schemas.openxmlformats.org/drawingml/2006/main">
            <a:off x="685800" y="3914775"/>
            <a:ext cx="54292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7" name="">
            <a:extLst xmlns:a="http://schemas.openxmlformats.org/drawingml/2006/main">
              <a:ext uri="{FF2B5EF4-FFF2-40B4-BE49-F238E27FC236}">
                <a16:creationId xmlns:a16="http://schemas.microsoft.com/office/drawing/2014/main" id="{862EB883-2B52-4466-A4FA-0AB54E228B69}"/>
              </a:ext>
            </a:extLst>
          </p:cNvPr>
          <p:cNvSpPr>
            <a:spLocks xmlns:a="http://schemas.openxmlformats.org/drawingml/2006/main" noGrp="1"/>
          </p:cNvSpPr>
          <p:nvPr/>
        </p:nvSpPr>
        <p:spPr>
          <a:xfrm xmlns:a="http://schemas.openxmlformats.org/drawingml/2006/main">
            <a:off x="685800" y="4057650"/>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F1A99349-11B0-4EE1-9648-F5EF9D8C6844}"/>
              </a:ext>
            </a:extLst>
          </p:cNvPr>
          <p:cNvSpPr>
            <a:spLocks xmlns:a="http://schemas.openxmlformats.org/drawingml/2006/main" noGrp="1"/>
          </p:cNvSpPr>
          <p:nvPr/>
        </p:nvSpPr>
        <p:spPr>
          <a:xfrm xmlns:a="http://schemas.openxmlformats.org/drawingml/2006/main">
            <a:off x="1104900" y="4029075"/>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365"/>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Fintech products</a:t>
            </a:r>
          </a:p>
        </p:txBody>
      </p:sp>
      <p:sp>
        <p:nvSpPr>
          <p:cNvPr id="19" name="">
            <a:extLst xmlns:a="http://schemas.openxmlformats.org/drawingml/2006/main">
              <a:ext uri="{FF2B5EF4-FFF2-40B4-BE49-F238E27FC236}">
                <a16:creationId xmlns:a16="http://schemas.microsoft.com/office/drawing/2014/main" id="{89F377DC-1672-48BE-A06A-4C94C49536AC}"/>
              </a:ext>
            </a:extLst>
          </p:cNvPr>
          <p:cNvSpPr>
            <a:spLocks xmlns:a="http://schemas.openxmlformats.org/drawingml/2006/main" noGrp="1"/>
          </p:cNvSpPr>
          <p:nvPr/>
        </p:nvSpPr>
        <p:spPr>
          <a:xfrm xmlns:a="http://schemas.openxmlformats.org/drawingml/2006/main">
            <a:off x="1104900" y="432435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Teams handling payments, wallets, refunds, or balances</a:t>
            </a:r>
          </a:p>
        </p:txBody>
      </p:sp>
      <p:sp>
        <p:nvSpPr>
          <p:cNvPr id="20" name="">
            <a:extLst xmlns:a="http://schemas.openxmlformats.org/drawingml/2006/main">
              <a:ext uri="{FF2B5EF4-FFF2-40B4-BE49-F238E27FC236}">
                <a16:creationId xmlns:a16="http://schemas.microsoft.com/office/drawing/2014/main" id="{32681AF5-3777-4BBC-B7CA-61AB0302FCC1}"/>
              </a:ext>
            </a:extLst>
          </p:cNvPr>
          <p:cNvSpPr>
            <a:spLocks xmlns:a="http://schemas.openxmlformats.org/drawingml/2006/main" noGrp="1"/>
          </p:cNvSpPr>
          <p:nvPr/>
        </p:nvSpPr>
        <p:spPr>
          <a:xfrm xmlns:a="http://schemas.openxmlformats.org/drawingml/2006/main">
            <a:off x="685800" y="4591050"/>
            <a:ext cx="54292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1" name="">
            <a:extLst xmlns:a="http://schemas.openxmlformats.org/drawingml/2006/main">
              <a:ext uri="{FF2B5EF4-FFF2-40B4-BE49-F238E27FC236}">
                <a16:creationId xmlns:a16="http://schemas.microsoft.com/office/drawing/2014/main" id="{1390250C-5598-458C-BEF5-98A90CA430A3}"/>
              </a:ext>
            </a:extLst>
          </p:cNvPr>
          <p:cNvSpPr>
            <a:spLocks xmlns:a="http://schemas.openxmlformats.org/drawingml/2006/main" noGrp="1"/>
          </p:cNvSpPr>
          <p:nvPr/>
        </p:nvSpPr>
        <p:spPr>
          <a:xfrm xmlns:a="http://schemas.openxmlformats.org/drawingml/2006/main">
            <a:off x="685800" y="47339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C103DC62-9170-4C54-BD4D-D05DCD598125}"/>
              </a:ext>
            </a:extLst>
          </p:cNvPr>
          <p:cNvSpPr>
            <a:spLocks xmlns:a="http://schemas.openxmlformats.org/drawingml/2006/main" noGrp="1"/>
          </p:cNvSpPr>
          <p:nvPr/>
        </p:nvSpPr>
        <p:spPr>
          <a:xfrm xmlns:a="http://schemas.openxmlformats.org/drawingml/2006/main">
            <a:off x="1104900" y="4705350"/>
            <a:ext cx="2428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365"/>
          </a:bodyPr>
          <a:lstStyle xmlns:a="http://schemas.openxmlformats.org/drawingml/2006/main"/>
          <a:p xmlns:a="http://schemas.openxmlformats.org/drawingml/2006/main">
            <a:pPr algn="l">
              <a:lnSpc>
                <a:spcPct val="115000"/>
              </a:lnSpc>
              <a:buNone/>
              <a:defRPr sz="1575" b="1" i="0">
                <a:solidFill>
                  <a:srgbClr val="121522"/>
                </a:solidFill>
                <a:latin typeface="Arial"/>
                <a:ea typeface="Arial"/>
                <a:cs typeface="Arial"/>
              </a:defRPr>
            </a:pPr>
            <a:r>
              <a:rPr sz="1575" b="1" i="0">
                <a:solidFill>
                  <a:srgbClr val="121522"/>
                </a:solidFill>
                <a:latin typeface="Arial"/>
                <a:ea typeface="Arial"/>
                <a:cs typeface="Arial"/>
              </a:rPr>
              <a:t>Healthcare products</a:t>
            </a:r>
          </a:p>
        </p:txBody>
      </p:sp>
      <p:sp>
        <p:nvSpPr>
          <p:cNvPr id="23" name="">
            <a:extLst xmlns:a="http://schemas.openxmlformats.org/drawingml/2006/main">
              <a:ext uri="{FF2B5EF4-FFF2-40B4-BE49-F238E27FC236}">
                <a16:creationId xmlns:a16="http://schemas.microsoft.com/office/drawing/2014/main" id="{114E1174-D00F-4E90-8A09-729F68BA2E68}"/>
              </a:ext>
            </a:extLst>
          </p:cNvPr>
          <p:cNvSpPr>
            <a:spLocks xmlns:a="http://schemas.openxmlformats.org/drawingml/2006/main" noGrp="1"/>
          </p:cNvSpPr>
          <p:nvPr/>
        </p:nvSpPr>
        <p:spPr>
          <a:xfrm xmlns:a="http://schemas.openxmlformats.org/drawingml/2006/main">
            <a:off x="1104900" y="5000625"/>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67086"/>
                </a:solidFill>
                <a:latin typeface="Arial"/>
                <a:ea typeface="Arial"/>
                <a:cs typeface="Arial"/>
              </a:defRPr>
            </a:pPr>
            <a:r>
              <a:rPr sz="1200" b="0" i="0">
                <a:solidFill>
                  <a:srgbClr val="667086"/>
                </a:solidFill>
                <a:latin typeface="Arial"/>
                <a:ea typeface="Arial"/>
                <a:cs typeface="Arial"/>
              </a:rPr>
              <a:t>Teams protecting patient data and access rights</a:t>
            </a:r>
          </a:p>
        </p:txBody>
      </p:sp>
      <p:sp>
        <p:nvSpPr>
          <p:cNvPr id="24" name="">
            <a:extLst xmlns:a="http://schemas.openxmlformats.org/drawingml/2006/main">
              <a:ext uri="{FF2B5EF4-FFF2-40B4-BE49-F238E27FC236}">
                <a16:creationId xmlns:a16="http://schemas.microsoft.com/office/drawing/2014/main" id="{B734E124-26B5-43EC-9A52-E9B57EBBE722}"/>
              </a:ext>
            </a:extLst>
          </p:cNvPr>
          <p:cNvSpPr>
            <a:spLocks xmlns:a="http://schemas.openxmlformats.org/drawingml/2006/main" noGrp="1"/>
          </p:cNvSpPr>
          <p:nvPr/>
        </p:nvSpPr>
        <p:spPr>
          <a:xfrm xmlns:a="http://schemas.openxmlformats.org/drawingml/2006/main">
            <a:off x="685800" y="5267325"/>
            <a:ext cx="54292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5" name="">
            <a:extLst xmlns:a="http://schemas.openxmlformats.org/drawingml/2006/main">
              <a:ext uri="{FF2B5EF4-FFF2-40B4-BE49-F238E27FC236}">
                <a16:creationId xmlns:a16="http://schemas.microsoft.com/office/drawing/2014/main" id="{C608DAA2-1A8A-4575-9ACA-A946030AAE94}"/>
              </a:ext>
            </a:extLst>
          </p:cNvPr>
          <p:cNvSpPr>
            <a:spLocks xmlns:a="http://schemas.openxmlformats.org/drawingml/2006/main" noGrp="1"/>
          </p:cNvSpPr>
          <p:nvPr/>
        </p:nvSpPr>
        <p:spPr>
          <a:xfrm xmlns:a="http://schemas.openxmlformats.org/drawingml/2006/main">
            <a:off x="7019925" y="1047750"/>
            <a:ext cx="4486275" cy="4095750"/>
          </a:xfrm>
          <a:prstGeom xmlns:a="http://schemas.openxmlformats.org/drawingml/2006/main" prst="roundRect">
            <a:avLst>
              <a:gd name="adj" fmla="val 2791"/>
            </a:avLst>
          </a:prstGeom>
          <a:solidFill xmlns:a="http://schemas.openxmlformats.org/drawingml/2006/main">
            <a:srgbClr val="12131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928A016-372E-4FF0-B4C5-AAEA7B50B842}"/>
              </a:ext>
            </a:extLst>
          </p:cNvPr>
          <p:cNvSpPr>
            <a:spLocks xmlns:a="http://schemas.openxmlformats.org/drawingml/2006/main" noGrp="1"/>
          </p:cNvSpPr>
          <p:nvPr/>
        </p:nvSpPr>
        <p:spPr>
          <a:xfrm xmlns:a="http://schemas.openxmlformats.org/drawingml/2006/main">
            <a:off x="7419975" y="1438275"/>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7C71FF"/>
                </a:solidFill>
                <a:latin typeface="Arial"/>
                <a:ea typeface="Arial"/>
                <a:cs typeface="Arial"/>
              </a:defRPr>
            </a:pPr>
            <a:r>
              <a:rPr sz="900" b="1" i="0">
                <a:solidFill>
                  <a:srgbClr val="7C71FF"/>
                </a:solidFill>
                <a:latin typeface="Arial"/>
                <a:ea typeface="Arial"/>
                <a:cs typeface="Arial"/>
              </a:rPr>
              <a:t>THE MAIN USER</a:t>
            </a:r>
          </a:p>
        </p:txBody>
      </p:sp>
      <p:sp>
        <p:nvSpPr>
          <p:cNvPr id="27" name="">
            <a:extLst xmlns:a="http://schemas.openxmlformats.org/drawingml/2006/main">
              <a:ext uri="{FF2B5EF4-FFF2-40B4-BE49-F238E27FC236}">
                <a16:creationId xmlns:a16="http://schemas.microsoft.com/office/drawing/2014/main" id="{8332096B-1D4B-49F3-B694-287635F2AE0C}"/>
              </a:ext>
            </a:extLst>
          </p:cNvPr>
          <p:cNvSpPr>
            <a:spLocks xmlns:a="http://schemas.openxmlformats.org/drawingml/2006/main" noGrp="1"/>
          </p:cNvSpPr>
          <p:nvPr/>
        </p:nvSpPr>
        <p:spPr>
          <a:xfrm xmlns:a="http://schemas.openxmlformats.org/drawingml/2006/main">
            <a:off x="7419975" y="18669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784"/>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Developers and</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engineering leads</a:t>
            </a:r>
          </a:p>
        </p:txBody>
      </p:sp>
      <p:sp>
        <p:nvSpPr>
          <p:cNvPr id="28" name="">
            <a:extLst xmlns:a="http://schemas.openxmlformats.org/drawingml/2006/main">
              <a:ext uri="{FF2B5EF4-FFF2-40B4-BE49-F238E27FC236}">
                <a16:creationId xmlns:a16="http://schemas.microsoft.com/office/drawing/2014/main" id="{856E87FB-F2CF-42FF-AC8F-4F17645121D7}"/>
              </a:ext>
            </a:extLst>
          </p:cNvPr>
          <p:cNvSpPr>
            <a:spLocks xmlns:a="http://schemas.openxmlformats.org/drawingml/2006/main" noGrp="1"/>
          </p:cNvSpPr>
          <p:nvPr/>
        </p:nvSpPr>
        <p:spPr>
          <a:xfrm xmlns:a="http://schemas.openxmlformats.org/drawingml/2006/main">
            <a:off x="7419975" y="29432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319"/>
          </a:bodyPr>
          <a:lstStyle xmlns:a="http://schemas.openxmlformats.org/drawingml/2006/main"/>
          <a:p xmlns:a="http://schemas.openxmlformats.org/drawingml/2006/main">
            <a:pPr algn="l">
              <a:lnSpc>
                <a:spcPct val="115000"/>
              </a:lnSpc>
              <a:buNone/>
              <a:defRPr sz="1350" b="0" i="0">
                <a:solidFill>
                  <a:srgbClr val="C4C9D9"/>
                </a:solidFill>
                <a:latin typeface="Arial"/>
                <a:ea typeface="Arial"/>
                <a:cs typeface="Arial"/>
              </a:defRPr>
            </a:pPr>
            <a:r>
              <a:rPr sz="1350" b="0" i="0">
                <a:solidFill>
                  <a:srgbClr val="C4C9D9"/>
                </a:solidFill>
                <a:latin typeface="Arial"/>
                <a:ea typeface="Arial"/>
                <a:cs typeface="Arial"/>
              </a:rPr>
              <a:t>They need a clear answer to one question:</a:t>
            </a:r>
          </a:p>
        </p:txBody>
      </p:sp>
      <p:sp>
        <p:nvSpPr>
          <p:cNvPr id="29" name="">
            <a:extLst xmlns:a="http://schemas.openxmlformats.org/drawingml/2006/main">
              <a:ext uri="{FF2B5EF4-FFF2-40B4-BE49-F238E27FC236}">
                <a16:creationId xmlns:a16="http://schemas.microsoft.com/office/drawing/2014/main" id="{96AD77D9-DFD4-47D5-A8A5-EB26C24FF4FE}"/>
              </a:ext>
            </a:extLst>
          </p:cNvPr>
          <p:cNvSpPr>
            <a:spLocks xmlns:a="http://schemas.openxmlformats.org/drawingml/2006/main" noGrp="1"/>
          </p:cNvSpPr>
          <p:nvPr/>
        </p:nvSpPr>
        <p:spPr>
          <a:xfrm xmlns:a="http://schemas.openxmlformats.org/drawingml/2006/main">
            <a:off x="7419975" y="3429000"/>
            <a:ext cx="3305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541"/>
          </a:bodyPr>
          <a:lstStyle xmlns:a="http://schemas.openxmlformats.org/drawingml/2006/main"/>
          <a:p xmlns:a="http://schemas.openxmlformats.org/drawingml/2006/main">
            <a:pPr algn="l">
              <a:lnSpc>
                <a:spcPct val="115000"/>
              </a:lnSpc>
              <a:buNone/>
              <a:defRPr sz="1800" b="1" i="0">
                <a:solidFill>
                  <a:srgbClr val="FFFFFF"/>
                </a:solidFill>
                <a:latin typeface="Arial"/>
                <a:ea typeface="Arial"/>
                <a:cs typeface="Arial"/>
              </a:defRPr>
            </a:pPr>
            <a:r>
              <a:rPr sz="1800" b="1" i="0">
                <a:solidFill>
                  <a:srgbClr val="FFFFFF"/>
                </a:solidFill>
                <a:latin typeface="Arial"/>
                <a:ea typeface="Arial"/>
                <a:cs typeface="Arial"/>
              </a:rPr>
              <a:t>Does this product protect its users and important data?</a:t>
            </a:r>
          </a:p>
        </p:txBody>
      </p:sp>
      <p:sp>
        <p:nvSpPr>
          <p:cNvPr id="30" name="">
            <a:extLst xmlns:a="http://schemas.openxmlformats.org/drawingml/2006/main">
              <a:ext uri="{FF2B5EF4-FFF2-40B4-BE49-F238E27FC236}">
                <a16:creationId xmlns:a16="http://schemas.microsoft.com/office/drawing/2014/main" id="{657A4F9B-1880-4495-917D-CD868A52488C}"/>
              </a:ext>
            </a:extLst>
          </p:cNvPr>
          <p:cNvSpPr>
            <a:spLocks xmlns:a="http://schemas.openxmlformats.org/drawingml/2006/main" noGrp="1"/>
          </p:cNvSpPr>
          <p:nvPr/>
        </p:nvSpPr>
        <p:spPr>
          <a:xfrm xmlns:a="http://schemas.openxmlformats.org/drawingml/2006/main">
            <a:off x="7419975" y="43053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039"/>
          </a:bodyPr>
          <a:lstStyle xmlns:a="http://schemas.openxmlformats.org/drawingml/2006/main"/>
          <a:p xmlns:a="http://schemas.openxmlformats.org/drawingml/2006/main">
            <a:pPr algn="l">
              <a:lnSpc>
                <a:spcPct val="115000"/>
              </a:lnSpc>
              <a:buNone/>
              <a:defRPr sz="1275" b="0" i="0">
                <a:solidFill>
                  <a:srgbClr val="C4C9D9"/>
                </a:solidFill>
                <a:latin typeface="Arial"/>
                <a:ea typeface="Arial"/>
                <a:cs typeface="Arial"/>
              </a:defRPr>
            </a:pPr>
            <a:r>
              <a:rPr sz="1275" b="0" i="0">
                <a:solidFill>
                  <a:srgbClr val="C4C9D9"/>
                </a:solidFill>
                <a:latin typeface="Arial"/>
                <a:ea typeface="Arial"/>
                <a:cs typeface="Arial"/>
              </a:rPr>
              <a:t>Invaria gives them a focused review before a release or major change.</a:t>
            </a:r>
          </a:p>
        </p:txBody>
      </p:sp>
    </p:spTree>
    <p:extLst>
      <p:ext uri="{BB962C8B-B14F-4D97-AF65-F5344CB8AC3E}">
        <p14:creationId xmlns:p14="http://schemas.microsoft.com/office/powerpoint/2010/main" val="15044013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3712A5-4923-47C8-A08C-0E9D5E83734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45FB0E0C-F59C-43B5-964E-8343179B44FE}"/>
              </a:ext>
            </a:extLst>
          </p:cNvPr>
          <p:cNvSpPr>
            <a:spLocks xmlns:a="http://schemas.openxmlformats.org/drawingml/2006/main" noGrp="1"/>
          </p:cNvSpPr>
          <p:nvPr/>
        </p:nvSpPr>
        <p:spPr>
          <a:xfrm xmlns:a="http://schemas.openxmlformats.org/drawingml/2006/main">
            <a:off x="685800" y="653415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750" b="1" i="0">
                <a:solidFill>
                  <a:srgbClr val="667086"/>
                </a:solidFill>
                <a:latin typeface="Arial"/>
                <a:ea typeface="Arial"/>
                <a:cs typeface="Arial"/>
              </a:defRPr>
            </a:pPr>
            <a:r>
              <a:rPr sz="750" b="1" i="0">
                <a:solidFill>
                  <a:srgbClr val="667086"/>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03972860-61E3-4C03-8094-78ED7AA028E5}"/>
              </a:ext>
            </a:extLst>
          </p:cNvPr>
          <p:cNvSpPr>
            <a:spLocks xmlns:a="http://schemas.openxmlformats.org/drawingml/2006/main" noGrp="1"/>
          </p:cNvSpPr>
          <p:nvPr/>
        </p:nvSpPr>
        <p:spPr>
          <a:xfrm xmlns:a="http://schemas.openxmlformats.org/drawingml/2006/main">
            <a:off x="4000500" y="6534150"/>
            <a:ext cx="6477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675" b="0" i="0">
                <a:solidFill>
                  <a:srgbClr val="667086"/>
                </a:solidFill>
                <a:latin typeface="Arial"/>
                <a:ea typeface="Arial"/>
                <a:cs typeface="Arial"/>
              </a:defRPr>
            </a:pPr>
            <a:r>
              <a:rPr sz="675" b="0" i="0">
                <a:solidFill>
                  <a:srgbClr val="667086"/>
                </a:solidFill>
                <a:latin typeface="Arial"/>
                <a:ea typeface="Arial"/>
                <a:cs typeface="Arial"/>
              </a:rPr>
              <a:t>Source: Invaria Engineering &amp; Product Blueprint, sections 2 and 4</a:t>
            </a:r>
          </a:p>
        </p:txBody>
      </p:sp>
      <p:sp>
        <p:nvSpPr>
          <p:cNvPr id="4" name="">
            <a:extLst xmlns:a="http://schemas.openxmlformats.org/drawingml/2006/main">
              <a:ext uri="{FF2B5EF4-FFF2-40B4-BE49-F238E27FC236}">
                <a16:creationId xmlns:a16="http://schemas.microsoft.com/office/drawing/2014/main" id="{196B1916-749D-45A0-912B-66E8D482E364}"/>
              </a:ext>
            </a:extLst>
          </p:cNvPr>
          <p:cNvSpPr>
            <a:spLocks xmlns:a="http://schemas.openxmlformats.org/drawingml/2006/main" noGrp="1"/>
          </p:cNvSpPr>
          <p:nvPr/>
        </p:nvSpPr>
        <p:spPr>
          <a:xfrm xmlns:a="http://schemas.openxmlformats.org/drawingml/2006/main">
            <a:off x="10858500" y="6515100"/>
            <a:ext cx="647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8ADD0DE4-9208-42A5-A78C-8DFF65E08A68}"/>
              </a:ext>
            </a:extLst>
          </p:cNvPr>
          <p:cNvSpPr>
            <a:spLocks xmlns:a="http://schemas.openxmlformats.org/drawingml/2006/main" noGrp="1"/>
          </p:cNvSpPr>
          <p:nvPr/>
        </p:nvSpPr>
        <p:spPr>
          <a:xfrm xmlns:a="http://schemas.openxmlformats.org/drawingml/2006/main">
            <a:off x="685800" y="514350"/>
            <a:ext cx="100012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A5F6BA-1B22-4B1E-9D8A-0A4EDF798261}"/>
              </a:ext>
            </a:extLst>
          </p:cNvPr>
          <p:cNvSpPr>
            <a:spLocks xmlns:a="http://schemas.openxmlformats.org/drawingml/2006/main" noGrp="1"/>
          </p:cNvSpPr>
          <p:nvPr/>
        </p:nvSpPr>
        <p:spPr>
          <a:xfrm xmlns:a="http://schemas.openxmlformats.org/drawingml/2006/main">
            <a:off x="771525" y="571500"/>
            <a:ext cx="82867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814"/>
          </a:bodyPr>
          <a:lstStyle xmlns:a="http://schemas.openxmlformats.org/drawingml/2006/main"/>
          <a:p xmlns:a="http://schemas.openxmlformats.org/drawingml/2006/main">
            <a:pPr algn="ctr">
              <a:lnSpc>
                <a:spcPct val="115000"/>
              </a:lnSpc>
              <a:buNone/>
              <a:defRPr sz="825" b="1" i="0">
                <a:solidFill>
                  <a:srgbClr val="5646E8"/>
                </a:solidFill>
                <a:latin typeface="Arial"/>
                <a:ea typeface="Arial"/>
                <a:cs typeface="Arial"/>
              </a:defRPr>
            </a:pPr>
            <a:r>
              <a:rPr sz="825" b="1" i="0">
                <a:solidFill>
                  <a:srgbClr val="5646E8"/>
                </a:solidFill>
                <a:latin typeface="Arial"/>
                <a:ea typeface="Arial"/>
                <a:cs typeface="Arial"/>
              </a:rPr>
              <a:t>FUTURE SCOPE</a:t>
            </a:r>
          </a:p>
        </p:txBody>
      </p:sp>
      <p:sp>
        <p:nvSpPr>
          <p:cNvPr id="7" name="">
            <a:extLst xmlns:a="http://schemas.openxmlformats.org/drawingml/2006/main">
              <a:ext uri="{FF2B5EF4-FFF2-40B4-BE49-F238E27FC236}">
                <a16:creationId xmlns:a16="http://schemas.microsoft.com/office/drawing/2014/main" id="{EB0CDEB6-3701-4FBA-B32E-6A4FB7890844}"/>
              </a:ext>
            </a:extLst>
          </p:cNvPr>
          <p:cNvSpPr>
            <a:spLocks xmlns:a="http://schemas.openxmlformats.org/drawingml/2006/main" noGrp="1"/>
          </p:cNvSpPr>
          <p:nvPr/>
        </p:nvSpPr>
        <p:spPr>
          <a:xfrm xmlns:a="http://schemas.openxmlformats.org/drawingml/2006/main">
            <a:off x="685800" y="1000125"/>
            <a:ext cx="904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316"/>
          </a:bodyPr>
          <a:lstStyle xmlns:a="http://schemas.openxmlformats.org/drawingml/2006/main"/>
          <a:p xmlns:a="http://schemas.openxmlformats.org/drawingml/2006/main">
            <a:pPr algn="l">
              <a:lnSpc>
                <a:spcPct val="115000"/>
              </a:lnSpc>
              <a:buNone/>
              <a:defRPr sz="3225" b="1" i="0">
                <a:solidFill>
                  <a:srgbClr val="121522"/>
                </a:solidFill>
                <a:latin typeface="Arial"/>
                <a:ea typeface="Arial"/>
                <a:cs typeface="Arial"/>
              </a:defRPr>
            </a:pPr>
            <a:r>
              <a:rPr sz="3225" b="1" i="0">
                <a:solidFill>
                  <a:srgbClr val="121522"/>
                </a:solidFill>
                <a:latin typeface="Arial"/>
                <a:ea typeface="Arial"/>
                <a:cs typeface="Arial"/>
              </a:rPr>
              <a:t>What is built now and what comes next</a:t>
            </a:r>
          </a:p>
        </p:txBody>
      </p:sp>
      <p:sp>
        <p:nvSpPr>
          <p:cNvPr id="8" name="">
            <a:extLst xmlns:a="http://schemas.openxmlformats.org/drawingml/2006/main">
              <a:ext uri="{FF2B5EF4-FFF2-40B4-BE49-F238E27FC236}">
                <a16:creationId xmlns:a16="http://schemas.microsoft.com/office/drawing/2014/main" id="{5BA9B7B1-415A-48AE-8A46-3924CC7C5E62}"/>
              </a:ext>
            </a:extLst>
          </p:cNvPr>
          <p:cNvSpPr>
            <a:spLocks xmlns:a="http://schemas.openxmlformats.org/drawingml/2006/main" noGrp="1"/>
          </p:cNvSpPr>
          <p:nvPr/>
        </p:nvSpPr>
        <p:spPr>
          <a:xfrm xmlns:a="http://schemas.openxmlformats.org/drawingml/2006/main">
            <a:off x="685800" y="2362200"/>
            <a:ext cx="4972050" cy="2724150"/>
          </a:xfrm>
          <a:prstGeom xmlns:a="http://schemas.openxmlformats.org/drawingml/2006/main" prst="roundRect">
            <a:avLst>
              <a:gd name="adj" fmla="val 4196"/>
            </a:avLst>
          </a:prstGeom>
          <a:solidFill xmlns:a="http://schemas.openxmlformats.org/drawingml/2006/main">
            <a:srgbClr val="F1F0FF"/>
          </a:solidFill>
          <a:ln xmlns:a="http://schemas.openxmlformats.org/drawingml/2006/main" w="19050">
            <a:solidFill>
              <a:srgbClr val="7C71FF"/>
            </a:solidFill>
            <a:prstDash val="solid"/>
          </a:ln>
        </p:spPr>
      </p:sp>
      <p:sp>
        <p:nvSpPr>
          <p:cNvPr id="9" name="">
            <a:extLst xmlns:a="http://schemas.openxmlformats.org/drawingml/2006/main">
              <a:ext uri="{FF2B5EF4-FFF2-40B4-BE49-F238E27FC236}">
                <a16:creationId xmlns:a16="http://schemas.microsoft.com/office/drawing/2014/main" id="{9F643173-1FD4-4623-8B8E-1C30248B3BAC}"/>
              </a:ext>
            </a:extLst>
          </p:cNvPr>
          <p:cNvSpPr>
            <a:spLocks xmlns:a="http://schemas.openxmlformats.org/drawingml/2006/main" noGrp="1"/>
          </p:cNvSpPr>
          <p:nvPr/>
        </p:nvSpPr>
        <p:spPr>
          <a:xfrm xmlns:a="http://schemas.openxmlformats.org/drawingml/2006/main">
            <a:off x="1009650" y="26860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5646E8"/>
                </a:solidFill>
                <a:latin typeface="Arial"/>
                <a:ea typeface="Arial"/>
                <a:cs typeface="Arial"/>
              </a:defRPr>
            </a:pPr>
            <a:r>
              <a:rPr sz="900" b="1" i="0">
                <a:solidFill>
                  <a:srgbClr val="5646E8"/>
                </a:solidFill>
                <a:latin typeface="Arial"/>
                <a:ea typeface="Arial"/>
                <a:cs typeface="Arial"/>
              </a:rPr>
              <a:t>BUILT NOW</a:t>
            </a:r>
          </a:p>
        </p:txBody>
      </p:sp>
      <p:sp>
        <p:nvSpPr>
          <p:cNvPr id="10" name="">
            <a:extLst xmlns:a="http://schemas.openxmlformats.org/drawingml/2006/main">
              <a:ext uri="{FF2B5EF4-FFF2-40B4-BE49-F238E27FC236}">
                <a16:creationId xmlns:a16="http://schemas.microsoft.com/office/drawing/2014/main" id="{EC27EF7D-54EC-4B8C-832B-EA69B7C1D119}"/>
              </a:ext>
            </a:extLst>
          </p:cNvPr>
          <p:cNvSpPr>
            <a:spLocks xmlns:a="http://schemas.openxmlformats.org/drawingml/2006/main" noGrp="1"/>
          </p:cNvSpPr>
          <p:nvPr/>
        </p:nvSpPr>
        <p:spPr>
          <a:xfrm xmlns:a="http://schemas.openxmlformats.org/drawingml/2006/main">
            <a:off x="1009650" y="3076575"/>
            <a:ext cx="347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59"/>
          </a:bodyPr>
          <a:lstStyle xmlns:a="http://schemas.openxmlformats.org/drawingml/2006/main"/>
          <a:p xmlns:a="http://schemas.openxmlformats.org/drawingml/2006/main">
            <a:pPr algn="l">
              <a:lnSpc>
                <a:spcPct val="115000"/>
              </a:lnSpc>
              <a:buNone/>
              <a:defRPr sz="1875" b="1" i="0">
                <a:solidFill>
                  <a:srgbClr val="121522"/>
                </a:solidFill>
                <a:latin typeface="Arial"/>
                <a:ea typeface="Arial"/>
                <a:cs typeface="Arial"/>
              </a:defRPr>
            </a:pPr>
            <a:r>
              <a:rPr sz="1875" b="1" i="0">
                <a:solidFill>
                  <a:srgbClr val="121522"/>
                </a:solidFill>
                <a:latin typeface="Arial"/>
                <a:ea typeface="Arial"/>
                <a:cs typeface="Arial"/>
              </a:rPr>
              <a:t>Repository scan</a:t>
            </a:r>
          </a:p>
        </p:txBody>
      </p:sp>
      <p:sp>
        <p:nvSpPr>
          <p:cNvPr id="11" name="">
            <a:extLst xmlns:a="http://schemas.openxmlformats.org/drawingml/2006/main">
              <a:ext uri="{FF2B5EF4-FFF2-40B4-BE49-F238E27FC236}">
                <a16:creationId xmlns:a16="http://schemas.microsoft.com/office/drawing/2014/main" id="{DF0702C2-AA41-4343-8305-EF65E389BAFD}"/>
              </a:ext>
            </a:extLst>
          </p:cNvPr>
          <p:cNvSpPr>
            <a:spLocks xmlns:a="http://schemas.openxmlformats.org/drawingml/2006/main" noGrp="1"/>
          </p:cNvSpPr>
          <p:nvPr/>
        </p:nvSpPr>
        <p:spPr>
          <a:xfrm xmlns:a="http://schemas.openxmlformats.org/drawingml/2006/main">
            <a:off x="1009650" y="359092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968"/>
          </a:bodyPr>
          <a:lstStyle xmlns:a="http://schemas.openxmlformats.org/drawingml/2006/main"/>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Code and API mapping</a:t>
            </a:r>
          </a:p>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Security questions</a:t>
            </a:r>
          </a:p>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Evidence-backed reports</a:t>
            </a:r>
          </a:p>
        </p:txBody>
      </p:sp>
      <p:sp>
        <p:nvSpPr>
          <p:cNvPr id="12" name="">
            <a:extLst xmlns:a="http://schemas.openxmlformats.org/drawingml/2006/main">
              <a:ext uri="{FF2B5EF4-FFF2-40B4-BE49-F238E27FC236}">
                <a16:creationId xmlns:a16="http://schemas.microsoft.com/office/drawing/2014/main" id="{F40ECE70-1568-42BE-9125-0E26A8A478A3}"/>
              </a:ext>
            </a:extLst>
          </p:cNvPr>
          <p:cNvSpPr>
            <a:spLocks xmlns:a="http://schemas.openxmlformats.org/drawingml/2006/main" noGrp="1"/>
          </p:cNvSpPr>
          <p:nvPr/>
        </p:nvSpPr>
        <p:spPr>
          <a:xfrm xmlns:a="http://schemas.openxmlformats.org/drawingml/2006/main">
            <a:off x="6534150" y="2362200"/>
            <a:ext cx="4972050" cy="2724150"/>
          </a:xfrm>
          <a:prstGeom xmlns:a="http://schemas.openxmlformats.org/drawingml/2006/main" prst="roundRect">
            <a:avLst>
              <a:gd name="adj" fmla="val 4196"/>
            </a:avLst>
          </a:prstGeom>
          <a:solidFill xmlns:a="http://schemas.openxmlformats.org/drawingml/2006/main">
            <a:srgbClr val="F7F8FC"/>
          </a:solidFill>
          <a:ln xmlns:a="http://schemas.openxmlformats.org/drawingml/2006/main" w="9525">
            <a:solidFill>
              <a:srgbClr val="DEE1EC"/>
            </a:solidFill>
            <a:prstDash val="solid"/>
          </a:ln>
        </p:spPr>
      </p:sp>
      <p:sp>
        <p:nvSpPr>
          <p:cNvPr id="13" name="">
            <a:extLst xmlns:a="http://schemas.openxmlformats.org/drawingml/2006/main">
              <a:ext uri="{FF2B5EF4-FFF2-40B4-BE49-F238E27FC236}">
                <a16:creationId xmlns:a16="http://schemas.microsoft.com/office/drawing/2014/main" id="{508FEE7C-E32B-4DBD-BE4A-A331CF336A17}"/>
              </a:ext>
            </a:extLst>
          </p:cNvPr>
          <p:cNvSpPr>
            <a:spLocks xmlns:a="http://schemas.openxmlformats.org/drawingml/2006/main" noGrp="1"/>
          </p:cNvSpPr>
          <p:nvPr/>
        </p:nvSpPr>
        <p:spPr>
          <a:xfrm xmlns:a="http://schemas.openxmlformats.org/drawingml/2006/main">
            <a:off x="6858000" y="2686050"/>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900" b="1" i="0">
                <a:solidFill>
                  <a:srgbClr val="5646E8"/>
                </a:solidFill>
                <a:latin typeface="Arial"/>
                <a:ea typeface="Arial"/>
                <a:cs typeface="Arial"/>
              </a:defRPr>
            </a:pPr>
            <a:r>
              <a:rPr sz="900" b="1" i="0">
                <a:solidFill>
                  <a:srgbClr val="5646E8"/>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CEE7B621-A035-4B61-9962-A024A7F14F6B}"/>
              </a:ext>
            </a:extLst>
          </p:cNvPr>
          <p:cNvSpPr>
            <a:spLocks xmlns:a="http://schemas.openxmlformats.org/drawingml/2006/main" noGrp="1"/>
          </p:cNvSpPr>
          <p:nvPr/>
        </p:nvSpPr>
        <p:spPr>
          <a:xfrm xmlns:a="http://schemas.openxmlformats.org/drawingml/2006/main">
            <a:off x="6858000" y="3076575"/>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59"/>
          </a:bodyPr>
          <a:lstStyle xmlns:a="http://schemas.openxmlformats.org/drawingml/2006/main"/>
          <a:p xmlns:a="http://schemas.openxmlformats.org/drawingml/2006/main">
            <a:pPr algn="l">
              <a:lnSpc>
                <a:spcPct val="115000"/>
              </a:lnSpc>
              <a:buNone/>
              <a:defRPr sz="1875" b="1" i="0">
                <a:solidFill>
                  <a:srgbClr val="121522"/>
                </a:solidFill>
                <a:latin typeface="Arial"/>
                <a:ea typeface="Arial"/>
                <a:cs typeface="Arial"/>
              </a:defRPr>
            </a:pPr>
            <a:r>
              <a:rPr sz="1875" b="1" i="0">
                <a:solidFill>
                  <a:srgbClr val="121522"/>
                </a:solidFill>
                <a:latin typeface="Arial"/>
                <a:ea typeface="Arial"/>
                <a:cs typeface="Arial"/>
              </a:rPr>
              <a:t>Broader coverage</a:t>
            </a:r>
          </a:p>
        </p:txBody>
      </p:sp>
      <p:sp>
        <p:nvSpPr>
          <p:cNvPr id="15" name="">
            <a:extLst xmlns:a="http://schemas.openxmlformats.org/drawingml/2006/main">
              <a:ext uri="{FF2B5EF4-FFF2-40B4-BE49-F238E27FC236}">
                <a16:creationId xmlns:a16="http://schemas.microsoft.com/office/drawing/2014/main" id="{B7B26427-11B7-4319-B631-FCFE074CDC16}"/>
              </a:ext>
            </a:extLst>
          </p:cNvPr>
          <p:cNvSpPr>
            <a:spLocks xmlns:a="http://schemas.openxmlformats.org/drawingml/2006/main" noGrp="1"/>
          </p:cNvSpPr>
          <p:nvPr/>
        </p:nvSpPr>
        <p:spPr>
          <a:xfrm xmlns:a="http://schemas.openxmlformats.org/drawingml/2006/main">
            <a:off x="6858000" y="3590925"/>
            <a:ext cx="3905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968"/>
          </a:bodyPr>
          <a:lstStyle xmlns:a="http://schemas.openxmlformats.org/drawingml/2006/main"/>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More frameworks and languages</a:t>
            </a:r>
          </a:p>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Deeper business-flow checks</a:t>
            </a:r>
          </a:p>
          <a:p xmlns:a="http://schemas.openxmlformats.org/drawingml/2006/main">
            <a:pPr algn="l">
              <a:lnSpc>
                <a:spcPct val="135000"/>
              </a:lnSpc>
              <a:buNone/>
              <a:defRPr sz="1425" b="0" i="0">
                <a:solidFill>
                  <a:srgbClr val="667086"/>
                </a:solidFill>
                <a:latin typeface="Arial"/>
                <a:ea typeface="Arial"/>
                <a:cs typeface="Arial"/>
              </a:defRPr>
            </a:pPr>
            <a:r>
              <a:rPr sz="1425" b="0" i="0">
                <a:solidFill>
                  <a:srgbClr val="667086"/>
                </a:solidFill>
                <a:latin typeface="Arial"/>
                <a:ea typeface="Arial"/>
                <a:cs typeface="Arial"/>
              </a:rPr>
              <a:t>Suggested fixes and future pull requests</a:t>
            </a:r>
          </a:p>
        </p:txBody>
      </p:sp>
      <p:cxnSp>
        <p:nvCxnSpPr>
          <p:cNvPr id="34" name=""/>
          <p:cNvCxnSpPr>
            <a:stCxn xmlns:a="http://schemas.openxmlformats.org/drawingml/2006/main" id="8" idx="3"/>
            <a:endCxn xmlns:a="http://schemas.openxmlformats.org/drawingml/2006/main" id="12" idx="1"/>
          </p:cNvCxnSpPr>
          <p:nvPr/>
        </p:nvCxnSpPr>
        <p:spPr>
          <a:xfrm xmlns:a="http://schemas.openxmlformats.org/drawingml/2006/main">
            <a:off x="5657850" y="3724275"/>
            <a:ext cx="8763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17" name="">
            <a:extLst xmlns:a="http://schemas.openxmlformats.org/drawingml/2006/main">
              <a:ext uri="{FF2B5EF4-FFF2-40B4-BE49-F238E27FC236}">
                <a16:creationId xmlns:a16="http://schemas.microsoft.com/office/drawing/2014/main" id="{5D28156B-A229-4C9A-B576-470A3644369B}"/>
              </a:ext>
            </a:extLst>
          </p:cNvPr>
          <p:cNvSpPr>
            <a:spLocks xmlns:a="http://schemas.openxmlformats.org/drawingml/2006/main" noGrp="1"/>
          </p:cNvSpPr>
          <p:nvPr/>
        </p:nvSpPr>
        <p:spPr>
          <a:xfrm xmlns:a="http://schemas.openxmlformats.org/drawingml/2006/main">
            <a:off x="685800" y="5572125"/>
            <a:ext cx="10820400" cy="504825"/>
          </a:xfrm>
          <a:prstGeom xmlns:a="http://schemas.openxmlformats.org/drawingml/2006/main" prst="roundRect">
            <a:avLst>
              <a:gd name="adj" fmla="val 22642"/>
            </a:avLst>
          </a:prstGeom>
          <a:solidFill xmlns:a="http://schemas.openxmlformats.org/drawingml/2006/main">
            <a:srgbClr val="12131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8961B62-4372-4178-939D-E5DB5ECB102B}"/>
              </a:ext>
            </a:extLst>
          </p:cNvPr>
          <p:cNvSpPr>
            <a:spLocks xmlns:a="http://schemas.openxmlformats.org/drawingml/2006/main" noGrp="1"/>
          </p:cNvSpPr>
          <p:nvPr/>
        </p:nvSpPr>
        <p:spPr>
          <a:xfrm xmlns:a="http://schemas.openxmlformats.org/drawingml/2006/main">
            <a:off x="1000125" y="5715000"/>
            <a:ext cx="895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5000"/>
              </a:lnSpc>
              <a:buNone/>
              <a:defRPr sz="1500" b="1" i="0">
                <a:solidFill>
                  <a:srgbClr val="FFFFFF"/>
                </a:solidFill>
                <a:latin typeface="Arial"/>
                <a:ea typeface="Arial"/>
                <a:cs typeface="Arial"/>
              </a:defRPr>
            </a:pPr>
            <a:r>
              <a:rPr sz="1500" b="1" i="0">
                <a:solidFill>
                  <a:srgbClr val="FFFFFF"/>
                </a:solidFill>
                <a:latin typeface="Arial"/>
                <a:ea typeface="Arial"/>
                <a:cs typeface="Arial"/>
              </a:rPr>
              <a:t>Goal: give every product team a clear, evidence-based security review before they ship.</a:t>
            </a:r>
          </a:p>
        </p:txBody>
      </p:sp>
    </p:spTree>
    <p:extLst>
      <p:ext uri="{BB962C8B-B14F-4D97-AF65-F5344CB8AC3E}">
        <p14:creationId xmlns:p14="http://schemas.microsoft.com/office/powerpoint/2010/main" val="1784438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2026-09-24T03:24:58.1050000Z</dcterms:created>
  <dcterms:modified xsi:type="dcterms:W3CDTF">2026-09-24T03:24:58.1050000Z</dcterms:modified>
</coreProperties>
</file>